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day one. Short introductions of the lecturer and participants: who has already programmed in another language? Today is the foundation for the rest of the course — we start with a quick warm-up on the language and build the object model on top of it. Make sure dotnet --version prints 10 for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Breaks at 10:30 and 14:30 (15 min), lunch 12:15–13:00. Of the last two labs, one is done in class and one at home, depending on the group's pace. All materials are in the Notes folder, and every demo is a runnable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skills — four labs. Stress that today is hands-on: about 60% of the time is at the keyboard. Anyone who already knows C# can run ahead with the lab bonuses.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fast module — 35 minutes. The goal: everyone speaks the same language before OOP. Java/JS developers will feel at home; pay special attention to value vs. reference and to nullable.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live: dotnet new console, open the csproj and show the three settings. Stress that var is still static. ImplicitUsings explains why there is no using System at the top of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distinction of the day. Show in Demo.Quickstart: int b = a; b++ does not affect a, but arr2 = arr1 followed by arr2[0] = 99 changes arr1 too. string is a reference type but immutable — ToUpper returns a new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switch expression next to a classic switch — shorter and more readable. Mention the 0.1 + 0.2 == 0.3 pitfall with double. Raw string literals (""") for multi-line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TryX/out pattern comes back in module 06 (TryParse). Tuples are handy for multiple return values, but if they travel far — use a record. Run the demo and show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NullReferenceException is the most common exception in .NET. This feature catches most of them at compile time. Show the warning in the IDE and how it disappears after a null check. Warn against ! — it almost always hides a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OOP begins. Class = blueprint, object = instance. The key message: an object's state changes only through its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is _balance private? Because otherwise anyone could write acc._balance = -1000. Deposit is the gatekeeper. That is the idea of encapsulation; we return to it in module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outside a property looks like a field, but it is a pair of methods. That is what lets you change the implementation without breaking code. required + init is the modern combination for objects that must be valid from the very first moment. Show Product in Demo.Classes.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a validating constructor saves ifs in the rest of the class. A primary constructor is syntactic sugar — the parameters do not automatically become properties (unlike a record). A constructor should be fast — no network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of thumb: if two objects with the same data are "the same thing" — record. If identity matters (two accounts with the same balance) — class. A record gets Equals, GetHashCode, ToString, with and deconstruction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question for the class: what happens if Count is not static? Each object would count only itself. Show Product.CreateFreeSample in Demo.Classes. After this slide — Lab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Labs/Lab1-LibrarySystem/README.md. The Starter compiles and every method throws NotImplementedException. Walk around: the common mistake is a public set on IsBorrowed. Whoever finishes — bonus. 45 minutes, then a short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principles are four answers to one question: how do you write code you can change without breaking it? We learn them through the tools C# gives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framing slide — we will come back to each card separately. Stress that these are not rules to memorize but tools to reduce the cost of change. Inheritance is the tool most easily misused.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is useful when building a library: helper classes don't need to be public. Instead of protected fields prefer protected methods, otherwise derived classes depend on the internal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mistake: a method with the same name without override — that is hiding (new), and polymorphism doesn't work. The compiler warns. The derived constructor must call the base constructor — here via the primary constructor.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module. Run Demo.Polymorphism. Ask: what would happen without polymorphism? A switch on the shape type everywhere, and every new shape = updating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interface lets Payroll work with "anything we pay" without a common base class. Default members are a way to add a method to an existing interface without breaking implementers; they are not a substitute for a base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Often you combine them: an interface for the contract, and an abstract class that partially implements it for the convenience of derived classes. When in doubt — interface: it commits you to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of thumb: inheritance for a real domain model (shapes, employees); composition for everything else. NullLogger in the demo shows swapping without touching OrderService.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compiler warns about an unreachable case if the order is reversed. Remind them: pattern matching is great for external data (JSON, input); for your own domain — polymorphism.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in Demo.Polymorphism: a HashSet&lt;Money&gt; with two equal objects contains 1. Without a consistent GetHashCode the collection "loses" items. This is the main reason records exist. After this slide — Lab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Labs/Lab2-ShapesAndEmployees/README.md. Part A (shapes) 15 minutes, part B 45. The question most worth discussing: why doesn't Contractor inherit from Employee? After the lab — a break, then collections.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every need has a right collection, and the choice is driven by the operation you repeat most. The Big-O table is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Arrays are the foundation — List&lt;T&gt; is built on them. Show ^1 and ranges; they are new to people coming from Java. Length for arrays, Count for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collections you will use 90% of the time. Stress TryGetValue — the Try pattern again. Capacity: new List&lt;int&gt;(100_000) saves reallocations. Demo.Collections parts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9 asks you to pick a collection for each scenario — worth doing orally in class. IEnumerable has no Count/index/Add — only iteration.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it in the debugger: a breakpoint inside Evens is hit only when the foreach asks for the next item. This sets the stage for LINQ in the next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 constraint T is like object — you cannot call item.Id. Stress the index: List for order + Dictionary for lookup — memory is cheap, scanning is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table is in module 04. The 100K example explains why it matters: the difference between a second and minutes. * = amortized — occasionally reallocates.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IReadOnlyList comes back in every lab — it is encapsulation for collections. Span just so they know the name; much of the .NET API accepts it. ImmutableList when you need a collection that truly never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now we passed data to methods. Now we pass behavior: "filter by this condition", "when X happens — notify me". LINQ is built on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Demo.LinqDelegates part 1. Ask: how many FindBy... methods would you write without this? A single Find(Func&lt;T,bool&gt;) replaces them all — that is Lab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Events are the foundation of WPF on Day 3 — every click is an event. Remind them to unsubscribe (-=) from long-lived objects. Lab 3 uses LowStock.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instead of a loop + if + temporary list. Show Demo.LinqDelegates part 4. First throws when nothing matches — use FirstOrDefault + a null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point in LINQ and a source of confusing bugs. Show a breakpoint inside the lambda in the debugger — it is hit only at string.Join. Lab 3 demonstrates this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Reports in Lab 3 is a static class of pure functions. ApplyDiscount in the demo returns a new Cart without touching the old one. After this slide — Lab 3 (or skip to 06 and Lab 4, depending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Labs/Lab3-InventoryLinq/README.md. Models.cs and Program.cs are already written — the work is in Inventory.cs and Reports.cs. The teaching point: ApplyToCategory needs ToList() before the loop — explain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 fails. The question is how: a clear message, consistent state, released resources. And then — the tool that will save you the most hours: the debugger.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Demo.Exceptions parts 1–3. Show the difference between throw; and throw ex; in the output — the stack trace starts somewhere else. CA2200 warns about it. An empty catch (Exception) { } is the most common 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do you need your own exception? When the handler can do something with the information (Shortfall), or when you need to distinguish business errors from technical ones. Lab 4 builds exactly this hierarchy.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distinction: exceptions for exceptional situations, return values for routine outcomes (a search that found nothing, invalid input). Demo.Exceptions parts 4–6. TryGetValue, TryAdd, TryDequeue — the same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Console.WriteLine is not debugging. The method: reproduce → hypothesize → step → verify. When there is an exception — Exception Settings + Call Stack show the source, not the symptom.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4 practices each of these tools on real bugs. In VS Code: the same concepts under Run and Debug with launch.json. Debug.Assert is for internal assumptions, not for input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module — 10 minutes — because the ideas are simple and the practice happens in the labs. Code is read far more often than it is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changed: names, an enum instead of 1/2, constants instead of magic numbers, the duplicated if (m) r -= 5 was pulled out, a switch expression, decimal for money. Same behavior — exercise 14 checks it. Refactoring = changing structure without changing behavior, in small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for memorizing — for recognizing. For each card ask: where did we see this today? O = polymorphism (Lab 2), D = OrderService(ILogger), I = a small IPayable. Warning: premature abstraction is as bad as duplication.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dotnet new editorconfig creates a default file. Extract Method: Ctrl+R, Ctrl+M; Rename: Ctrl+R, Ctrl+R. Now — Lab 4, which ties together exceptions, debugging and clean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Labs/Lab4-BankRobust/README.md. The full bug list is in Solution/NOTES.md — don't reveal it up front. Encourage working with the debugger rather than Console.WriteLine. Can be homework if time is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moment to pause before the summary. Ask: which tool from today will you use at work as soon as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and questions. Make sure everyone knows where the materials are (Notes, Demos, Labs). Preparation for Day 2: have Lab 3 and Lab 4 completed — tomorrow we build on them with threads, async/await, HttpClient and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slideLayout" Target="../slideLayouts/slideLayout1.xm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image" Target="../media/image-48-6.png"/><Relationship Id="rId7" Type="http://schemas.openxmlformats.org/officeDocument/2006/relationships/slideLayout" Target="../slideLayouts/slideLayout1.xml"/><Relationship Id="rId8"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image" Target="../media/image-51-5.png"/><Relationship Id="rId6" Type="http://schemas.openxmlformats.org/officeDocument/2006/relationships/image" Target="../media/image-51-6.png"/><Relationship Id="rId7" Type="http://schemas.openxmlformats.org/officeDocument/2006/relationships/slideLayout" Target="../slideLayouts/slideLayout1.xml"/><Relationship Id="rId8"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slideLayout" Target="../slideLayouts/slideLayout1.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340"/>
        </a:solidFill>
      </p:bgPr>
    </p:bg>
    <p:spTree>
      <p:nvGrpSpPr>
        <p:cNvPr id="1" name=""/>
        <p:cNvGrpSpPr/>
        <p:nvPr/>
      </p:nvGrpSpPr>
      <p:grpSpPr>
        <a:xfrm>
          <a:off x="0" y="0"/>
          <a:ext cx="0" cy="0"/>
          <a:chOff x="0" y="0"/>
          <a:chExt cx="0" cy="0"/>
        </a:xfrm>
      </p:grpSpPr>
      <p:sp>
        <p:nvSpPr>
          <p:cNvPr id="2" name="Shape 0"/>
          <p:cNvSpPr/>
          <p:nvPr/>
        </p:nvSpPr>
        <p:spPr>
          <a:xfrm>
            <a:off x="8076895" y="-2286000"/>
            <a:ext cx="6400800" cy="6400800"/>
          </a:xfrm>
          <a:prstGeom prst="ellipse">
            <a:avLst/>
          </a:prstGeom>
          <a:solidFill>
            <a:srgbClr val="512BD4">
              <a:alpha val="30000"/>
            </a:srgbClr>
          </a:solidFill>
          <a:ln w="12700">
            <a:solidFill>
              <a:srgbClr val="512BD4">
                <a:alpha val="0"/>
              </a:srgbClr>
            </a:solidFill>
            <a:prstDash val="solid"/>
          </a:ln>
        </p:spPr>
      </p:sp>
      <p:sp>
        <p:nvSpPr>
          <p:cNvPr id="3" name="Shape 1"/>
          <p:cNvSpPr/>
          <p:nvPr/>
        </p:nvSpPr>
        <p:spPr>
          <a:xfrm>
            <a:off x="6705295" y="3200400"/>
            <a:ext cx="4114800" cy="4114800"/>
          </a:xfrm>
          <a:prstGeom prst="ellipse">
            <a:avLst/>
          </a:prstGeom>
          <a:solidFill>
            <a:srgbClr val="7C5CE6">
              <a:alpha val="25000"/>
            </a:srgbClr>
          </a:solidFill>
          <a:ln w="12700">
            <a:solidFill>
              <a:srgbClr val="7C5CE6">
                <a:alpha val="0"/>
              </a:srgbClr>
            </a:solidFill>
            <a:prstDash val="solid"/>
          </a:ln>
        </p:spPr>
      </p:sp>
      <p:sp>
        <p:nvSpPr>
          <p:cNvPr id="4" name="Text 2"/>
          <p:cNvSpPr txBox="1"/>
          <p:nvPr/>
        </p:nvSpPr>
        <p:spPr>
          <a:xfrm>
            <a:off x="7253935" y="1554480"/>
            <a:ext cx="4114800" cy="2926080"/>
          </a:xfrm>
          <a:prstGeom prst="rect">
            <a:avLst/>
          </a:prstGeom>
          <a:noFill/>
          <a:ln/>
        </p:spPr>
        <p:txBody>
          <a:bodyPr wrap="square" rtlCol="0" anchor="ctr"/>
          <a:lstStyle/>
          <a:p>
            <a:pPr algn="ctr" indent="0" marL="0">
              <a:buNone/>
            </a:pPr>
            <a:r>
              <a:rPr lang="en-US" sz="15000" b="1" dirty="0">
                <a:solidFill>
                  <a:srgbClr val="FFB020">
                    <a:alpha val="85000"/>
                  </a:srgbClr>
                </a:solidFill>
                <a:latin typeface="Courier New" pitchFamily="34" charset="0"/>
                <a:ea typeface="Courier New" pitchFamily="34" charset="-122"/>
                <a:cs typeface="Courier New" pitchFamily="34" charset="-120"/>
              </a:rPr>
              <a:t>{ }</a:t>
            </a:r>
            <a:endParaRPr lang="en-US" sz="15000" dirty="0"/>
          </a:p>
        </p:txBody>
      </p:sp>
      <p:sp>
        <p:nvSpPr>
          <p:cNvPr id="5" name="Text 3"/>
          <p:cNvSpPr txBox="1"/>
          <p:nvPr/>
        </p:nvSpPr>
        <p:spPr>
          <a:xfrm>
            <a:off x="548640" y="1005840"/>
            <a:ext cx="6492240" cy="548640"/>
          </a:xfrm>
          <a:prstGeom prst="rect">
            <a:avLst/>
          </a:prstGeom>
          <a:noFill/>
          <a:ln/>
        </p:spPr>
        <p:txBody>
          <a:bodyPr wrap="square" lIns="0" tIns="0" rIns="0" bIns="0" rtlCol="0" anchor="t"/>
          <a:lstStyle/>
          <a:p>
            <a:pPr algn="l" indent="0" marL="0">
              <a:buNone/>
            </a:pPr>
            <a:r>
              <a:rPr lang="en-US" altLang="en-US" sz="1800" dirty="0">
                <a:solidFill>
                  <a:srgbClr val="CFC7F5"/>
                </a:solidFill>
                <a:latin typeface="Arial" pitchFamily="34" charset="0"/>
                <a:ea typeface="Arial" pitchFamily="34" charset="-122"/>
                <a:cs typeface="Arial" pitchFamily="34" charset="-120"/>
              </a:rPr>
              <a:t>C# on .NET — Hands-On Course</a:t>
            </a:r>
            <a:endParaRPr lang="en-US" sz="1800" dirty="0"/>
          </a:p>
        </p:txBody>
      </p:sp>
      <p:sp>
        <p:nvSpPr>
          <p:cNvPr id="6" name="Text 4"/>
          <p:cNvSpPr txBox="1"/>
          <p:nvPr/>
        </p:nvSpPr>
        <p:spPr>
          <a:xfrm>
            <a:off x="548640" y="1645920"/>
            <a:ext cx="6492240" cy="2011680"/>
          </a:xfrm>
          <a:prstGeom prst="rect">
            <a:avLst/>
          </a:prstGeom>
          <a:noFill/>
          <a:ln/>
        </p:spPr>
        <p:txBody>
          <a:bodyPr wrap="square" lIns="0" tIns="0" rIns="0" bIns="0" rtlCol="0" anchor="ctr"/>
          <a:lstStyle/>
          <a:p>
            <a:pPr algn="l" indent="0" marL="0">
              <a:buNone/>
            </a:pPr>
            <a:r>
              <a:rPr lang="en-US" altLang="en-US" sz="4400" b="1" dirty="0">
                <a:solidFill>
                  <a:srgbClr val="FFFFFF"/>
                </a:solidFill>
                <a:latin typeface="Arial" pitchFamily="34" charset="0"/>
                <a:ea typeface="Arial" pitchFamily="34" charset="-122"/>
                <a:cs typeface="Arial" pitchFamily="34" charset="-120"/>
              </a:rPr>
              <a:t>OOP, Collections and Exception Handling</a:t>
            </a:r>
            <a:endParaRPr lang="en-US" sz="4400" dirty="0"/>
          </a:p>
        </p:txBody>
      </p:sp>
      <p:sp>
        <p:nvSpPr>
          <p:cNvPr id="7" name="Text 5"/>
          <p:cNvSpPr txBox="1"/>
          <p:nvPr/>
        </p:nvSpPr>
        <p:spPr>
          <a:xfrm>
            <a:off x="548640" y="3749040"/>
            <a:ext cx="6492240" cy="1280160"/>
          </a:xfrm>
          <a:prstGeom prst="rect">
            <a:avLst/>
          </a:prstGeom>
          <a:noFill/>
          <a:ln/>
        </p:spPr>
        <p:txBody>
          <a:bodyPr wrap="square" lIns="0" tIns="0" rIns="0" bIns="0" rtlCol="0" anchor="t"/>
          <a:lstStyle/>
          <a:p>
            <a:pPr algn="l" indent="0" marL="0">
              <a:buNone/>
            </a:pPr>
            <a:r>
              <a:rPr lang="en-US" altLang="en-US" sz="2200" dirty="0">
                <a:solidFill>
                  <a:srgbClr val="CFC7F5"/>
                </a:solidFill>
                <a:latin typeface="Arial" pitchFamily="34" charset="0"/>
                <a:ea typeface="Arial" pitchFamily="34" charset="-122"/>
                <a:cs typeface="Arial" pitchFamily="34" charset="-120"/>
              </a:rPr>
              <a:t>From C# basics to code that doesn't crash: classes, inheritance, LINQ, exceptions and debugging</a:t>
            </a:r>
            <a:endParaRPr lang="en-US" sz="2200" dirty="0"/>
          </a:p>
        </p:txBody>
      </p:sp>
      <p:sp>
        <p:nvSpPr>
          <p:cNvPr id="8" name="Text 6"/>
          <p:cNvSpPr txBox="1"/>
          <p:nvPr/>
        </p:nvSpPr>
        <p:spPr>
          <a:xfrm>
            <a:off x="548640" y="5212080"/>
            <a:ext cx="6492240" cy="457200"/>
          </a:xfrm>
          <a:prstGeom prst="rect">
            <a:avLst/>
          </a:prstGeom>
          <a:noFill/>
          <a:ln/>
        </p:spPr>
        <p:txBody>
          <a:bodyPr wrap="square" lIns="0" tIns="0" rIns="0" bIns="0" rtlCol="0" anchor="t"/>
          <a:lstStyle/>
          <a:p>
            <a:pPr algn="l" indent="0" marL="0">
              <a:buNone/>
            </a:pPr>
            <a:r>
              <a:rPr lang="en-US" altLang="en-US" sz="1400" dirty="0">
                <a:solidFill>
                  <a:srgbClr val="FFB020"/>
                </a:solidFill>
                <a:latin typeface="Arial" pitchFamily="34" charset="0"/>
                <a:ea typeface="Arial" pitchFamily="34" charset="-122"/>
                <a:cs typeface="Arial" pitchFamily="34" charset="-120"/>
              </a:rPr>
              <a:t>Day 1 of 4  |  09:00–16:30</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Agenda</a:t>
            </a:r>
            <a:endParaRPr lang="en-US" sz="3200" dirty="0"/>
          </a:p>
        </p:txBody>
      </p:sp>
      <p:sp>
        <p:nvSpPr>
          <p:cNvPr id="3" name="Text 1"/>
          <p:cNvSpPr txBox="1"/>
          <p:nvPr/>
        </p:nvSpPr>
        <p:spPr>
          <a:xfrm>
            <a:off x="548640" y="1371600"/>
            <a:ext cx="8168335" cy="4754880"/>
          </a:xfrm>
          <a:prstGeom prst="rect">
            <a:avLst/>
          </a:prstGeom>
          <a:noFill/>
          <a:ln/>
        </p:spPr>
        <p:txBody>
          <a:bodyPr wrap="square" lIns="1270" tIns="1270" rIns="1270" bIns="1270" rtlCol="0" anchor="t"/>
          <a:lstStyle/>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09:15 — Module 01: C# warm-up</a:t>
            </a:r>
            <a:endParaRPr lang="en-US" sz="1800" dirty="0"/>
          </a:p>
          <a:p>
            <a:pPr algn="l" lvl="1" marL="508000" indent="-254000">
              <a:spcAft>
                <a:spcPts val="400"/>
              </a:spcAft>
              <a:buSzPct val="100000"/>
              <a:buChar char="•"/>
            </a:pPr>
            <a:r>
              <a:rPr lang="en-US" altLang="en-US" sz="1500" dirty="0">
                <a:solidFill>
                  <a:srgbClr val="6B6480"/>
                </a:solidFill>
                <a:latin typeface="Arial" pitchFamily="34" charset="0"/>
                <a:ea typeface="Arial" pitchFamily="34" charset="-122"/>
                <a:cs typeface="Arial" pitchFamily="34" charset="-120"/>
              </a:rPr>
              <a:t>First program, types, control flow, methods, nullable</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09:50 — Module 02: classes, objects, properties, constructors, records</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10:45 — Lab 1: Library system (45 min)</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11:30 — Module 03: encapsulation, inheritance, polymorphism, interfaces</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13:00 — Lab 2: Shapes and employees (60 min)</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14:00 — Modules 04–05: collections, generics, delegates, LINQ</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15:15 — Modules 06–07: exceptions, debugging, clean code  →  Lab 3 / Lab 4</a:t>
            </a:r>
            <a:endParaRPr lang="en-US" sz="1800" dirty="0"/>
          </a:p>
        </p:txBody>
      </p:sp>
      <p:sp>
        <p:nvSpPr>
          <p:cNvPr id="4" name="Shape 2"/>
          <p:cNvSpPr/>
          <p:nvPr/>
        </p:nvSpPr>
        <p:spPr>
          <a:xfrm>
            <a:off x="9357055" y="2377440"/>
            <a:ext cx="1828800" cy="1828800"/>
          </a:xfrm>
          <a:prstGeom prst="ellipse">
            <a:avLst/>
          </a:prstGeom>
          <a:solidFill>
            <a:srgbClr val="F3F0FF"/>
          </a:solidFill>
          <a:ln w="12700">
            <a:solidFill>
              <a:srgbClr val="F3F0FF"/>
            </a:solidFill>
            <a:prstDash val="solid"/>
          </a:ln>
        </p:spPr>
      </p:sp>
      <p:pic>
        <p:nvPicPr>
          <p:cNvPr id="5" name="Image 0" descr="preencoded.png">    </p:cNvPr>
          <p:cNvPicPr>
            <a:picLocks noChangeAspect="1"/>
          </p:cNvPicPr>
          <p:nvPr/>
        </p:nvPicPr>
        <p:blipFill>
          <a:blip r:embed="rId1"/>
          <a:stretch>
            <a:fillRect/>
          </a:stretch>
        </p:blipFill>
        <p:spPr>
          <a:xfrm>
            <a:off x="9814255" y="2834640"/>
            <a:ext cx="914400" cy="914400"/>
          </a:xfrm>
          <a:prstGeom prst="rect">
            <a:avLst/>
          </a:prstGeom>
        </p:spPr>
      </p:pic>
      <p:sp>
        <p:nvSpPr>
          <p:cNvPr id="6" name="Text 3"/>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What you'll be able to do by the end of the day</a:t>
            </a:r>
            <a:endParaRPr lang="en-US" sz="3200" dirty="0"/>
          </a:p>
        </p:txBody>
      </p:sp>
      <p:sp>
        <p:nvSpPr>
          <p:cNvPr id="3" name="Shape 1"/>
          <p:cNvSpPr/>
          <p:nvPr/>
        </p:nvSpPr>
        <p:spPr>
          <a:xfrm>
            <a:off x="548640" y="1371600"/>
            <a:ext cx="2533574" cy="4846320"/>
          </a:xfrm>
          <a:prstGeom prst="roundRect">
            <a:avLst>
              <a:gd name="adj" fmla="val 5414"/>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777240" y="1600200"/>
            <a:ext cx="640080" cy="640080"/>
          </a:xfrm>
          <a:prstGeom prst="ellipse">
            <a:avLst/>
          </a:prstGeom>
          <a:solidFill>
            <a:srgbClr val="512BD4"/>
          </a:solidFill>
          <a:ln w="12700">
            <a:solidFill>
              <a:srgbClr val="512BD4"/>
            </a:solidFill>
            <a:prstDash val="solid"/>
          </a:ln>
        </p:spPr>
      </p:sp>
      <p:pic>
        <p:nvPicPr>
          <p:cNvPr id="5" name="Image 0" descr="preencoded.png">    </p:cNvPr>
          <p:cNvPicPr>
            <a:picLocks noChangeAspect="1"/>
          </p:cNvPicPr>
          <p:nvPr/>
        </p:nvPicPr>
        <p:blipFill>
          <a:blip r:embed="rId1"/>
          <a:stretch>
            <a:fillRect/>
          </a:stretch>
        </p:blipFill>
        <p:spPr>
          <a:xfrm>
            <a:off x="937260" y="1760220"/>
            <a:ext cx="320040" cy="320040"/>
          </a:xfrm>
          <a:prstGeom prst="rect">
            <a:avLst/>
          </a:prstGeom>
        </p:spPr>
      </p:pic>
      <p:sp>
        <p:nvSpPr>
          <p:cNvPr id="6" name="Text 3"/>
          <p:cNvSpPr txBox="1"/>
          <p:nvPr/>
        </p:nvSpPr>
        <p:spPr>
          <a:xfrm>
            <a:off x="777240" y="2377440"/>
            <a:ext cx="2076374" cy="457200"/>
          </a:xfrm>
          <a:prstGeom prst="rect">
            <a:avLst/>
          </a:prstGeom>
          <a:noFill/>
          <a:ln/>
        </p:spPr>
        <p:txBody>
          <a:bodyPr wrap="square" lIns="0" tIns="0" rIns="0" bIns="0" rtlCol="0" anchor="ctr">
            <a:normAutofit/>
          </a:bodyPr>
          <a:lstStyle/>
          <a:p>
            <a:pPr algn="l" indent="0" marL="0">
              <a:buNone/>
            </a:pPr>
            <a:r>
              <a:rPr lang="en-US" altLang="en-US" sz="1600" b="1" dirty="0">
                <a:solidFill>
                  <a:srgbClr val="1B1340"/>
                </a:solidFill>
                <a:latin typeface="Arial" pitchFamily="34" charset="0"/>
                <a:ea typeface="Arial" pitchFamily="34" charset="-122"/>
                <a:cs typeface="Arial" pitchFamily="34" charset="-120"/>
              </a:rPr>
              <a:t>Write modern C#</a:t>
            </a:r>
            <a:endParaRPr lang="en-US" sz="1600" dirty="0"/>
          </a:p>
        </p:txBody>
      </p:sp>
      <p:sp>
        <p:nvSpPr>
          <p:cNvPr id="7" name="Text 4"/>
          <p:cNvSpPr txBox="1"/>
          <p:nvPr/>
        </p:nvSpPr>
        <p:spPr>
          <a:xfrm>
            <a:off x="777240" y="2880360"/>
            <a:ext cx="2076374" cy="310896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top-level statements, var, interpolation, switch expressions, nullable</a:t>
            </a:r>
            <a:endParaRPr lang="en-US" sz="1300" dirty="0"/>
          </a:p>
        </p:txBody>
      </p:sp>
      <p:sp>
        <p:nvSpPr>
          <p:cNvPr id="8" name="Shape 5"/>
          <p:cNvSpPr/>
          <p:nvPr/>
        </p:nvSpPr>
        <p:spPr>
          <a:xfrm>
            <a:off x="3402254" y="1371600"/>
            <a:ext cx="2533574" cy="4846320"/>
          </a:xfrm>
          <a:prstGeom prst="roundRect">
            <a:avLst>
              <a:gd name="adj" fmla="val 5414"/>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9" name="Shape 6"/>
          <p:cNvSpPr/>
          <p:nvPr/>
        </p:nvSpPr>
        <p:spPr>
          <a:xfrm>
            <a:off x="3630854" y="1600200"/>
            <a:ext cx="640080" cy="640080"/>
          </a:xfrm>
          <a:prstGeom prst="ellipse">
            <a:avLst/>
          </a:prstGeom>
          <a:solidFill>
            <a:srgbClr val="512BD4"/>
          </a:solidFill>
          <a:ln w="12700">
            <a:solidFill>
              <a:srgbClr val="512BD4"/>
            </a:solidFill>
            <a:prstDash val="solid"/>
          </a:ln>
        </p:spPr>
      </p:sp>
      <p:pic>
        <p:nvPicPr>
          <p:cNvPr id="10" name="Image 1" descr="preencoded.png">    </p:cNvPr>
          <p:cNvPicPr>
            <a:picLocks noChangeAspect="1"/>
          </p:cNvPicPr>
          <p:nvPr/>
        </p:nvPicPr>
        <p:blipFill>
          <a:blip r:embed="rId2"/>
          <a:stretch>
            <a:fillRect/>
          </a:stretch>
        </p:blipFill>
        <p:spPr>
          <a:xfrm>
            <a:off x="3790874" y="1760220"/>
            <a:ext cx="320040" cy="320040"/>
          </a:xfrm>
          <a:prstGeom prst="rect">
            <a:avLst/>
          </a:prstGeom>
        </p:spPr>
      </p:pic>
      <p:sp>
        <p:nvSpPr>
          <p:cNvPr id="11" name="Text 7"/>
          <p:cNvSpPr txBox="1"/>
          <p:nvPr/>
        </p:nvSpPr>
        <p:spPr>
          <a:xfrm>
            <a:off x="3630854" y="2377440"/>
            <a:ext cx="2076374" cy="457200"/>
          </a:xfrm>
          <a:prstGeom prst="rect">
            <a:avLst/>
          </a:prstGeom>
          <a:noFill/>
          <a:ln/>
        </p:spPr>
        <p:txBody>
          <a:bodyPr wrap="square" lIns="0" tIns="0" rIns="0" bIns="0" rtlCol="0" anchor="ctr">
            <a:normAutofit/>
          </a:bodyPr>
          <a:lstStyle/>
          <a:p>
            <a:pPr algn="l" indent="0" marL="0">
              <a:buNone/>
            </a:pPr>
            <a:r>
              <a:rPr lang="en-US" altLang="en-US" sz="1600" b="1" dirty="0">
                <a:solidFill>
                  <a:srgbClr val="1B1340"/>
                </a:solidFill>
                <a:latin typeface="Arial" pitchFamily="34" charset="0"/>
                <a:ea typeface="Arial" pitchFamily="34" charset="-122"/>
                <a:cs typeface="Arial" pitchFamily="34" charset="-120"/>
              </a:rPr>
              <a:t>Design classes</a:t>
            </a:r>
            <a:endParaRPr lang="en-US" sz="1600" dirty="0"/>
          </a:p>
        </p:txBody>
      </p:sp>
      <p:sp>
        <p:nvSpPr>
          <p:cNvPr id="12" name="Text 8"/>
          <p:cNvSpPr txBox="1"/>
          <p:nvPr/>
        </p:nvSpPr>
        <p:spPr>
          <a:xfrm>
            <a:off x="3630854" y="2880360"/>
            <a:ext cx="2076374" cy="310896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properties, constructors, records, inheritance, interfaces, polymorphism</a:t>
            </a:r>
            <a:endParaRPr lang="en-US" sz="1300" dirty="0"/>
          </a:p>
        </p:txBody>
      </p:sp>
      <p:sp>
        <p:nvSpPr>
          <p:cNvPr id="13" name="Shape 9"/>
          <p:cNvSpPr/>
          <p:nvPr/>
        </p:nvSpPr>
        <p:spPr>
          <a:xfrm>
            <a:off x="6255868" y="1371600"/>
            <a:ext cx="2533574" cy="4846320"/>
          </a:xfrm>
          <a:prstGeom prst="roundRect">
            <a:avLst>
              <a:gd name="adj" fmla="val 5414"/>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14" name="Shape 10"/>
          <p:cNvSpPr/>
          <p:nvPr/>
        </p:nvSpPr>
        <p:spPr>
          <a:xfrm>
            <a:off x="6484468" y="1600200"/>
            <a:ext cx="640080" cy="640080"/>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644488" y="1760220"/>
            <a:ext cx="320040" cy="320040"/>
          </a:xfrm>
          <a:prstGeom prst="rect">
            <a:avLst/>
          </a:prstGeom>
        </p:spPr>
      </p:pic>
      <p:sp>
        <p:nvSpPr>
          <p:cNvPr id="16" name="Text 11"/>
          <p:cNvSpPr txBox="1"/>
          <p:nvPr/>
        </p:nvSpPr>
        <p:spPr>
          <a:xfrm>
            <a:off x="6484468" y="2377440"/>
            <a:ext cx="2076374" cy="457200"/>
          </a:xfrm>
          <a:prstGeom prst="rect">
            <a:avLst/>
          </a:prstGeom>
          <a:noFill/>
          <a:ln/>
        </p:spPr>
        <p:txBody>
          <a:bodyPr wrap="square" lIns="0" tIns="0" rIns="0" bIns="0" rtlCol="0" anchor="ctr">
            <a:normAutofit/>
          </a:bodyPr>
          <a:lstStyle/>
          <a:p>
            <a:pPr algn="l" indent="0" marL="0">
              <a:buNone/>
            </a:pPr>
            <a:r>
              <a:rPr lang="en-US" altLang="en-US" sz="1600" b="1" dirty="0">
                <a:solidFill>
                  <a:srgbClr val="1B1340"/>
                </a:solidFill>
                <a:latin typeface="Arial" pitchFamily="34" charset="0"/>
                <a:ea typeface="Arial" pitchFamily="34" charset="-122"/>
                <a:cs typeface="Arial" pitchFamily="34" charset="-120"/>
              </a:rPr>
              <a:t>Manage data</a:t>
            </a:r>
            <a:endParaRPr lang="en-US" sz="1600" dirty="0"/>
          </a:p>
        </p:txBody>
      </p:sp>
      <p:sp>
        <p:nvSpPr>
          <p:cNvPr id="17" name="Text 12"/>
          <p:cNvSpPr txBox="1"/>
          <p:nvPr/>
        </p:nvSpPr>
        <p:spPr>
          <a:xfrm>
            <a:off x="6484468" y="2880360"/>
            <a:ext cx="2076374" cy="310896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List, Dictionary, HashSet, generics, LINQ, events</a:t>
            </a:r>
            <a:endParaRPr lang="en-US" sz="1300" dirty="0"/>
          </a:p>
        </p:txBody>
      </p:sp>
      <p:sp>
        <p:nvSpPr>
          <p:cNvPr id="18" name="Shape 13"/>
          <p:cNvSpPr/>
          <p:nvPr/>
        </p:nvSpPr>
        <p:spPr>
          <a:xfrm>
            <a:off x="9109481" y="1371600"/>
            <a:ext cx="2533574" cy="4846320"/>
          </a:xfrm>
          <a:prstGeom prst="roundRect">
            <a:avLst>
              <a:gd name="adj" fmla="val 5414"/>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19" name="Shape 14"/>
          <p:cNvSpPr/>
          <p:nvPr/>
        </p:nvSpPr>
        <p:spPr>
          <a:xfrm>
            <a:off x="9338081" y="1600200"/>
            <a:ext cx="640080" cy="640080"/>
          </a:xfrm>
          <a:prstGeom prst="ellipse">
            <a:avLst/>
          </a:prstGeom>
          <a:solidFill>
            <a:srgbClr val="512BD4"/>
          </a:solidFill>
          <a:ln w="12700">
            <a:solidFill>
              <a:srgbClr val="512BD4"/>
            </a:solidFill>
            <a:prstDash val="solid"/>
          </a:ln>
        </p:spPr>
      </p:sp>
      <p:pic>
        <p:nvPicPr>
          <p:cNvPr id="20" name="Image 3" descr="preencoded.png">    </p:cNvPr>
          <p:cNvPicPr>
            <a:picLocks noChangeAspect="1"/>
          </p:cNvPicPr>
          <p:nvPr/>
        </p:nvPicPr>
        <p:blipFill>
          <a:blip r:embed="rId4"/>
          <a:stretch>
            <a:fillRect/>
          </a:stretch>
        </p:blipFill>
        <p:spPr>
          <a:xfrm>
            <a:off x="9498101" y="1760220"/>
            <a:ext cx="320040" cy="320040"/>
          </a:xfrm>
          <a:prstGeom prst="rect">
            <a:avLst/>
          </a:prstGeom>
        </p:spPr>
      </p:pic>
      <p:sp>
        <p:nvSpPr>
          <p:cNvPr id="21" name="Text 15"/>
          <p:cNvSpPr txBox="1"/>
          <p:nvPr/>
        </p:nvSpPr>
        <p:spPr>
          <a:xfrm>
            <a:off x="9338081" y="2377440"/>
            <a:ext cx="2076374" cy="457200"/>
          </a:xfrm>
          <a:prstGeom prst="rect">
            <a:avLst/>
          </a:prstGeom>
          <a:noFill/>
          <a:ln/>
        </p:spPr>
        <p:txBody>
          <a:bodyPr wrap="square" lIns="0" tIns="0" rIns="0" bIns="0" rtlCol="0" anchor="ctr">
            <a:normAutofit/>
          </a:bodyPr>
          <a:lstStyle/>
          <a:p>
            <a:pPr algn="l" indent="0" marL="0">
              <a:buNone/>
            </a:pPr>
            <a:r>
              <a:rPr lang="en-US" altLang="en-US" sz="1600" b="1" dirty="0">
                <a:solidFill>
                  <a:srgbClr val="1B1340"/>
                </a:solidFill>
                <a:latin typeface="Arial" pitchFamily="34" charset="0"/>
                <a:ea typeface="Arial" pitchFamily="34" charset="-122"/>
                <a:cs typeface="Arial" pitchFamily="34" charset="-120"/>
              </a:rPr>
              <a:t>Write robust code</a:t>
            </a:r>
            <a:endParaRPr lang="en-US" sz="1600" dirty="0"/>
          </a:p>
        </p:txBody>
      </p:sp>
      <p:sp>
        <p:nvSpPr>
          <p:cNvPr id="22" name="Text 16"/>
          <p:cNvSpPr txBox="1"/>
          <p:nvPr/>
        </p:nvSpPr>
        <p:spPr>
          <a:xfrm>
            <a:off x="9338081" y="2880360"/>
            <a:ext cx="2076374" cy="310896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exceptions, guard clauses, using, the debugger, clean code</a:t>
            </a:r>
            <a:endParaRPr lang="en-US" sz="1300" dirty="0"/>
          </a:p>
        </p:txBody>
      </p:sp>
      <p:sp>
        <p:nvSpPr>
          <p:cNvPr id="23" name="Text 17"/>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24" name="Text 1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340"/>
        </a:solidFill>
      </p:bgPr>
    </p:bg>
    <p:spTree>
      <p:nvGrpSpPr>
        <p:cNvPr id="1" name=""/>
        <p:cNvGrpSpPr/>
        <p:nvPr/>
      </p:nvGrpSpPr>
      <p:grpSpPr>
        <a:xfrm>
          <a:off x="0" y="0"/>
          <a:ext cx="0" cy="0"/>
          <a:chOff x="0" y="0"/>
          <a:chExt cx="0" cy="0"/>
        </a:xfrm>
      </p:grpSpPr>
      <p:sp>
        <p:nvSpPr>
          <p:cNvPr id="2" name="Shape 0"/>
          <p:cNvSpPr/>
          <p:nvPr/>
        </p:nvSpPr>
        <p:spPr>
          <a:xfrm>
            <a:off x="-2926080" y="-2743200"/>
            <a:ext cx="7315200" cy="7315200"/>
          </a:xfrm>
          <a:prstGeom prst="ellipse">
            <a:avLst/>
          </a:prstGeom>
          <a:solidFill>
            <a:srgbClr val="512BD4">
              <a:alpha val="28000"/>
            </a:srgbClr>
          </a:solidFill>
          <a:ln w="12700">
            <a:solidFill>
              <a:srgbClr val="512BD4">
                <a:alpha val="0"/>
              </a:srgbClr>
            </a:solidFill>
            <a:prstDash val="solid"/>
          </a:ln>
        </p:spPr>
      </p:sp>
      <p:sp>
        <p:nvSpPr>
          <p:cNvPr id="3" name="Text 1"/>
          <p:cNvSpPr txBox="1"/>
          <p:nvPr/>
        </p:nvSpPr>
        <p:spPr>
          <a:xfrm>
            <a:off x="7711135" y="1188720"/>
            <a:ext cx="3657600" cy="2743200"/>
          </a:xfrm>
          <a:prstGeom prst="rect">
            <a:avLst/>
          </a:prstGeom>
          <a:noFill/>
          <a:ln/>
        </p:spPr>
        <p:txBody>
          <a:bodyPr wrap="square" lIns="0" tIns="0" rIns="0" bIns="0" rtlCol="0" anchor="ctr"/>
          <a:lstStyle/>
          <a:p>
            <a:pPr algn="r" indent="0" marL="0">
              <a:buNone/>
            </a:pPr>
            <a:r>
              <a:rPr lang="en-US" sz="13000" b="1" dirty="0">
                <a:solidFill>
                  <a:srgbClr val="FFB020"/>
                </a:solidFill>
                <a:latin typeface="Arial" pitchFamily="34" charset="0"/>
                <a:ea typeface="Arial" pitchFamily="34" charset="-122"/>
                <a:cs typeface="Arial" pitchFamily="34" charset="-120"/>
              </a:rPr>
              <a:t>01</a:t>
            </a:r>
            <a:endParaRPr lang="en-US" sz="13000" dirty="0"/>
          </a:p>
        </p:txBody>
      </p:sp>
      <p:sp>
        <p:nvSpPr>
          <p:cNvPr id="4" name="Text 2"/>
          <p:cNvSpPr txBox="1"/>
          <p:nvPr/>
        </p:nvSpPr>
        <p:spPr>
          <a:xfrm>
            <a:off x="548640" y="1828800"/>
            <a:ext cx="7223760" cy="1463040"/>
          </a:xfrm>
          <a:prstGeom prst="rect">
            <a:avLst/>
          </a:prstGeom>
          <a:noFill/>
          <a:ln/>
        </p:spPr>
        <p:txBody>
          <a:bodyPr wrap="square" lIns="0" tIns="0" rIns="0" bIns="0" rtlCol="0" anchor="ctr"/>
          <a:lstStyle/>
          <a:p>
            <a:pPr algn="l" indent="0" marL="0">
              <a:buNone/>
            </a:pPr>
            <a:r>
              <a:rPr lang="en-US" altLang="en-US" sz="4000" b="1" dirty="0">
                <a:solidFill>
                  <a:srgbClr val="FFFFFF"/>
                </a:solidFill>
                <a:latin typeface="Arial" pitchFamily="34" charset="0"/>
                <a:ea typeface="Arial" pitchFamily="34" charset="-122"/>
                <a:cs typeface="Arial" pitchFamily="34" charset="-120"/>
              </a:rPr>
              <a:t>C# Warm-up</a:t>
            </a:r>
            <a:endParaRPr lang="en-US" sz="4000" dirty="0"/>
          </a:p>
        </p:txBody>
      </p:sp>
      <p:sp>
        <p:nvSpPr>
          <p:cNvPr id="5" name="Text 3"/>
          <p:cNvSpPr txBox="1"/>
          <p:nvPr/>
        </p:nvSpPr>
        <p:spPr>
          <a:xfrm>
            <a:off x="548640" y="3383280"/>
            <a:ext cx="7223760" cy="1463040"/>
          </a:xfrm>
          <a:prstGeom prst="rect">
            <a:avLst/>
          </a:prstGeom>
          <a:noFill/>
          <a:ln/>
        </p:spPr>
        <p:txBody>
          <a:bodyPr wrap="square" lIns="0" tIns="0" rIns="0" bIns="0" rtlCol="0" anchor="t"/>
          <a:lstStyle/>
          <a:p>
            <a:pPr algn="l" indent="0" marL="0">
              <a:buNone/>
            </a:pPr>
            <a:r>
              <a:rPr lang="en-US" altLang="en-US" sz="2000" dirty="0">
                <a:solidFill>
                  <a:srgbClr val="CFC7F5"/>
                </a:solidFill>
                <a:latin typeface="Arial" pitchFamily="34" charset="0"/>
                <a:ea typeface="Arial" pitchFamily="34" charset="-122"/>
                <a:cs typeface="Arial" pitchFamily="34" charset="-120"/>
              </a:rPr>
              <a:t>First program, types, control flow, methods, nullable</a:t>
            </a:r>
            <a:endParaRPr lang="en-US" sz="20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A79FD6"/>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9FD6"/>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First program: dotnet new + top-level statements</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417320"/>
            <a:ext cx="6858000" cy="274320"/>
          </a:xfrm>
          <a:prstGeom prst="rect">
            <a:avLst/>
          </a:prstGeom>
          <a:noFill/>
          <a:ln/>
        </p:spPr>
        <p:txBody>
          <a:bodyPr wrap="square" lIns="0" tIns="0" rIns="0" bIns="0" rtlCol="0" anchor="t"/>
          <a:lstStyle/>
          <a:p>
            <a:pPr algn="l" indent="0" marL="0">
              <a:buNone/>
            </a:pPr>
            <a:r>
              <a:rPr lang="en-US" altLang="en-US" sz="1000" dirty="0">
                <a:solidFill>
                  <a:srgbClr val="9A96B8"/>
                </a:solidFill>
                <a:latin typeface="Courier New" pitchFamily="34" charset="0"/>
                <a:ea typeface="Courier New" pitchFamily="34" charset="-122"/>
                <a:cs typeface="Courier New" pitchFamily="34" charset="-120"/>
              </a:rPr>
              <a:t>Program.cs</a:t>
            </a:r>
            <a:endParaRPr lang="en-US" sz="1000" dirty="0"/>
          </a:p>
        </p:txBody>
      </p:sp>
      <p:sp>
        <p:nvSpPr>
          <p:cNvPr id="5" name="Text 3"/>
          <p:cNvSpPr txBox="1"/>
          <p:nvPr/>
        </p:nvSpPr>
        <p:spPr>
          <a:xfrm>
            <a:off x="731520" y="1737360"/>
            <a:ext cx="6858000" cy="4389120"/>
          </a:xfrm>
          <a:prstGeom prst="rect">
            <a:avLst/>
          </a:prstGeom>
          <a:noFill/>
          <a:ln/>
        </p:spPr>
        <p:txBody>
          <a:bodyPr wrap="square" lIns="635" tIns="635" rIns="635" bIns="635" rtlCol="0" anchor="t"/>
          <a:lstStyle/>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 dotnet new console -n HelloApp</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 cd HelloApp &amp;&amp; dotnet run</a:t>
            </a:r>
            <a:endParaRPr lang="en-US" sz="1500" dirty="0"/>
          </a:p>
          <a:p>
            <a:pPr algn="l" indent="0" marL="0">
              <a:buNone/>
            </a:pP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Console.WriteLine("Hello, .NET!");</a:t>
            </a:r>
            <a:endParaRPr lang="en-US" sz="1500" dirty="0"/>
          </a:p>
          <a:p>
            <a:pPr algn="l" indent="0" marL="0">
              <a:buNone/>
            </a:pP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int age = 30;</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string name = "Dana";</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var isActive = true;        // the compiler infers bool</a:t>
            </a:r>
            <a:endParaRPr lang="en-US" sz="1500" dirty="0"/>
          </a:p>
          <a:p>
            <a:pPr algn="l" indent="0" marL="0">
              <a:buNone/>
            </a:pP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Console.WriteLine($"{name} is {age}");</a:t>
            </a:r>
            <a:endParaRPr lang="en-US" sz="1500" dirty="0"/>
          </a:p>
          <a:p>
            <a:pPr algn="l" indent="0" marL="0">
              <a:buNone/>
            </a:pP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 type declarations must come after the statements</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record Person(string Name, int Age);</a:t>
            </a:r>
            <a:endParaRPr lang="en-US" sz="1500" dirty="0"/>
          </a:p>
        </p:txBody>
      </p:sp>
      <p:sp>
        <p:nvSpPr>
          <p:cNvPr id="6" name="Text 4"/>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No Main — the compiler wraps it for us</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The .csproj: TargetFramework, Nullable, ImplicitUsings</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var = type inference, not a dynamic type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Type declarations always go at the end of the file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dotnet run = build + run</a:t>
            </a:r>
            <a:endParaRPr lang="en-US" sz="1600" dirty="0"/>
          </a:p>
        </p:txBody>
      </p:sp>
      <p:sp>
        <p:nvSpPr>
          <p:cNvPr id="7" name="Text 5"/>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8" name="Text 6"/>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Value types vs. reference types</a:t>
            </a:r>
            <a:endParaRPr lang="en-US" sz="3200" dirty="0"/>
          </a:p>
        </p:txBody>
      </p:sp>
      <p:sp>
        <p:nvSpPr>
          <p:cNvPr id="3" name="Shape 1"/>
          <p:cNvSpPr/>
          <p:nvPr/>
        </p:nvSpPr>
        <p:spPr>
          <a:xfrm>
            <a:off x="548640" y="1371600"/>
            <a:ext cx="5318608" cy="4846320"/>
          </a:xfrm>
          <a:prstGeom prst="roundRect">
            <a:avLst>
              <a:gd name="adj" fmla="val 2830"/>
            </a:avLst>
          </a:prstGeom>
          <a:solidFill>
            <a:srgbClr val="F3F0FF"/>
          </a:solidFill>
          <a:ln w="12700">
            <a:solidFill>
              <a:srgbClr val="F3F0FF"/>
            </a:solidFill>
            <a:prstDash val="solid"/>
          </a:ln>
        </p:spPr>
      </p:sp>
      <p:sp>
        <p:nvSpPr>
          <p:cNvPr id="4" name="Text 2"/>
          <p:cNvSpPr txBox="1"/>
          <p:nvPr/>
        </p:nvSpPr>
        <p:spPr>
          <a:xfrm>
            <a:off x="777240" y="1508760"/>
            <a:ext cx="4861408" cy="548640"/>
          </a:xfrm>
          <a:prstGeom prst="rect">
            <a:avLst/>
          </a:prstGeom>
          <a:noFill/>
          <a:ln/>
        </p:spPr>
        <p:txBody>
          <a:bodyPr wrap="square" lIns="0" tIns="0" rIns="0" bIns="0" rtlCol="0" anchor="t"/>
          <a:lstStyle/>
          <a:p>
            <a:pPr algn="l" indent="0" marL="0">
              <a:buNone/>
            </a:pPr>
            <a:r>
              <a:rPr lang="en-US" altLang="en-US" sz="2000" b="1" dirty="0">
                <a:solidFill>
                  <a:srgbClr val="512BD4"/>
                </a:solidFill>
                <a:latin typeface="Arial" pitchFamily="34" charset="0"/>
                <a:ea typeface="Arial" pitchFamily="34" charset="-122"/>
                <a:cs typeface="Arial" pitchFamily="34" charset="-120"/>
              </a:rPr>
              <a:t>Value types</a:t>
            </a:r>
            <a:endParaRPr lang="en-US" sz="2000" dirty="0"/>
          </a:p>
        </p:txBody>
      </p:sp>
      <p:sp>
        <p:nvSpPr>
          <p:cNvPr id="5" name="Text 3"/>
          <p:cNvSpPr txBox="1"/>
          <p:nvPr/>
        </p:nvSpPr>
        <p:spPr>
          <a:xfrm>
            <a:off x="777240" y="2103120"/>
            <a:ext cx="4861408" cy="3931920"/>
          </a:xfrm>
          <a:prstGeom prst="rect">
            <a:avLst/>
          </a:prstGeom>
          <a:noFill/>
          <a:ln/>
        </p:spPr>
        <p:txBody>
          <a:bodyPr wrap="square" lIns="0" tIns="0" rIns="0" bIns="0" rtlCol="0" anchor="t"/>
          <a:lstStyle/>
          <a:p>
            <a:pPr algn="l" marL="342900" indent="-342900">
              <a:spcAft>
                <a:spcPts val="800"/>
              </a:spcAft>
              <a:buSzPct val="100000"/>
              <a:buChar char="•"/>
            </a:pPr>
            <a:r>
              <a:rPr lang="en-US" altLang="en-US" sz="1700" dirty="0">
                <a:solidFill>
                  <a:srgbClr val="1F1B2E"/>
                </a:solidFill>
                <a:latin typeface="Arial" pitchFamily="34" charset="0"/>
                <a:ea typeface="Arial" pitchFamily="34" charset="-122"/>
                <a:cs typeface="Arial" pitchFamily="34" charset="-120"/>
              </a:rPr>
              <a:t>int, double, bool, decimal, DateTime, struct, enum</a:t>
            </a:r>
            <a:endParaRPr lang="en-US" sz="1700" dirty="0"/>
          </a:p>
          <a:p>
            <a:pPr algn="l" marL="342900" indent="-342900">
              <a:spcAft>
                <a:spcPts val="800"/>
              </a:spcAft>
              <a:buSzPct val="100000"/>
              <a:buChar char="•"/>
            </a:pPr>
            <a:r>
              <a:rPr lang="en-US" altLang="en-US" sz="1700" dirty="0">
                <a:solidFill>
                  <a:srgbClr val="1F1B2E"/>
                </a:solidFill>
                <a:latin typeface="Arial" pitchFamily="34" charset="0"/>
                <a:ea typeface="Arial" pitchFamily="34" charset="-122"/>
                <a:cs typeface="Arial" pitchFamily="34" charset="-120"/>
              </a:rPr>
              <a:t>The variable holds the value itself</a:t>
            </a:r>
            <a:endParaRPr lang="en-US" sz="1700" dirty="0"/>
          </a:p>
          <a:p>
            <a:pPr algn="l" marL="342900" indent="-342900">
              <a:spcAft>
                <a:spcPts val="800"/>
              </a:spcAft>
              <a:buSzPct val="100000"/>
              <a:buChar char="•"/>
            </a:pPr>
            <a:r>
              <a:rPr lang="en-US" altLang="en-US" sz="1700" dirty="0">
                <a:solidFill>
                  <a:srgbClr val="1F1B2E"/>
                </a:solidFill>
                <a:latin typeface="Arial" pitchFamily="34" charset="0"/>
                <a:ea typeface="Arial" pitchFamily="34" charset="-122"/>
                <a:cs typeface="Arial" pitchFamily="34" charset="-120"/>
              </a:rPr>
              <a:t>Assignment = copy</a:t>
            </a:r>
            <a:endParaRPr lang="en-US" sz="1700" dirty="0"/>
          </a:p>
          <a:p>
            <a:pPr algn="l" marL="342900" indent="-342900">
              <a:spcAft>
                <a:spcPts val="800"/>
              </a:spcAft>
              <a:buSzPct val="100000"/>
              <a:buChar char="•"/>
            </a:pPr>
            <a:r>
              <a:rPr lang="en-US" altLang="en-US" sz="1700" dirty="0">
                <a:solidFill>
                  <a:srgbClr val="1F1B2E"/>
                </a:solidFill>
                <a:latin typeface="Arial" pitchFamily="34" charset="0"/>
                <a:ea typeface="Arial" pitchFamily="34" charset="-122"/>
                <a:cs typeface="Arial" pitchFamily="34" charset="-120"/>
              </a:rPr>
              <a:t>Default: 0 / false</a:t>
            </a:r>
            <a:endParaRPr lang="en-US" sz="1700" dirty="0"/>
          </a:p>
        </p:txBody>
      </p:sp>
      <p:sp>
        <p:nvSpPr>
          <p:cNvPr id="6" name="Shape 4"/>
          <p:cNvSpPr/>
          <p:nvPr/>
        </p:nvSpPr>
        <p:spPr>
          <a:xfrm>
            <a:off x="6324448" y="1371600"/>
            <a:ext cx="5318608" cy="4846320"/>
          </a:xfrm>
          <a:prstGeom prst="roundRect">
            <a:avLst>
              <a:gd name="adj" fmla="val 2830"/>
            </a:avLst>
          </a:prstGeom>
          <a:solidFill>
            <a:srgbClr val="F3F0FF"/>
          </a:solidFill>
          <a:ln w="12700">
            <a:solidFill>
              <a:srgbClr val="F3F0FF"/>
            </a:solidFill>
            <a:prstDash val="solid"/>
          </a:ln>
        </p:spPr>
      </p:sp>
      <p:sp>
        <p:nvSpPr>
          <p:cNvPr id="7" name="Text 5"/>
          <p:cNvSpPr txBox="1"/>
          <p:nvPr/>
        </p:nvSpPr>
        <p:spPr>
          <a:xfrm>
            <a:off x="6553048" y="1508760"/>
            <a:ext cx="4861408" cy="548640"/>
          </a:xfrm>
          <a:prstGeom prst="rect">
            <a:avLst/>
          </a:prstGeom>
          <a:noFill/>
          <a:ln/>
        </p:spPr>
        <p:txBody>
          <a:bodyPr wrap="square" lIns="0" tIns="0" rIns="0" bIns="0" rtlCol="0" anchor="t"/>
          <a:lstStyle/>
          <a:p>
            <a:pPr algn="l" indent="0" marL="0">
              <a:buNone/>
            </a:pPr>
            <a:r>
              <a:rPr lang="en-US" altLang="en-US" sz="2000" b="1" dirty="0">
                <a:solidFill>
                  <a:srgbClr val="512BD4"/>
                </a:solidFill>
                <a:latin typeface="Arial" pitchFamily="34" charset="0"/>
                <a:ea typeface="Arial" pitchFamily="34" charset="-122"/>
                <a:cs typeface="Arial" pitchFamily="34" charset="-120"/>
              </a:rPr>
              <a:t>Reference types</a:t>
            </a:r>
            <a:endParaRPr lang="en-US" sz="2000" dirty="0"/>
          </a:p>
        </p:txBody>
      </p:sp>
      <p:sp>
        <p:nvSpPr>
          <p:cNvPr id="8" name="Text 6"/>
          <p:cNvSpPr txBox="1"/>
          <p:nvPr/>
        </p:nvSpPr>
        <p:spPr>
          <a:xfrm>
            <a:off x="6553048" y="2103120"/>
            <a:ext cx="4861408" cy="3931920"/>
          </a:xfrm>
          <a:prstGeom prst="rect">
            <a:avLst/>
          </a:prstGeom>
          <a:noFill/>
          <a:ln/>
        </p:spPr>
        <p:txBody>
          <a:bodyPr wrap="square" lIns="0" tIns="0" rIns="0" bIns="0" rtlCol="0" anchor="t"/>
          <a:lstStyle/>
          <a:p>
            <a:pPr algn="l" marL="342900" indent="-342900">
              <a:spcAft>
                <a:spcPts val="800"/>
              </a:spcAft>
              <a:buSzPct val="100000"/>
              <a:buChar char="•"/>
            </a:pPr>
            <a:r>
              <a:rPr lang="en-US" altLang="en-US" sz="1700" dirty="0">
                <a:solidFill>
                  <a:srgbClr val="1F1B2E"/>
                </a:solidFill>
                <a:latin typeface="Arial" pitchFamily="34" charset="0"/>
                <a:ea typeface="Arial" pitchFamily="34" charset="-122"/>
                <a:cs typeface="Arial" pitchFamily="34" charset="-120"/>
              </a:rPr>
              <a:t>string, arrays, class, record, List&lt;T&gt;</a:t>
            </a:r>
            <a:endParaRPr lang="en-US" sz="1700" dirty="0"/>
          </a:p>
          <a:p>
            <a:pPr algn="l" marL="342900" indent="-342900">
              <a:spcAft>
                <a:spcPts val="800"/>
              </a:spcAft>
              <a:buSzPct val="100000"/>
              <a:buChar char="•"/>
            </a:pPr>
            <a:r>
              <a:rPr lang="en-US" altLang="en-US" sz="1700" dirty="0">
                <a:solidFill>
                  <a:srgbClr val="1F1B2E"/>
                </a:solidFill>
                <a:latin typeface="Arial" pitchFamily="34" charset="0"/>
                <a:ea typeface="Arial" pitchFamily="34" charset="-122"/>
                <a:cs typeface="Arial" pitchFamily="34" charset="-120"/>
              </a:rPr>
              <a:t>The variable holds an "address" of the object</a:t>
            </a:r>
            <a:endParaRPr lang="en-US" sz="1700" dirty="0"/>
          </a:p>
          <a:p>
            <a:pPr algn="l" marL="342900" indent="-342900">
              <a:spcAft>
                <a:spcPts val="800"/>
              </a:spcAft>
              <a:buSzPct val="100000"/>
              <a:buChar char="•"/>
            </a:pPr>
            <a:r>
              <a:rPr lang="en-US" altLang="en-US" sz="1700" dirty="0">
                <a:solidFill>
                  <a:srgbClr val="1F1B2E"/>
                </a:solidFill>
                <a:latin typeface="Arial" pitchFamily="34" charset="0"/>
                <a:ea typeface="Arial" pitchFamily="34" charset="-122"/>
                <a:cs typeface="Arial" pitchFamily="34" charset="-120"/>
              </a:rPr>
              <a:t>Assignment = two names for the same object</a:t>
            </a:r>
            <a:endParaRPr lang="en-US" sz="1700" dirty="0"/>
          </a:p>
          <a:p>
            <a:pPr algn="l" marL="342900" indent="-342900">
              <a:spcAft>
                <a:spcPts val="800"/>
              </a:spcAft>
              <a:buSzPct val="100000"/>
              <a:buChar char="•"/>
            </a:pPr>
            <a:r>
              <a:rPr lang="en-US" altLang="en-US" sz="1700" dirty="0">
                <a:solidFill>
                  <a:srgbClr val="1F1B2E"/>
                </a:solidFill>
                <a:latin typeface="Arial" pitchFamily="34" charset="0"/>
                <a:ea typeface="Arial" pitchFamily="34" charset="-122"/>
                <a:cs typeface="Arial" pitchFamily="34" charset="-120"/>
              </a:rPr>
              <a:t>Default: null</a:t>
            </a:r>
            <a:endParaRPr lang="en-US" sz="1700" dirty="0"/>
          </a:p>
        </p:txBody>
      </p:sp>
      <p:sp>
        <p:nvSpPr>
          <p:cNvPr id="9" name="Text 7"/>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10"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Strings, interpolation and control flow</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508760"/>
            <a:ext cx="6858000" cy="4617720"/>
          </a:xfrm>
          <a:prstGeom prst="rect">
            <a:avLst/>
          </a:prstGeom>
          <a:noFill/>
          <a:ln/>
        </p:spPr>
        <p:txBody>
          <a:bodyPr wrap="square" lIns="635" tIns="635" rIns="635" bIns="635" rtlCol="0" anchor="t"/>
          <a:lstStyle/>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string full = $"{first} {last}";</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string money = $"{1234.5:N2}";          // 1,234.50</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string table = $"{name,-10}|{42,5}";    // alignment</a:t>
            </a:r>
            <a:endParaRPr lang="en-US" sz="1500" dirty="0"/>
          </a:p>
          <a:p>
            <a:pPr algn="l" indent="0" marL="0">
              <a:buNone/>
            </a:pP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if (age &gt;= 18 &amp;&amp; isActive) { }</a:t>
            </a:r>
            <a:endParaRPr lang="en-US" sz="1500" dirty="0"/>
          </a:p>
          <a:p>
            <a:pPr algn="l" indent="0" marL="0">
              <a:buNone/>
            </a:pP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string grade = score switch            // switch expression</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    &gt;= 90 =&gt; "A",</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    &gt;= 80 =&gt; "B",</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    _     =&gt; "F",</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a:t>
            </a:r>
            <a:endParaRPr lang="en-US" sz="1500" dirty="0"/>
          </a:p>
          <a:p>
            <a:pPr algn="l" indent="0" marL="0">
              <a:buNone/>
            </a:pP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foreach (var item in items) { }</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for (int i = 0; i &lt; 3; i++) { }</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while (n &lt; 3) { n++; }</a:t>
            </a:r>
            <a:endParaRPr lang="en-US" sz="1500" dirty="0"/>
          </a:p>
        </p:txBody>
      </p:sp>
      <p:sp>
        <p:nvSpPr>
          <p:cNvPr id="5" name="Text 3"/>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 — interpolation with formats (:N2, :F1, :P0)</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A switch expression returns a value and covers all cases</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foreach — the preferred way to iterate a collection</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decimal for money (m suffix), not double</a:t>
            </a:r>
            <a:endParaRPr lang="en-US" sz="16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Methods: expression-bodied, out, tuples, optional</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508760"/>
            <a:ext cx="6858000" cy="4617720"/>
          </a:xfrm>
          <a:prstGeom prst="rect">
            <a:avLst/>
          </a:prstGeom>
          <a:noFill/>
          <a:ln/>
        </p:spPr>
        <p:txBody>
          <a:bodyPr wrap="square" lIns="635" tIns="635" rIns="635" bIns="635" rtlCol="0" anchor="t"/>
          <a:lstStyle/>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static int Add(int x, int y) =&gt; x + y;</a:t>
            </a:r>
            <a:endParaRPr lang="en-US" sz="1400" dirty="0"/>
          </a:p>
          <a:p>
            <a:pPr algn="l" indent="0" marL="0">
              <a:buNone/>
            </a:pP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static string Greet(string who, string greeting = "Hello")</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    =&gt; $"{greeting}, {who}!";</a:t>
            </a:r>
            <a:endParaRPr lang="en-US" sz="1400" dirty="0"/>
          </a:p>
          <a:p>
            <a:pPr algn="l" indent="0" marL="0">
              <a:buNone/>
            </a:pP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static bool TryDivide(double x, double y, out double result)</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    if (y == 0) { result = 0; return false; }</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    result = x / y;</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    return true;</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a:t>
            </a:r>
            <a:endParaRPr lang="en-US" sz="1400" dirty="0"/>
          </a:p>
          <a:p>
            <a:pPr algn="l" indent="0" marL="0">
              <a:buNone/>
            </a:pP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static (int Min, int Max) MinMax(int[] v) =&gt; (v.Min(), v.Max());</a:t>
            </a:r>
            <a:endParaRPr lang="en-US" sz="1400" dirty="0"/>
          </a:p>
          <a:p>
            <a:pPr algn="l" indent="0" marL="0">
              <a:buNone/>
            </a:pP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Greet("Yossi", greeting: "Hi");          // named argument</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if (TryDivide(10, 2, out var q)) { }</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var (min, max) = MinMax([4, 9, 1]);       // deconstruction</a:t>
            </a:r>
            <a:endParaRPr lang="en-US" sz="1400" dirty="0"/>
          </a:p>
        </p:txBody>
      </p:sp>
      <p:sp>
        <p:nvSpPr>
          <p:cNvPr id="5" name="Text 3"/>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=&gt; for a one-line method</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out — an extra return value (the Try... pattern)</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A named tuple instead of a throwaway class</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Local functions in top-level code — static for clarity</a:t>
            </a:r>
            <a:endParaRPr lang="en-US" sz="16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Nullable reference types</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508760"/>
            <a:ext cx="6858000" cy="4617720"/>
          </a:xfrm>
          <a:prstGeom prst="rect">
            <a:avLst/>
          </a:prstGeom>
          <a:noFill/>
          <a:ln/>
        </p:spPr>
        <p:txBody>
          <a:bodyPr wrap="square" lIns="635" tIns="635" rIns="635" bIns="635" rtlCol="0" anchor="t"/>
          <a:lstStyle/>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string? input = Console.ReadLine();     // may be null</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int len = input.Length;                 // ⚠ CS8602 possible null</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int len2 = input?.Length ?? 0;          // ?. then ??</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if (input is not null)</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Console.WriteLine(input.Length);    // here the compiler knows</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string safe = input ?? "";              // default value</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string forced = input!;                 // "trust me" — avoid</a:t>
            </a:r>
            <a:endParaRPr lang="en-US" sz="1300" dirty="0"/>
          </a:p>
        </p:txBody>
      </p:sp>
      <p:sp>
        <p:nvSpPr>
          <p:cNvPr id="5" name="Text 3"/>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string = never null; string? = maybe null</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Nullable warnings are future bugs — fix them, don't silence them</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 and ?? are the everyday tools</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ReadLine returns null at end of input</a:t>
            </a:r>
            <a:endParaRPr lang="en-US" sz="16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340"/>
        </a:solidFill>
      </p:bgPr>
    </p:bg>
    <p:spTree>
      <p:nvGrpSpPr>
        <p:cNvPr id="1" name=""/>
        <p:cNvGrpSpPr/>
        <p:nvPr/>
      </p:nvGrpSpPr>
      <p:grpSpPr>
        <a:xfrm>
          <a:off x="0" y="0"/>
          <a:ext cx="0" cy="0"/>
          <a:chOff x="0" y="0"/>
          <a:chExt cx="0" cy="0"/>
        </a:xfrm>
      </p:grpSpPr>
      <p:sp>
        <p:nvSpPr>
          <p:cNvPr id="2" name="Shape 0"/>
          <p:cNvSpPr/>
          <p:nvPr/>
        </p:nvSpPr>
        <p:spPr>
          <a:xfrm>
            <a:off x="-2926080" y="-2743200"/>
            <a:ext cx="7315200" cy="7315200"/>
          </a:xfrm>
          <a:prstGeom prst="ellipse">
            <a:avLst/>
          </a:prstGeom>
          <a:solidFill>
            <a:srgbClr val="512BD4">
              <a:alpha val="28000"/>
            </a:srgbClr>
          </a:solidFill>
          <a:ln w="12700">
            <a:solidFill>
              <a:srgbClr val="512BD4">
                <a:alpha val="0"/>
              </a:srgbClr>
            </a:solidFill>
            <a:prstDash val="solid"/>
          </a:ln>
        </p:spPr>
      </p:sp>
      <p:sp>
        <p:nvSpPr>
          <p:cNvPr id="3" name="Text 1"/>
          <p:cNvSpPr txBox="1"/>
          <p:nvPr/>
        </p:nvSpPr>
        <p:spPr>
          <a:xfrm>
            <a:off x="7711135" y="1188720"/>
            <a:ext cx="3657600" cy="2743200"/>
          </a:xfrm>
          <a:prstGeom prst="rect">
            <a:avLst/>
          </a:prstGeom>
          <a:noFill/>
          <a:ln/>
        </p:spPr>
        <p:txBody>
          <a:bodyPr wrap="square" lIns="0" tIns="0" rIns="0" bIns="0" rtlCol="0" anchor="ctr"/>
          <a:lstStyle/>
          <a:p>
            <a:pPr algn="r" indent="0" marL="0">
              <a:buNone/>
            </a:pPr>
            <a:r>
              <a:rPr lang="en-US" sz="13000" b="1" dirty="0">
                <a:solidFill>
                  <a:srgbClr val="FFB020"/>
                </a:solidFill>
                <a:latin typeface="Arial" pitchFamily="34" charset="0"/>
                <a:ea typeface="Arial" pitchFamily="34" charset="-122"/>
                <a:cs typeface="Arial" pitchFamily="34" charset="-120"/>
              </a:rPr>
              <a:t>02</a:t>
            </a:r>
            <a:endParaRPr lang="en-US" sz="13000" dirty="0"/>
          </a:p>
        </p:txBody>
      </p:sp>
      <p:sp>
        <p:nvSpPr>
          <p:cNvPr id="4" name="Text 2"/>
          <p:cNvSpPr txBox="1"/>
          <p:nvPr/>
        </p:nvSpPr>
        <p:spPr>
          <a:xfrm>
            <a:off x="548640" y="1828800"/>
            <a:ext cx="7223760" cy="1463040"/>
          </a:xfrm>
          <a:prstGeom prst="rect">
            <a:avLst/>
          </a:prstGeom>
          <a:noFill/>
          <a:ln/>
        </p:spPr>
        <p:txBody>
          <a:bodyPr wrap="square" lIns="0" tIns="0" rIns="0" bIns="0" rtlCol="0" anchor="ctr"/>
          <a:lstStyle/>
          <a:p>
            <a:pPr algn="l" indent="0" marL="0">
              <a:buNone/>
            </a:pPr>
            <a:r>
              <a:rPr lang="en-US" altLang="en-US" sz="4000" b="1" dirty="0">
                <a:solidFill>
                  <a:srgbClr val="FFFFFF"/>
                </a:solidFill>
                <a:latin typeface="Arial" pitchFamily="34" charset="0"/>
                <a:ea typeface="Arial" pitchFamily="34" charset="-122"/>
                <a:cs typeface="Arial" pitchFamily="34" charset="-120"/>
              </a:rPr>
              <a:t>Classes and Objects</a:t>
            </a:r>
            <a:endParaRPr lang="en-US" sz="4000" dirty="0"/>
          </a:p>
        </p:txBody>
      </p:sp>
      <p:sp>
        <p:nvSpPr>
          <p:cNvPr id="5" name="Text 3"/>
          <p:cNvSpPr txBox="1"/>
          <p:nvPr/>
        </p:nvSpPr>
        <p:spPr>
          <a:xfrm>
            <a:off x="548640" y="3383280"/>
            <a:ext cx="7223760" cy="1463040"/>
          </a:xfrm>
          <a:prstGeom prst="rect">
            <a:avLst/>
          </a:prstGeom>
          <a:noFill/>
          <a:ln/>
        </p:spPr>
        <p:txBody>
          <a:bodyPr wrap="square" lIns="0" tIns="0" rIns="0" bIns="0" rtlCol="0" anchor="t"/>
          <a:lstStyle/>
          <a:p>
            <a:pPr algn="l" indent="0" marL="0">
              <a:buNone/>
            </a:pPr>
            <a:r>
              <a:rPr lang="en-US" altLang="en-US" sz="2000" dirty="0">
                <a:solidFill>
                  <a:srgbClr val="CFC7F5"/>
                </a:solidFill>
                <a:latin typeface="Arial" pitchFamily="34" charset="0"/>
                <a:ea typeface="Arial" pitchFamily="34" charset="-122"/>
                <a:cs typeface="Arial" pitchFamily="34" charset="-120"/>
              </a:rPr>
              <a:t>class, new, properties, constructors, static, records</a:t>
            </a:r>
            <a:endParaRPr lang="en-US" sz="20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A79FD6"/>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9FD6"/>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Class, object and new</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417320"/>
            <a:ext cx="6858000" cy="274320"/>
          </a:xfrm>
          <a:prstGeom prst="rect">
            <a:avLst/>
          </a:prstGeom>
          <a:noFill/>
          <a:ln/>
        </p:spPr>
        <p:txBody>
          <a:bodyPr wrap="square" lIns="0" tIns="0" rIns="0" bIns="0" rtlCol="0" anchor="t"/>
          <a:lstStyle/>
          <a:p>
            <a:pPr algn="l" indent="0" marL="0">
              <a:buNone/>
            </a:pPr>
            <a:r>
              <a:rPr lang="en-US" altLang="en-US" sz="1000" dirty="0">
                <a:solidFill>
                  <a:srgbClr val="9A96B8"/>
                </a:solidFill>
                <a:latin typeface="Courier New" pitchFamily="34" charset="0"/>
                <a:ea typeface="Courier New" pitchFamily="34" charset="-122"/>
                <a:cs typeface="Courier New" pitchFamily="34" charset="-120"/>
              </a:rPr>
              <a:t>BankAccount.cs</a:t>
            </a:r>
            <a:endParaRPr lang="en-US" sz="1000" dirty="0"/>
          </a:p>
        </p:txBody>
      </p:sp>
      <p:sp>
        <p:nvSpPr>
          <p:cNvPr id="5" name="Text 3"/>
          <p:cNvSpPr txBox="1"/>
          <p:nvPr/>
        </p:nvSpPr>
        <p:spPr>
          <a:xfrm>
            <a:off x="731520" y="1737360"/>
            <a:ext cx="6858000" cy="4389120"/>
          </a:xfrm>
          <a:prstGeom prst="rect">
            <a:avLst/>
          </a:prstGeom>
          <a:noFill/>
          <a:ln/>
        </p:spPr>
        <p:txBody>
          <a:bodyPr wrap="square" lIns="635" tIns="635" rIns="635" bIns="635" rtlCol="0" anchor="t"/>
          <a:lstStyle/>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class BankAccount</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private decimal _balance;                 // private field — state</a:t>
            </a:r>
            <a:endParaRPr lang="en-US" sz="1200" dirty="0"/>
          </a:p>
          <a:p>
            <a:pPr algn="l" indent="0" marL="0">
              <a:buNone/>
            </a:pP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public string Owner { get; set; } = "";   // property — API</a:t>
            </a:r>
            <a:endParaRPr lang="en-US" sz="1200" dirty="0"/>
          </a:p>
          <a:p>
            <a:pPr algn="l" indent="0" marL="0">
              <a:buNone/>
            </a:pP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public void Deposit(decimal amount)       // method — behavior</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if (amount &lt;= 0)</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throw new ArgumentOutOfRangeException(nameof(amount));</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_balance += amount;</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a:t>
            </a:r>
            <a:endParaRPr lang="en-US" sz="1200" dirty="0"/>
          </a:p>
          <a:p>
            <a:pPr algn="l" indent="0" marL="0">
              <a:buNone/>
            </a:pP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public decimal Balance =&gt; _balance;</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a:t>
            </a:r>
            <a:endParaRPr lang="en-US" sz="1200" dirty="0"/>
          </a:p>
          <a:p>
            <a:pPr algn="l" indent="0" marL="0">
              <a:buNone/>
            </a:pP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var acc = new BankAccount { Owner = "Dana" };</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acc.Deposit(500);</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Console.WriteLine($"{acc.Owner}: {acc.Balance}");</a:t>
            </a:r>
            <a:endParaRPr lang="en-US" sz="1200" dirty="0"/>
          </a:p>
        </p:txBody>
      </p:sp>
      <p:sp>
        <p:nvSpPr>
          <p:cNvPr id="6" name="Text 4"/>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Class = blueprint; object = instance with its own state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Private fields (_camelCase), public API (PascalCase)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State changes only through methods — encapsulation</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Object initializer: new X { Prop = ... }</a:t>
            </a:r>
            <a:endParaRPr lang="en-US" sz="1600" dirty="0"/>
          </a:p>
        </p:txBody>
      </p:sp>
      <p:sp>
        <p:nvSpPr>
          <p:cNvPr id="7" name="Text 5"/>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8" name="Text 6"/>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Kinds of properties</a:t>
            </a:r>
            <a:endParaRPr lang="en-US" sz="3200" dirty="0"/>
          </a:p>
        </p:txBody>
      </p:sp>
      <p:sp>
        <p:nvSpPr>
          <p:cNvPr id="3" name="Shape 1"/>
          <p:cNvSpPr/>
          <p:nvPr/>
        </p:nvSpPr>
        <p:spPr>
          <a:xfrm>
            <a:off x="548640" y="1371600"/>
            <a:ext cx="3484778" cy="2263140"/>
          </a:xfrm>
          <a:prstGeom prst="roundRect">
            <a:avLst>
              <a:gd name="adj" fmla="val 6061"/>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777240" y="1600200"/>
            <a:ext cx="502920" cy="502920"/>
          </a:xfrm>
          <a:prstGeom prst="ellipse">
            <a:avLst/>
          </a:prstGeom>
          <a:solidFill>
            <a:srgbClr val="512BD4"/>
          </a:solidFill>
          <a:ln w="12700">
            <a:solidFill>
              <a:srgbClr val="512BD4"/>
            </a:solidFill>
            <a:prstDash val="solid"/>
          </a:ln>
        </p:spPr>
      </p:sp>
      <p:pic>
        <p:nvPicPr>
          <p:cNvPr id="5" name="Image 0" descr="preencoded.png">    </p:cNvPr>
          <p:cNvPicPr>
            <a:picLocks noChangeAspect="1"/>
          </p:cNvPicPr>
          <p:nvPr/>
        </p:nvPicPr>
        <p:blipFill>
          <a:blip r:embed="rId1"/>
          <a:stretch>
            <a:fillRect/>
          </a:stretch>
        </p:blipFill>
        <p:spPr>
          <a:xfrm>
            <a:off x="902970" y="1725930"/>
            <a:ext cx="251460" cy="251460"/>
          </a:xfrm>
          <a:prstGeom prst="rect">
            <a:avLst/>
          </a:prstGeom>
        </p:spPr>
      </p:pic>
      <p:sp>
        <p:nvSpPr>
          <p:cNvPr id="6" name="Text 3"/>
          <p:cNvSpPr txBox="1"/>
          <p:nvPr/>
        </p:nvSpPr>
        <p:spPr>
          <a:xfrm>
            <a:off x="777240" y="2240280"/>
            <a:ext cx="3027578" cy="457200"/>
          </a:xfrm>
          <a:prstGeom prst="rect">
            <a:avLst/>
          </a:prstGeom>
          <a:noFill/>
          <a:ln/>
        </p:spPr>
        <p:txBody>
          <a:bodyPr wrap="square" lIns="0" tIns="0" rIns="0" bIns="0" rtlCol="0" anchor="ctr">
            <a:normAutofit/>
          </a:bodyPr>
          <a:lstStyle/>
          <a:p>
            <a:pPr algn="l" indent="0" marL="0">
              <a:buNone/>
            </a:pPr>
            <a:r>
              <a:rPr lang="en-US" altLang="en-US" sz="1500" b="1" dirty="0">
                <a:solidFill>
                  <a:srgbClr val="1B1340"/>
                </a:solidFill>
                <a:latin typeface="Arial" pitchFamily="34" charset="0"/>
                <a:ea typeface="Arial" pitchFamily="34" charset="-122"/>
                <a:cs typeface="Arial" pitchFamily="34" charset="-120"/>
              </a:rPr>
              <a:t>auto</a:t>
            </a:r>
            <a:endParaRPr lang="en-US" sz="1500" dirty="0"/>
          </a:p>
        </p:txBody>
      </p:sp>
      <p:sp>
        <p:nvSpPr>
          <p:cNvPr id="7" name="Text 4"/>
          <p:cNvSpPr txBox="1"/>
          <p:nvPr/>
        </p:nvSpPr>
        <p:spPr>
          <a:xfrm>
            <a:off x="777240" y="2743200"/>
            <a:ext cx="3027578" cy="662940"/>
          </a:xfrm>
          <a:prstGeom prst="rect">
            <a:avLst/>
          </a:prstGeom>
          <a:noFill/>
          <a:ln/>
        </p:spPr>
        <p:txBody>
          <a:bodyPr wrap="square" lIns="0" tIns="0" rIns="0" bIns="0" rtlCol="0" anchor="t"/>
          <a:lstStyle/>
          <a:p>
            <a:pPr algn="l" indent="0" marL="0">
              <a:buNone/>
            </a:pPr>
            <a:r>
              <a:rPr lang="en-US" altLang="en-US" sz="1200" dirty="0">
                <a:solidFill>
                  <a:srgbClr val="1F1B2E"/>
                </a:solidFill>
                <a:latin typeface="Arial" pitchFamily="34" charset="0"/>
                <a:ea typeface="Arial" pitchFamily="34" charset="-122"/>
                <a:cs typeface="Arial" pitchFamily="34" charset="-120"/>
              </a:rPr>
              <a:t>public string Name { get; set; } — the compiler creates a hidden field</a:t>
            </a:r>
            <a:endParaRPr lang="en-US" sz="1200" dirty="0"/>
          </a:p>
        </p:txBody>
      </p:sp>
      <p:sp>
        <p:nvSpPr>
          <p:cNvPr id="8" name="Shape 5"/>
          <p:cNvSpPr/>
          <p:nvPr/>
        </p:nvSpPr>
        <p:spPr>
          <a:xfrm>
            <a:off x="4353458" y="1371600"/>
            <a:ext cx="3484778" cy="2263140"/>
          </a:xfrm>
          <a:prstGeom prst="roundRect">
            <a:avLst>
              <a:gd name="adj" fmla="val 6061"/>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9" name="Shape 6"/>
          <p:cNvSpPr/>
          <p:nvPr/>
        </p:nvSpPr>
        <p:spPr>
          <a:xfrm>
            <a:off x="4582058" y="1600200"/>
            <a:ext cx="502920" cy="502920"/>
          </a:xfrm>
          <a:prstGeom prst="ellipse">
            <a:avLst/>
          </a:prstGeom>
          <a:solidFill>
            <a:srgbClr val="512BD4"/>
          </a:solidFill>
          <a:ln w="12700">
            <a:solidFill>
              <a:srgbClr val="512BD4"/>
            </a:solidFill>
            <a:prstDash val="solid"/>
          </a:ln>
        </p:spPr>
      </p:sp>
      <p:pic>
        <p:nvPicPr>
          <p:cNvPr id="10" name="Image 1" descr="preencoded.png">    </p:cNvPr>
          <p:cNvPicPr>
            <a:picLocks noChangeAspect="1"/>
          </p:cNvPicPr>
          <p:nvPr/>
        </p:nvPicPr>
        <p:blipFill>
          <a:blip r:embed="rId2"/>
          <a:stretch>
            <a:fillRect/>
          </a:stretch>
        </p:blipFill>
        <p:spPr>
          <a:xfrm>
            <a:off x="4707788" y="1725930"/>
            <a:ext cx="251460" cy="251460"/>
          </a:xfrm>
          <a:prstGeom prst="rect">
            <a:avLst/>
          </a:prstGeom>
        </p:spPr>
      </p:pic>
      <p:sp>
        <p:nvSpPr>
          <p:cNvPr id="11" name="Text 7"/>
          <p:cNvSpPr txBox="1"/>
          <p:nvPr/>
        </p:nvSpPr>
        <p:spPr>
          <a:xfrm>
            <a:off x="4582058" y="2240280"/>
            <a:ext cx="3027578" cy="457200"/>
          </a:xfrm>
          <a:prstGeom prst="rect">
            <a:avLst/>
          </a:prstGeom>
          <a:noFill/>
          <a:ln/>
        </p:spPr>
        <p:txBody>
          <a:bodyPr wrap="square" lIns="0" tIns="0" rIns="0" bIns="0" rtlCol="0" anchor="ctr">
            <a:normAutofit/>
          </a:bodyPr>
          <a:lstStyle/>
          <a:p>
            <a:pPr algn="l" indent="0" marL="0">
              <a:buNone/>
            </a:pPr>
            <a:r>
              <a:rPr lang="en-US" altLang="en-US" sz="1500" b="1" dirty="0">
                <a:solidFill>
                  <a:srgbClr val="1B1340"/>
                </a:solidFill>
                <a:latin typeface="Arial" pitchFamily="34" charset="0"/>
                <a:ea typeface="Arial" pitchFamily="34" charset="-122"/>
                <a:cs typeface="Arial" pitchFamily="34" charset="-120"/>
              </a:rPr>
              <a:t>private set</a:t>
            </a:r>
            <a:endParaRPr lang="en-US" sz="1500" dirty="0"/>
          </a:p>
        </p:txBody>
      </p:sp>
      <p:sp>
        <p:nvSpPr>
          <p:cNvPr id="12" name="Text 8"/>
          <p:cNvSpPr txBox="1"/>
          <p:nvPr/>
        </p:nvSpPr>
        <p:spPr>
          <a:xfrm>
            <a:off x="4582058" y="2743200"/>
            <a:ext cx="3027578" cy="662940"/>
          </a:xfrm>
          <a:prstGeom prst="rect">
            <a:avLst/>
          </a:prstGeom>
          <a:noFill/>
          <a:ln/>
        </p:spPr>
        <p:txBody>
          <a:bodyPr wrap="square" lIns="0" tIns="0" rIns="0" bIns="0" rtlCol="0" anchor="t"/>
          <a:lstStyle/>
          <a:p>
            <a:pPr algn="l" indent="0" marL="0">
              <a:buNone/>
            </a:pPr>
            <a:r>
              <a:rPr lang="en-US" altLang="en-US" sz="1200" dirty="0">
                <a:solidFill>
                  <a:srgbClr val="1F1B2E"/>
                </a:solidFill>
                <a:latin typeface="Arial" pitchFamily="34" charset="0"/>
                <a:ea typeface="Arial" pitchFamily="34" charset="-122"/>
                <a:cs typeface="Arial" pitchFamily="34" charset="-120"/>
              </a:rPr>
              <a:t>public decimal Balance { get; private set; } — anyone reads, only the class writes</a:t>
            </a:r>
            <a:endParaRPr lang="en-US" sz="1200" dirty="0"/>
          </a:p>
        </p:txBody>
      </p:sp>
      <p:sp>
        <p:nvSpPr>
          <p:cNvPr id="13" name="Shape 9"/>
          <p:cNvSpPr/>
          <p:nvPr/>
        </p:nvSpPr>
        <p:spPr>
          <a:xfrm>
            <a:off x="8158277" y="1371600"/>
            <a:ext cx="3484778" cy="2263140"/>
          </a:xfrm>
          <a:prstGeom prst="roundRect">
            <a:avLst>
              <a:gd name="adj" fmla="val 6061"/>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14" name="Shape 10"/>
          <p:cNvSpPr/>
          <p:nvPr/>
        </p:nvSpPr>
        <p:spPr>
          <a:xfrm>
            <a:off x="8386877" y="1600200"/>
            <a:ext cx="502920" cy="502920"/>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8512607" y="1725930"/>
            <a:ext cx="251460" cy="251460"/>
          </a:xfrm>
          <a:prstGeom prst="rect">
            <a:avLst/>
          </a:prstGeom>
        </p:spPr>
      </p:pic>
      <p:sp>
        <p:nvSpPr>
          <p:cNvPr id="16" name="Text 11"/>
          <p:cNvSpPr txBox="1"/>
          <p:nvPr/>
        </p:nvSpPr>
        <p:spPr>
          <a:xfrm>
            <a:off x="8386877" y="2240280"/>
            <a:ext cx="3027578" cy="457200"/>
          </a:xfrm>
          <a:prstGeom prst="rect">
            <a:avLst/>
          </a:prstGeom>
          <a:noFill/>
          <a:ln/>
        </p:spPr>
        <p:txBody>
          <a:bodyPr wrap="square" lIns="0" tIns="0" rIns="0" bIns="0" rtlCol="0" anchor="ctr">
            <a:normAutofit/>
          </a:bodyPr>
          <a:lstStyle/>
          <a:p>
            <a:pPr algn="l" indent="0" marL="0">
              <a:buNone/>
            </a:pPr>
            <a:r>
              <a:rPr lang="en-US" altLang="en-US" sz="1500" b="1" dirty="0">
                <a:solidFill>
                  <a:srgbClr val="1B1340"/>
                </a:solidFill>
                <a:latin typeface="Arial" pitchFamily="34" charset="0"/>
                <a:ea typeface="Arial" pitchFamily="34" charset="-122"/>
                <a:cs typeface="Arial" pitchFamily="34" charset="-120"/>
              </a:rPr>
              <a:t>init / required</a:t>
            </a:r>
            <a:endParaRPr lang="en-US" sz="1500" dirty="0"/>
          </a:p>
        </p:txBody>
      </p:sp>
      <p:sp>
        <p:nvSpPr>
          <p:cNvPr id="17" name="Text 12"/>
          <p:cNvSpPr txBox="1"/>
          <p:nvPr/>
        </p:nvSpPr>
        <p:spPr>
          <a:xfrm>
            <a:off x="8386877" y="2743200"/>
            <a:ext cx="3027578" cy="662940"/>
          </a:xfrm>
          <a:prstGeom prst="rect">
            <a:avLst/>
          </a:prstGeom>
          <a:noFill/>
          <a:ln/>
        </p:spPr>
        <p:txBody>
          <a:bodyPr wrap="square" lIns="0" tIns="0" rIns="0" bIns="0" rtlCol="0" anchor="t"/>
          <a:lstStyle/>
          <a:p>
            <a:pPr algn="l" indent="0" marL="0">
              <a:buNone/>
            </a:pPr>
            <a:r>
              <a:rPr lang="en-US" altLang="en-US" sz="1200" dirty="0">
                <a:solidFill>
                  <a:srgbClr val="1F1B2E"/>
                </a:solidFill>
                <a:latin typeface="Arial" pitchFamily="34" charset="0"/>
                <a:ea typeface="Arial" pitchFamily="34" charset="-122"/>
                <a:cs typeface="Arial" pitchFamily="34" charset="-120"/>
              </a:rPr>
              <a:t>public required string Sku { get; init; } — mandatory at creation, then read-only</a:t>
            </a:r>
            <a:endParaRPr lang="en-US" sz="1200" dirty="0"/>
          </a:p>
        </p:txBody>
      </p:sp>
      <p:sp>
        <p:nvSpPr>
          <p:cNvPr id="18" name="Shape 13"/>
          <p:cNvSpPr/>
          <p:nvPr/>
        </p:nvSpPr>
        <p:spPr>
          <a:xfrm>
            <a:off x="548640" y="3954780"/>
            <a:ext cx="3484778" cy="2263140"/>
          </a:xfrm>
          <a:prstGeom prst="roundRect">
            <a:avLst>
              <a:gd name="adj" fmla="val 6061"/>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19" name="Shape 14"/>
          <p:cNvSpPr/>
          <p:nvPr/>
        </p:nvSpPr>
        <p:spPr>
          <a:xfrm>
            <a:off x="777240" y="4183380"/>
            <a:ext cx="502920" cy="502920"/>
          </a:xfrm>
          <a:prstGeom prst="ellipse">
            <a:avLst/>
          </a:prstGeom>
          <a:solidFill>
            <a:srgbClr val="512BD4"/>
          </a:solidFill>
          <a:ln w="12700">
            <a:solidFill>
              <a:srgbClr val="512BD4"/>
            </a:solidFill>
            <a:prstDash val="solid"/>
          </a:ln>
        </p:spPr>
      </p:sp>
      <p:pic>
        <p:nvPicPr>
          <p:cNvPr id="20" name="Image 3" descr="preencoded.png">    </p:cNvPr>
          <p:cNvPicPr>
            <a:picLocks noChangeAspect="1"/>
          </p:cNvPicPr>
          <p:nvPr/>
        </p:nvPicPr>
        <p:blipFill>
          <a:blip r:embed="rId4"/>
          <a:stretch>
            <a:fillRect/>
          </a:stretch>
        </p:blipFill>
        <p:spPr>
          <a:xfrm>
            <a:off x="902970" y="4309110"/>
            <a:ext cx="251460" cy="251460"/>
          </a:xfrm>
          <a:prstGeom prst="rect">
            <a:avLst/>
          </a:prstGeom>
        </p:spPr>
      </p:pic>
      <p:sp>
        <p:nvSpPr>
          <p:cNvPr id="21" name="Text 15"/>
          <p:cNvSpPr txBox="1"/>
          <p:nvPr/>
        </p:nvSpPr>
        <p:spPr>
          <a:xfrm>
            <a:off x="777240" y="4823460"/>
            <a:ext cx="3027578" cy="457200"/>
          </a:xfrm>
          <a:prstGeom prst="rect">
            <a:avLst/>
          </a:prstGeom>
          <a:noFill/>
          <a:ln/>
        </p:spPr>
        <p:txBody>
          <a:bodyPr wrap="square" lIns="0" tIns="0" rIns="0" bIns="0" rtlCol="0" anchor="ctr">
            <a:normAutofit/>
          </a:bodyPr>
          <a:lstStyle/>
          <a:p>
            <a:pPr algn="l" indent="0" marL="0">
              <a:buNone/>
            </a:pPr>
            <a:r>
              <a:rPr lang="en-US" altLang="en-US" sz="1500" b="1" dirty="0">
                <a:solidFill>
                  <a:srgbClr val="1B1340"/>
                </a:solidFill>
                <a:latin typeface="Arial" pitchFamily="34" charset="0"/>
                <a:ea typeface="Arial" pitchFamily="34" charset="-122"/>
                <a:cs typeface="Arial" pitchFamily="34" charset="-120"/>
              </a:rPr>
              <a:t>computed</a:t>
            </a:r>
            <a:endParaRPr lang="en-US" sz="1500" dirty="0"/>
          </a:p>
        </p:txBody>
      </p:sp>
      <p:sp>
        <p:nvSpPr>
          <p:cNvPr id="22" name="Text 16"/>
          <p:cNvSpPr txBox="1"/>
          <p:nvPr/>
        </p:nvSpPr>
        <p:spPr>
          <a:xfrm>
            <a:off x="777240" y="5326380"/>
            <a:ext cx="3027578" cy="662940"/>
          </a:xfrm>
          <a:prstGeom prst="rect">
            <a:avLst/>
          </a:prstGeom>
          <a:noFill/>
          <a:ln/>
        </p:spPr>
        <p:txBody>
          <a:bodyPr wrap="square" lIns="0" tIns="0" rIns="0" bIns="0" rtlCol="0" anchor="t"/>
          <a:lstStyle/>
          <a:p>
            <a:pPr algn="l" indent="0" marL="0">
              <a:buNone/>
            </a:pPr>
            <a:r>
              <a:rPr lang="en-US" altLang="en-US" sz="1200" dirty="0">
                <a:solidFill>
                  <a:srgbClr val="1F1B2E"/>
                </a:solidFill>
                <a:latin typeface="Arial" pitchFamily="34" charset="0"/>
                <a:ea typeface="Arial" pitchFamily="34" charset="-122"/>
                <a:cs typeface="Arial" pitchFamily="34" charset="-120"/>
              </a:rPr>
              <a:t>public decimal PriceWithVat =&gt; Price * 1.18m; — computed on every read, no field</a:t>
            </a:r>
            <a:endParaRPr lang="en-US" sz="1200" dirty="0"/>
          </a:p>
        </p:txBody>
      </p:sp>
      <p:sp>
        <p:nvSpPr>
          <p:cNvPr id="23" name="Shape 17"/>
          <p:cNvSpPr/>
          <p:nvPr/>
        </p:nvSpPr>
        <p:spPr>
          <a:xfrm>
            <a:off x="4353458" y="3954780"/>
            <a:ext cx="3484778" cy="2263140"/>
          </a:xfrm>
          <a:prstGeom prst="roundRect">
            <a:avLst>
              <a:gd name="adj" fmla="val 6061"/>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24" name="Shape 18"/>
          <p:cNvSpPr/>
          <p:nvPr/>
        </p:nvSpPr>
        <p:spPr>
          <a:xfrm>
            <a:off x="4582058" y="4183380"/>
            <a:ext cx="502920" cy="502920"/>
          </a:xfrm>
          <a:prstGeom prst="ellipse">
            <a:avLst/>
          </a:prstGeom>
          <a:solidFill>
            <a:srgbClr val="512BD4"/>
          </a:solidFill>
          <a:ln w="12700">
            <a:solidFill>
              <a:srgbClr val="512BD4"/>
            </a:solidFill>
            <a:prstDash val="solid"/>
          </a:ln>
        </p:spPr>
      </p:sp>
      <p:pic>
        <p:nvPicPr>
          <p:cNvPr id="25" name="Image 4" descr="preencoded.png">    </p:cNvPr>
          <p:cNvPicPr>
            <a:picLocks noChangeAspect="1"/>
          </p:cNvPicPr>
          <p:nvPr/>
        </p:nvPicPr>
        <p:blipFill>
          <a:blip r:embed="rId5"/>
          <a:stretch>
            <a:fillRect/>
          </a:stretch>
        </p:blipFill>
        <p:spPr>
          <a:xfrm>
            <a:off x="4707788" y="4309110"/>
            <a:ext cx="251460" cy="251460"/>
          </a:xfrm>
          <a:prstGeom prst="rect">
            <a:avLst/>
          </a:prstGeom>
        </p:spPr>
      </p:pic>
      <p:sp>
        <p:nvSpPr>
          <p:cNvPr id="26" name="Text 19"/>
          <p:cNvSpPr txBox="1"/>
          <p:nvPr/>
        </p:nvSpPr>
        <p:spPr>
          <a:xfrm>
            <a:off x="4582058" y="4823460"/>
            <a:ext cx="3027578" cy="457200"/>
          </a:xfrm>
          <a:prstGeom prst="rect">
            <a:avLst/>
          </a:prstGeom>
          <a:noFill/>
          <a:ln/>
        </p:spPr>
        <p:txBody>
          <a:bodyPr wrap="square" lIns="0" tIns="0" rIns="0" bIns="0" rtlCol="0" anchor="ctr">
            <a:normAutofit/>
          </a:bodyPr>
          <a:lstStyle/>
          <a:p>
            <a:pPr algn="l" indent="0" marL="0">
              <a:buNone/>
            </a:pPr>
            <a:r>
              <a:rPr lang="en-US" altLang="en-US" sz="1500" b="1" dirty="0">
                <a:solidFill>
                  <a:srgbClr val="1B1340"/>
                </a:solidFill>
                <a:latin typeface="Arial" pitchFamily="34" charset="0"/>
                <a:ea typeface="Arial" pitchFamily="34" charset="-122"/>
                <a:cs typeface="Arial" pitchFamily="34" charset="-120"/>
              </a:rPr>
              <a:t>with validation</a:t>
            </a:r>
            <a:endParaRPr lang="en-US" sz="1500" dirty="0"/>
          </a:p>
        </p:txBody>
      </p:sp>
      <p:sp>
        <p:nvSpPr>
          <p:cNvPr id="27" name="Text 20"/>
          <p:cNvSpPr txBox="1"/>
          <p:nvPr/>
        </p:nvSpPr>
        <p:spPr>
          <a:xfrm>
            <a:off x="4582058" y="5326380"/>
            <a:ext cx="3027578" cy="662940"/>
          </a:xfrm>
          <a:prstGeom prst="rect">
            <a:avLst/>
          </a:prstGeom>
          <a:noFill/>
          <a:ln/>
        </p:spPr>
        <p:txBody>
          <a:bodyPr wrap="square" lIns="0" tIns="0" rIns="0" bIns="0" rtlCol="0" anchor="t"/>
          <a:lstStyle/>
          <a:p>
            <a:pPr algn="l" indent="0" marL="0">
              <a:buNone/>
            </a:pPr>
            <a:r>
              <a:rPr lang="en-US" altLang="en-US" sz="1200" dirty="0">
                <a:solidFill>
                  <a:srgbClr val="1F1B2E"/>
                </a:solidFill>
                <a:latin typeface="Arial" pitchFamily="34" charset="0"/>
                <a:ea typeface="Arial" pitchFamily="34" charset="-122"/>
                <a:cs typeface="Arial" pitchFamily="34" charset="-120"/>
              </a:rPr>
              <a:t>set =&gt; _stock = value &gt;= 0 ? value : throw new ArgumentOutOfRangeException()</a:t>
            </a:r>
            <a:endParaRPr lang="en-US" sz="1200" dirty="0"/>
          </a:p>
        </p:txBody>
      </p:sp>
      <p:sp>
        <p:nvSpPr>
          <p:cNvPr id="28" name="Shape 21"/>
          <p:cNvSpPr/>
          <p:nvPr/>
        </p:nvSpPr>
        <p:spPr>
          <a:xfrm>
            <a:off x="8158277" y="3954780"/>
            <a:ext cx="3484778" cy="2263140"/>
          </a:xfrm>
          <a:prstGeom prst="roundRect">
            <a:avLst>
              <a:gd name="adj" fmla="val 6061"/>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29" name="Shape 22"/>
          <p:cNvSpPr/>
          <p:nvPr/>
        </p:nvSpPr>
        <p:spPr>
          <a:xfrm>
            <a:off x="8386877" y="4183380"/>
            <a:ext cx="502920" cy="502920"/>
          </a:xfrm>
          <a:prstGeom prst="ellipse">
            <a:avLst/>
          </a:prstGeom>
          <a:solidFill>
            <a:srgbClr val="512BD4"/>
          </a:solidFill>
          <a:ln w="12700">
            <a:solidFill>
              <a:srgbClr val="512BD4"/>
            </a:solidFill>
            <a:prstDash val="solid"/>
          </a:ln>
        </p:spPr>
      </p:sp>
      <p:pic>
        <p:nvPicPr>
          <p:cNvPr id="30" name="Image 5" descr="preencoded.png">    </p:cNvPr>
          <p:cNvPicPr>
            <a:picLocks noChangeAspect="1"/>
          </p:cNvPicPr>
          <p:nvPr/>
        </p:nvPicPr>
        <p:blipFill>
          <a:blip r:embed="rId6"/>
          <a:stretch>
            <a:fillRect/>
          </a:stretch>
        </p:blipFill>
        <p:spPr>
          <a:xfrm>
            <a:off x="8512607" y="4309110"/>
            <a:ext cx="251460" cy="251460"/>
          </a:xfrm>
          <a:prstGeom prst="rect">
            <a:avLst/>
          </a:prstGeom>
        </p:spPr>
      </p:pic>
      <p:sp>
        <p:nvSpPr>
          <p:cNvPr id="31" name="Text 23"/>
          <p:cNvSpPr txBox="1"/>
          <p:nvPr/>
        </p:nvSpPr>
        <p:spPr>
          <a:xfrm>
            <a:off x="8386877" y="4823460"/>
            <a:ext cx="3027578" cy="457200"/>
          </a:xfrm>
          <a:prstGeom prst="rect">
            <a:avLst/>
          </a:prstGeom>
          <a:noFill/>
          <a:ln/>
        </p:spPr>
        <p:txBody>
          <a:bodyPr wrap="square" lIns="0" tIns="0" rIns="0" bIns="0" rtlCol="0" anchor="ctr">
            <a:normAutofit/>
          </a:bodyPr>
          <a:lstStyle/>
          <a:p>
            <a:pPr algn="l" indent="0" marL="0">
              <a:buNone/>
            </a:pPr>
            <a:r>
              <a:rPr lang="en-US" altLang="en-US" sz="1500" b="1" dirty="0">
                <a:solidFill>
                  <a:srgbClr val="1B1340"/>
                </a:solidFill>
                <a:latin typeface="Arial" pitchFamily="34" charset="0"/>
                <a:ea typeface="Arial" pitchFamily="34" charset="-122"/>
                <a:cs typeface="Arial" pitchFamily="34" charset="-120"/>
              </a:rPr>
              <a:t>read-only</a:t>
            </a:r>
            <a:endParaRPr lang="en-US" sz="1500" dirty="0"/>
          </a:p>
        </p:txBody>
      </p:sp>
      <p:sp>
        <p:nvSpPr>
          <p:cNvPr id="32" name="Text 24"/>
          <p:cNvSpPr txBox="1"/>
          <p:nvPr/>
        </p:nvSpPr>
        <p:spPr>
          <a:xfrm>
            <a:off x="8386877" y="5326380"/>
            <a:ext cx="3027578" cy="662940"/>
          </a:xfrm>
          <a:prstGeom prst="rect">
            <a:avLst/>
          </a:prstGeom>
          <a:noFill/>
          <a:ln/>
        </p:spPr>
        <p:txBody>
          <a:bodyPr wrap="square" lIns="0" tIns="0" rIns="0" bIns="0" rtlCol="0" anchor="t"/>
          <a:lstStyle/>
          <a:p>
            <a:pPr algn="l" indent="0" marL="0">
              <a:buNone/>
            </a:pPr>
            <a:r>
              <a:rPr lang="en-US" altLang="en-US" sz="1200" dirty="0">
                <a:solidFill>
                  <a:srgbClr val="1F1B2E"/>
                </a:solidFill>
                <a:latin typeface="Arial" pitchFamily="34" charset="0"/>
                <a:ea typeface="Arial" pitchFamily="34" charset="-122"/>
                <a:cs typeface="Arial" pitchFamily="34" charset="-120"/>
              </a:rPr>
              <a:t>public string Id { get; } — set only in the constructor</a:t>
            </a:r>
            <a:endParaRPr lang="en-US" sz="1200" dirty="0"/>
          </a:p>
        </p:txBody>
      </p:sp>
      <p:sp>
        <p:nvSpPr>
          <p:cNvPr id="33" name="Text 25"/>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34" name="Text 26"/>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Constructors: overloads, this(...), primary ctor</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508760"/>
            <a:ext cx="6858000" cy="4617720"/>
          </a:xfrm>
          <a:prstGeom prst="rect">
            <a:avLst/>
          </a:prstGeom>
          <a:noFill/>
          <a:ln/>
        </p:spPr>
        <p:txBody>
          <a:bodyPr wrap="square" lIns="635" tIns="635" rIns="635" bIns="635" rtlCol="0" anchor="t"/>
          <a:lstStyle/>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class BankAccount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string Id { get; }</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string Owner { get; set; }</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BankAccount(string id, string owner)</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ArgumentException.ThrowIfNullOrWhiteSpace(id);</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Id = id;</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Owner = owner;</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BankAccount(string id, string owner, decimal initial)</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 this(id, owner) =&gt; Deposit(initial);     // chaining</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C# 12 — primary constructor</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class Sensor(string location, double initial)</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private readonly List&lt;double&gt; _readings = [initial];</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string Location =&gt; location;</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p:txBody>
      </p:sp>
      <p:sp>
        <p:nvSpPr>
          <p:cNvPr id="5" name="Text 3"/>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The constructor brings the object into a valid state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Validate once — at the entrance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 this(...) avoids duplication between constructors</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Primary constructor: parameters available in the whole class</a:t>
            </a:r>
            <a:endParaRPr lang="en-US" sz="16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record vs. class</a:t>
            </a:r>
            <a:endParaRPr lang="en-US" sz="3200" dirty="0"/>
          </a:p>
        </p:txBody>
      </p:sp>
      <p:sp>
        <p:nvSpPr>
          <p:cNvPr id="3" name="Shape 1"/>
          <p:cNvSpPr/>
          <p:nvPr/>
        </p:nvSpPr>
        <p:spPr>
          <a:xfrm>
            <a:off x="548640" y="1371600"/>
            <a:ext cx="5318608" cy="4846320"/>
          </a:xfrm>
          <a:prstGeom prst="roundRect">
            <a:avLst>
              <a:gd name="adj" fmla="val 2830"/>
            </a:avLst>
          </a:prstGeom>
          <a:solidFill>
            <a:srgbClr val="F3F0FF"/>
          </a:solidFill>
          <a:ln w="12700">
            <a:solidFill>
              <a:srgbClr val="F3F0FF"/>
            </a:solidFill>
            <a:prstDash val="solid"/>
          </a:ln>
        </p:spPr>
      </p:sp>
      <p:sp>
        <p:nvSpPr>
          <p:cNvPr id="4" name="Text 2"/>
          <p:cNvSpPr txBox="1"/>
          <p:nvPr/>
        </p:nvSpPr>
        <p:spPr>
          <a:xfrm>
            <a:off x="777240" y="1508760"/>
            <a:ext cx="4861408" cy="548640"/>
          </a:xfrm>
          <a:prstGeom prst="rect">
            <a:avLst/>
          </a:prstGeom>
          <a:noFill/>
          <a:ln/>
        </p:spPr>
        <p:txBody>
          <a:bodyPr wrap="square" lIns="0" tIns="0" rIns="0" bIns="0" rtlCol="0" anchor="t"/>
          <a:lstStyle/>
          <a:p>
            <a:pPr algn="l" indent="0" marL="0">
              <a:buNone/>
            </a:pPr>
            <a:r>
              <a:rPr lang="en-US" altLang="en-US" sz="2000" b="1" dirty="0">
                <a:solidFill>
                  <a:srgbClr val="512BD4"/>
                </a:solidFill>
                <a:latin typeface="Arial" pitchFamily="34" charset="0"/>
                <a:ea typeface="Arial" pitchFamily="34" charset="-122"/>
                <a:cs typeface="Arial" pitchFamily="34" charset="-120"/>
              </a:rPr>
              <a:t>class — an entity with identity</a:t>
            </a:r>
            <a:endParaRPr lang="en-US" sz="2000" dirty="0"/>
          </a:p>
        </p:txBody>
      </p:sp>
      <p:sp>
        <p:nvSpPr>
          <p:cNvPr id="5" name="Text 3"/>
          <p:cNvSpPr txBox="1"/>
          <p:nvPr/>
        </p:nvSpPr>
        <p:spPr>
          <a:xfrm>
            <a:off x="777240" y="2103120"/>
            <a:ext cx="4861408" cy="3931920"/>
          </a:xfrm>
          <a:prstGeom prst="rect">
            <a:avLst/>
          </a:prstGeom>
          <a:noFill/>
          <a:ln/>
        </p:spPr>
        <p:txBody>
          <a:bodyPr wrap="square" lIns="0" tIns="0" rIns="0" bIns="0" rtlCol="0" anchor="t"/>
          <a:lstStyle/>
          <a:p>
            <a:pPr algn="l" marL="342900" indent="-342900">
              <a:spcAft>
                <a:spcPts val="800"/>
              </a:spcAft>
              <a:buSzPct val="100000"/>
              <a:buChar char="•"/>
            </a:pPr>
            <a:r>
              <a:rPr lang="en-US" altLang="en-US" sz="1700" dirty="0">
                <a:solidFill>
                  <a:srgbClr val="1F1B2E"/>
                </a:solidFill>
                <a:latin typeface="Arial" pitchFamily="34" charset="0"/>
                <a:ea typeface="Arial" pitchFamily="34" charset="-122"/>
                <a:cs typeface="Arial" pitchFamily="34" charset="-120"/>
              </a:rPr>
              <a:t>Equality by reference</a:t>
            </a:r>
            <a:endParaRPr lang="en-US" sz="1700" dirty="0"/>
          </a:p>
          <a:p>
            <a:pPr algn="l" marL="342900" indent="-342900">
              <a:spcAft>
                <a:spcPts val="800"/>
              </a:spcAft>
              <a:buSzPct val="100000"/>
              <a:buChar char="•"/>
            </a:pPr>
            <a:r>
              <a:rPr lang="en-US" altLang="en-US" sz="1700" dirty="0">
                <a:solidFill>
                  <a:srgbClr val="1F1B2E"/>
                </a:solidFill>
                <a:latin typeface="Arial" pitchFamily="34" charset="0"/>
                <a:ea typeface="Arial" pitchFamily="34" charset="-122"/>
                <a:cs typeface="Arial" pitchFamily="34" charset="-120"/>
              </a:rPr>
              <a:t>State that changes over time</a:t>
            </a:r>
            <a:endParaRPr lang="en-US" sz="1700" dirty="0"/>
          </a:p>
          <a:p>
            <a:pPr algn="l" marL="342900" indent="-342900">
              <a:spcAft>
                <a:spcPts val="800"/>
              </a:spcAft>
              <a:buSzPct val="100000"/>
              <a:buChar char="•"/>
            </a:pPr>
            <a:r>
              <a:rPr lang="en-US" altLang="en-US" sz="1700" dirty="0">
                <a:solidFill>
                  <a:srgbClr val="1F1B2E"/>
                </a:solidFill>
                <a:latin typeface="Arial" pitchFamily="34" charset="0"/>
                <a:ea typeface="Arial" pitchFamily="34" charset="-122"/>
                <a:cs typeface="Arial" pitchFamily="34" charset="-120"/>
              </a:rPr>
              <a:t>BankAccount, Order, Library</a:t>
            </a:r>
            <a:endParaRPr lang="en-US" sz="1700" dirty="0"/>
          </a:p>
          <a:p>
            <a:pPr algn="l" marL="342900" indent="-342900">
              <a:spcAft>
                <a:spcPts val="800"/>
              </a:spcAft>
              <a:buSzPct val="100000"/>
              <a:buChar char="•"/>
            </a:pPr>
            <a:r>
              <a:rPr lang="en-US" altLang="en-US" sz="1700" dirty="0">
                <a:solidFill>
                  <a:srgbClr val="1F1B2E"/>
                </a:solidFill>
                <a:latin typeface="Arial" pitchFamily="34" charset="0"/>
                <a:ea typeface="Arial" pitchFamily="34" charset="-122"/>
                <a:cs typeface="Arial" pitchFamily="34" charset="-120"/>
              </a:rPr>
              <a:t>ToString = type name (unless overridden)</a:t>
            </a:r>
            <a:endParaRPr lang="en-US" sz="1700" dirty="0"/>
          </a:p>
        </p:txBody>
      </p:sp>
      <p:sp>
        <p:nvSpPr>
          <p:cNvPr id="6" name="Shape 4"/>
          <p:cNvSpPr/>
          <p:nvPr/>
        </p:nvSpPr>
        <p:spPr>
          <a:xfrm>
            <a:off x="6324448" y="1371600"/>
            <a:ext cx="5318608" cy="4846320"/>
          </a:xfrm>
          <a:prstGeom prst="roundRect">
            <a:avLst>
              <a:gd name="adj" fmla="val 2830"/>
            </a:avLst>
          </a:prstGeom>
          <a:solidFill>
            <a:srgbClr val="F3F0FF"/>
          </a:solidFill>
          <a:ln w="12700">
            <a:solidFill>
              <a:srgbClr val="F3F0FF"/>
            </a:solidFill>
            <a:prstDash val="solid"/>
          </a:ln>
        </p:spPr>
      </p:sp>
      <p:sp>
        <p:nvSpPr>
          <p:cNvPr id="7" name="Text 5"/>
          <p:cNvSpPr txBox="1"/>
          <p:nvPr/>
        </p:nvSpPr>
        <p:spPr>
          <a:xfrm>
            <a:off x="6553048" y="1508760"/>
            <a:ext cx="4861408" cy="548640"/>
          </a:xfrm>
          <a:prstGeom prst="rect">
            <a:avLst/>
          </a:prstGeom>
          <a:noFill/>
          <a:ln/>
        </p:spPr>
        <p:txBody>
          <a:bodyPr wrap="square" lIns="0" tIns="0" rIns="0" bIns="0" rtlCol="0" anchor="t"/>
          <a:lstStyle/>
          <a:p>
            <a:pPr algn="l" indent="0" marL="0">
              <a:buNone/>
            </a:pPr>
            <a:r>
              <a:rPr lang="en-US" altLang="en-US" sz="2000" b="1" dirty="0">
                <a:solidFill>
                  <a:srgbClr val="512BD4"/>
                </a:solidFill>
                <a:latin typeface="Arial" pitchFamily="34" charset="0"/>
                <a:ea typeface="Arial" pitchFamily="34" charset="-122"/>
                <a:cs typeface="Arial" pitchFamily="34" charset="-120"/>
              </a:rPr>
              <a:t>record — data</a:t>
            </a:r>
            <a:endParaRPr lang="en-US" sz="2000" dirty="0"/>
          </a:p>
        </p:txBody>
      </p:sp>
      <p:sp>
        <p:nvSpPr>
          <p:cNvPr id="8" name="Shape 6"/>
          <p:cNvSpPr/>
          <p:nvPr/>
        </p:nvSpPr>
        <p:spPr>
          <a:xfrm>
            <a:off x="6507328" y="2103120"/>
            <a:ext cx="4952848" cy="3931920"/>
          </a:xfrm>
          <a:prstGeom prst="roundRect">
            <a:avLst>
              <a:gd name="adj" fmla="val 2326"/>
            </a:avLst>
          </a:prstGeom>
          <a:solidFill>
            <a:srgbClr val="1E1E2E"/>
          </a:solidFill>
          <a:ln w="12700">
            <a:solidFill>
              <a:srgbClr val="1E1E2E"/>
            </a:solidFill>
            <a:prstDash val="solid"/>
          </a:ln>
        </p:spPr>
      </p:sp>
      <p:sp>
        <p:nvSpPr>
          <p:cNvPr id="9" name="Text 7"/>
          <p:cNvSpPr txBox="1"/>
          <p:nvPr/>
        </p:nvSpPr>
        <p:spPr>
          <a:xfrm>
            <a:off x="6598768" y="2194560"/>
            <a:ext cx="4769968" cy="3749040"/>
          </a:xfrm>
          <a:prstGeom prst="rect">
            <a:avLst/>
          </a:prstGeom>
          <a:noFill/>
          <a:ln/>
        </p:spPr>
        <p:txBody>
          <a:bodyPr wrap="square" lIns="635" tIns="635" rIns="635" bIns="635" rtlCol="0" anchor="t"/>
          <a:lstStyle/>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record Person(string Name, int Age);</a:t>
            </a:r>
            <a:endParaRPr lang="en-US" sz="1500" dirty="0"/>
          </a:p>
          <a:p>
            <a:pPr algn="l" indent="0" marL="0">
              <a:buNone/>
            </a:pP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var p1 = new Person("Dana", 30);</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var p2 = new Person("Dana", 30);</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p1 == p2;            // True (by value)</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Console.WriteLine(p1);</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 Person { Name = Dana, Age = 30 }</a:t>
            </a:r>
            <a:endParaRPr lang="en-US" sz="1500" dirty="0"/>
          </a:p>
          <a:p>
            <a:pPr algn="l" indent="0" marL="0">
              <a:buNone/>
            </a:pP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var older = p1 with { Age = 31 };</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var (name, age) = older;</a:t>
            </a:r>
            <a:endParaRPr lang="en-US" sz="1500" dirty="0"/>
          </a:p>
        </p:txBody>
      </p:sp>
      <p:sp>
        <p:nvSpPr>
          <p:cNvPr id="10" name="Text 8"/>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11" name="Text 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static: belongs to the class, not the object</a:t>
            </a:r>
            <a:endParaRPr lang="en-US" sz="3200" dirty="0"/>
          </a:p>
        </p:txBody>
      </p:sp>
      <p:sp>
        <p:nvSpPr>
          <p:cNvPr id="3" name="Text 1"/>
          <p:cNvSpPr txBox="1"/>
          <p:nvPr/>
        </p:nvSpPr>
        <p:spPr>
          <a:xfrm>
            <a:off x="548640" y="1371600"/>
            <a:ext cx="8168335" cy="4754880"/>
          </a:xfrm>
          <a:prstGeom prst="rect">
            <a:avLst/>
          </a:prstGeom>
          <a:noFill/>
          <a:ln/>
        </p:spPr>
        <p:txBody>
          <a:bodyPr wrap="square" lIns="1270" tIns="1270" rIns="1270" bIns="1270" rtlCol="0" anchor="t"/>
          <a:lstStyle/>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const decimal MinDeposit = 10m; — a compile-time constant</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static int Count { get; private set; } — shared by all instances</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static BankAccount OpenSavings(string owner) — factory method</a:t>
            </a:r>
            <a:endParaRPr lang="en-US" sz="1800" dirty="0"/>
          </a:p>
          <a:p>
            <a:pPr algn="l" lvl="1" marL="508000" indent="-254000">
              <a:spcAft>
                <a:spcPts val="400"/>
              </a:spcAft>
              <a:buSzPct val="100000"/>
              <a:buChar char="•"/>
            </a:pPr>
            <a:r>
              <a:rPr lang="en-US" altLang="en-US" sz="1500" dirty="0">
                <a:solidFill>
                  <a:srgbClr val="6B6480"/>
                </a:solidFill>
                <a:latin typeface="Arial" pitchFamily="34" charset="0"/>
                <a:ea typeface="Arial" pitchFamily="34" charset="-122"/>
                <a:cs typeface="Arial" pitchFamily="34" charset="-120"/>
              </a:rPr>
              <a:t>A meaningful name instead of constructor #4</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static class MathUtils — a toolbox, cannot be instantiated</a:t>
            </a:r>
            <a:endParaRPr lang="en-US" sz="1800" dirty="0"/>
          </a:p>
          <a:p>
            <a:pPr algn="l" lvl="1" marL="508000" indent="-254000">
              <a:spcAft>
                <a:spcPts val="400"/>
              </a:spcAft>
              <a:buSzPct val="100000"/>
              <a:buChar char="•"/>
            </a:pPr>
            <a:r>
              <a:rPr lang="en-US" altLang="en-US" sz="1500" dirty="0">
                <a:solidFill>
                  <a:srgbClr val="6B6480"/>
                </a:solidFill>
                <a:latin typeface="Arial" pitchFamily="34" charset="0"/>
                <a:ea typeface="Arial" pitchFamily="34" charset="-122"/>
                <a:cs typeface="Arial" pitchFamily="34" charset="-120"/>
              </a:rPr>
              <a:t>Math, Console and File are like this</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A static method cannot access this</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this — the reference to the current object; usually not needed</a:t>
            </a:r>
            <a:endParaRPr lang="en-US" sz="1800" dirty="0"/>
          </a:p>
        </p:txBody>
      </p:sp>
      <p:sp>
        <p:nvSpPr>
          <p:cNvPr id="4" name="Shape 2"/>
          <p:cNvSpPr/>
          <p:nvPr/>
        </p:nvSpPr>
        <p:spPr>
          <a:xfrm>
            <a:off x="9357055" y="2377440"/>
            <a:ext cx="1828800" cy="1828800"/>
          </a:xfrm>
          <a:prstGeom prst="ellipse">
            <a:avLst/>
          </a:prstGeom>
          <a:solidFill>
            <a:srgbClr val="F3F0FF"/>
          </a:solidFill>
          <a:ln w="12700">
            <a:solidFill>
              <a:srgbClr val="F3F0FF"/>
            </a:solidFill>
            <a:prstDash val="solid"/>
          </a:ln>
        </p:spPr>
      </p:sp>
      <p:pic>
        <p:nvPicPr>
          <p:cNvPr id="5" name="Image 0" descr="preencoded.png">    </p:cNvPr>
          <p:cNvPicPr>
            <a:picLocks noChangeAspect="1"/>
          </p:cNvPicPr>
          <p:nvPr/>
        </p:nvPicPr>
        <p:blipFill>
          <a:blip r:embed="rId1"/>
          <a:stretch>
            <a:fillRect/>
          </a:stretch>
        </p:blipFill>
        <p:spPr>
          <a:xfrm>
            <a:off x="9814255" y="2834640"/>
            <a:ext cx="914400" cy="914400"/>
          </a:xfrm>
          <a:prstGeom prst="rect">
            <a:avLst/>
          </a:prstGeom>
        </p:spPr>
      </p:pic>
      <p:sp>
        <p:nvSpPr>
          <p:cNvPr id="6" name="Text 3"/>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0FF"/>
        </a:solidFill>
      </p:bgPr>
    </p:bg>
    <p:spTree>
      <p:nvGrpSpPr>
        <p:cNvPr id="1" name=""/>
        <p:cNvGrpSpPr/>
        <p:nvPr/>
      </p:nvGrpSpPr>
      <p:grpSpPr>
        <a:xfrm>
          <a:off x="0" y="0"/>
          <a:ext cx="0" cy="0"/>
          <a:chOff x="0" y="0"/>
          <a:chExt cx="0" cy="0"/>
        </a:xfrm>
      </p:grpSpPr>
      <p:sp>
        <p:nvSpPr>
          <p:cNvPr id="2" name="Shape 0"/>
          <p:cNvSpPr/>
          <p:nvPr/>
        </p:nvSpPr>
        <p:spPr>
          <a:xfrm>
            <a:off x="548640" y="411480"/>
            <a:ext cx="822960" cy="822960"/>
          </a:xfrm>
          <a:prstGeom prst="ellipse">
            <a:avLst/>
          </a:prstGeom>
          <a:solidFill>
            <a:srgbClr val="FFB020"/>
          </a:solidFill>
          <a:ln w="12700">
            <a:solidFill>
              <a:srgbClr val="FFB020"/>
            </a:solidFill>
            <a:prstDash val="solid"/>
          </a:ln>
        </p:spPr>
      </p:sp>
      <p:pic>
        <p:nvPicPr>
          <p:cNvPr id="3" name="Image 0" descr="preencoded.png">    </p:cNvPr>
          <p:cNvPicPr>
            <a:picLocks noChangeAspect="1"/>
          </p:cNvPicPr>
          <p:nvPr/>
        </p:nvPicPr>
        <p:blipFill>
          <a:blip r:embed="rId1"/>
          <a:stretch>
            <a:fillRect/>
          </a:stretch>
        </p:blipFill>
        <p:spPr>
          <a:xfrm>
            <a:off x="754380" y="617220"/>
            <a:ext cx="411480" cy="411480"/>
          </a:xfrm>
          <a:prstGeom prst="rect">
            <a:avLst/>
          </a:prstGeom>
        </p:spPr>
      </p:pic>
      <p:sp>
        <p:nvSpPr>
          <p:cNvPr id="4" name="Text 1"/>
          <p:cNvSpPr txBox="1"/>
          <p:nvPr/>
        </p:nvSpPr>
        <p:spPr>
          <a:xfrm>
            <a:off x="1554480" y="365760"/>
            <a:ext cx="1008857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Lab 1 — Library System</a:t>
            </a:r>
            <a:endParaRPr lang="en-US" sz="3200" dirty="0"/>
          </a:p>
        </p:txBody>
      </p:sp>
      <p:sp>
        <p:nvSpPr>
          <p:cNvPr id="5" name="Shape 2"/>
          <p:cNvSpPr/>
          <p:nvPr/>
        </p:nvSpPr>
        <p:spPr>
          <a:xfrm>
            <a:off x="548640" y="1371600"/>
            <a:ext cx="6949440" cy="4846320"/>
          </a:xfrm>
          <a:prstGeom prst="roundRect">
            <a:avLst>
              <a:gd name="adj" fmla="val 2830"/>
            </a:avLst>
          </a:prstGeom>
          <a:solidFill>
            <a:srgbClr val="FFFFFF"/>
          </a:solidFill>
          <a:ln w="12700">
            <a:solidFill>
              <a:srgbClr val="FFFFFF"/>
            </a:solidFill>
            <a:prstDash val="solid"/>
          </a:ln>
        </p:spPr>
      </p:sp>
      <p:sp>
        <p:nvSpPr>
          <p:cNvPr id="6" name="Text 3"/>
          <p:cNvSpPr txBox="1"/>
          <p:nvPr/>
        </p:nvSpPr>
        <p:spPr>
          <a:xfrm>
            <a:off x="777240" y="1508760"/>
            <a:ext cx="6492240" cy="457200"/>
          </a:xfrm>
          <a:prstGeom prst="rect">
            <a:avLst/>
          </a:prstGeom>
          <a:noFill/>
          <a:ln/>
        </p:spPr>
        <p:txBody>
          <a:bodyPr wrap="square" lIns="0" tIns="0" rIns="0" bIns="0" rtlCol="0" anchor="t"/>
          <a:lstStyle/>
          <a:p>
            <a:pPr algn="l" indent="0" marL="0">
              <a:buNone/>
            </a:pPr>
            <a:r>
              <a:rPr lang="en-US" altLang="en-US" sz="1800" b="1" dirty="0">
                <a:solidFill>
                  <a:srgbClr val="512BD4"/>
                </a:solidFill>
                <a:latin typeface="Arial" pitchFamily="34" charset="0"/>
                <a:ea typeface="Arial" pitchFamily="34" charset="-122"/>
                <a:cs typeface="Arial" pitchFamily="34" charset="-120"/>
              </a:rPr>
              <a:t>Tasks</a:t>
            </a:r>
            <a:endParaRPr lang="en-US" sz="1800" dirty="0"/>
          </a:p>
        </p:txBody>
      </p:sp>
      <p:sp>
        <p:nvSpPr>
          <p:cNvPr id="7" name="Text 4"/>
          <p:cNvSpPr txBox="1"/>
          <p:nvPr/>
        </p:nvSpPr>
        <p:spPr>
          <a:xfrm>
            <a:off x="777240" y="2011680"/>
            <a:ext cx="6492240" cy="4114800"/>
          </a:xfrm>
          <a:prstGeom prst="rect">
            <a:avLst/>
          </a:prstGeom>
          <a:noFill/>
          <a:ln/>
        </p:spPr>
        <p:txBody>
          <a:bodyPr wrap="square" lIns="0" tIns="0" rIns="0" bIns="0" rtlCol="0" anchor="t"/>
          <a:lstStyle/>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Book: Isbn (read-only), Title, Author, Year, IsBorrowed (private set), computed Age</a:t>
            </a:r>
            <a:endParaRPr lang="en-US" sz="1400" dirty="0"/>
          </a:p>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Constructor with ArgumentException.ThrowIfNullOrWhiteSpace and a year check</a:t>
            </a:r>
            <a:endParaRPr lang="en-US" sz="1400" dirty="0"/>
          </a:p>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Borrow / Return that throw InvalidOperationException on invalid state</a:t>
            </a:r>
            <a:endParaRPr lang="en-US" sz="1400" dirty="0"/>
          </a:p>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Library: AddBook (unique ISBN), SearchByTitle, SearchByAuthor, FindByIsbn</a:t>
            </a:r>
            <a:endParaRPr lang="en-US" sz="1400" dirty="0"/>
          </a:p>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Books as IReadOnlyList&lt;Book&gt;; GetAvailable sorted by title</a:t>
            </a:r>
            <a:endParaRPr lang="en-US" sz="1400" dirty="0"/>
          </a:p>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Uncomment the code in Seed and run the whole menu</a:t>
            </a:r>
            <a:endParaRPr lang="en-US" sz="1400" dirty="0"/>
          </a:p>
        </p:txBody>
      </p:sp>
      <p:sp>
        <p:nvSpPr>
          <p:cNvPr id="8" name="Shape 5"/>
          <p:cNvSpPr/>
          <p:nvPr/>
        </p:nvSpPr>
        <p:spPr>
          <a:xfrm>
            <a:off x="7863840" y="1371600"/>
            <a:ext cx="3779215" cy="1432560"/>
          </a:xfrm>
          <a:prstGeom prst="roundRect">
            <a:avLst>
              <a:gd name="adj" fmla="val 9574"/>
            </a:avLst>
          </a:prstGeom>
          <a:solidFill>
            <a:srgbClr val="FFFFFF"/>
          </a:solidFill>
          <a:ln w="12700">
            <a:solidFill>
              <a:srgbClr val="FFFFFF"/>
            </a:solidFill>
            <a:prstDash val="solid"/>
          </a:ln>
        </p:spPr>
      </p:sp>
      <p:sp>
        <p:nvSpPr>
          <p:cNvPr id="9" name="Shape 6"/>
          <p:cNvSpPr/>
          <p:nvPr/>
        </p:nvSpPr>
        <p:spPr>
          <a:xfrm>
            <a:off x="8046720" y="1554480"/>
            <a:ext cx="457200" cy="457200"/>
          </a:xfrm>
          <a:prstGeom prst="ellipse">
            <a:avLst/>
          </a:prstGeom>
          <a:solidFill>
            <a:srgbClr val="512BD4"/>
          </a:solidFill>
          <a:ln w="12700">
            <a:solidFill>
              <a:srgbClr val="512BD4"/>
            </a:solidFill>
            <a:prstDash val="solid"/>
          </a:ln>
        </p:spPr>
      </p:sp>
      <p:pic>
        <p:nvPicPr>
          <p:cNvPr id="10" name="Image 1" descr="preencoded.png">    </p:cNvPr>
          <p:cNvPicPr>
            <a:picLocks noChangeAspect="1"/>
          </p:cNvPicPr>
          <p:nvPr/>
        </p:nvPicPr>
        <p:blipFill>
          <a:blip r:embed="rId2"/>
          <a:stretch>
            <a:fillRect/>
          </a:stretch>
        </p:blipFill>
        <p:spPr>
          <a:xfrm>
            <a:off x="8161020" y="1668780"/>
            <a:ext cx="228600" cy="228600"/>
          </a:xfrm>
          <a:prstGeom prst="rect">
            <a:avLst/>
          </a:prstGeom>
        </p:spPr>
      </p:pic>
      <p:sp>
        <p:nvSpPr>
          <p:cNvPr id="11" name="Text 7"/>
          <p:cNvSpPr txBox="1"/>
          <p:nvPr/>
        </p:nvSpPr>
        <p:spPr>
          <a:xfrm>
            <a:off x="8686800" y="1554480"/>
            <a:ext cx="2773375" cy="457200"/>
          </a:xfrm>
          <a:prstGeom prst="rect">
            <a:avLst/>
          </a:prstGeom>
          <a:noFill/>
          <a:ln/>
        </p:spPr>
        <p:txBody>
          <a:bodyPr wrap="square" lIns="0" tIns="0" rIns="0" bIns="0" rtlCol="0" anchor="ctr"/>
          <a:lstStyle/>
          <a:p>
            <a:pPr algn="l" indent="0" marL="0">
              <a:buNone/>
            </a:pPr>
            <a:r>
              <a:rPr lang="en-US" altLang="en-US" sz="1400" b="1" dirty="0">
                <a:solidFill>
                  <a:srgbClr val="512BD4"/>
                </a:solidFill>
                <a:latin typeface="Arial" pitchFamily="34" charset="0"/>
                <a:ea typeface="Arial" pitchFamily="34" charset="-122"/>
                <a:cs typeface="Arial" pitchFamily="34" charset="-120"/>
              </a:rPr>
              <a:t>Goal</a:t>
            </a:r>
            <a:endParaRPr lang="en-US" sz="1400" dirty="0"/>
          </a:p>
        </p:txBody>
      </p:sp>
      <p:sp>
        <p:nvSpPr>
          <p:cNvPr id="12" name="Text 8"/>
          <p:cNvSpPr txBox="1"/>
          <p:nvPr/>
        </p:nvSpPr>
        <p:spPr>
          <a:xfrm>
            <a:off x="8046720" y="2057400"/>
            <a:ext cx="3413455" cy="60960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Book with properties and a validating constructor; Library manages a List&lt;Book&gt;: add, search, borrow, return.</a:t>
            </a:r>
            <a:endParaRPr lang="en-US" sz="1300" dirty="0"/>
          </a:p>
        </p:txBody>
      </p:sp>
      <p:sp>
        <p:nvSpPr>
          <p:cNvPr id="13" name="Shape 9"/>
          <p:cNvSpPr/>
          <p:nvPr/>
        </p:nvSpPr>
        <p:spPr>
          <a:xfrm>
            <a:off x="7863840" y="3078480"/>
            <a:ext cx="3779215" cy="1432560"/>
          </a:xfrm>
          <a:prstGeom prst="roundRect">
            <a:avLst>
              <a:gd name="adj" fmla="val 9574"/>
            </a:avLst>
          </a:prstGeom>
          <a:solidFill>
            <a:srgbClr val="FFFFFF"/>
          </a:solidFill>
          <a:ln w="12700">
            <a:solidFill>
              <a:srgbClr val="FFFFFF"/>
            </a:solidFill>
            <a:prstDash val="solid"/>
          </a:ln>
        </p:spPr>
      </p:sp>
      <p:sp>
        <p:nvSpPr>
          <p:cNvPr id="14" name="Shape 10"/>
          <p:cNvSpPr/>
          <p:nvPr/>
        </p:nvSpPr>
        <p:spPr>
          <a:xfrm>
            <a:off x="8046720" y="3261360"/>
            <a:ext cx="457200" cy="457200"/>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8161020" y="3375660"/>
            <a:ext cx="228600" cy="228600"/>
          </a:xfrm>
          <a:prstGeom prst="rect">
            <a:avLst/>
          </a:prstGeom>
        </p:spPr>
      </p:pic>
      <p:sp>
        <p:nvSpPr>
          <p:cNvPr id="16" name="Text 11"/>
          <p:cNvSpPr txBox="1"/>
          <p:nvPr/>
        </p:nvSpPr>
        <p:spPr>
          <a:xfrm>
            <a:off x="8686800" y="3261360"/>
            <a:ext cx="2773375" cy="457200"/>
          </a:xfrm>
          <a:prstGeom prst="rect">
            <a:avLst/>
          </a:prstGeom>
          <a:noFill/>
          <a:ln/>
        </p:spPr>
        <p:txBody>
          <a:bodyPr wrap="square" lIns="0" tIns="0" rIns="0" bIns="0" rtlCol="0" anchor="ctr"/>
          <a:lstStyle/>
          <a:p>
            <a:pPr algn="l" indent="0" marL="0">
              <a:buNone/>
            </a:pPr>
            <a:r>
              <a:rPr lang="en-US" altLang="en-US" sz="1400" b="1" dirty="0">
                <a:solidFill>
                  <a:srgbClr val="512BD4"/>
                </a:solidFill>
                <a:latin typeface="Arial" pitchFamily="34" charset="0"/>
                <a:ea typeface="Arial" pitchFamily="34" charset="-122"/>
                <a:cs typeface="Arial" pitchFamily="34" charset="-120"/>
              </a:rPr>
              <a:t>Duration</a:t>
            </a:r>
            <a:endParaRPr lang="en-US" sz="1400" dirty="0"/>
          </a:p>
        </p:txBody>
      </p:sp>
      <p:sp>
        <p:nvSpPr>
          <p:cNvPr id="17" name="Text 12"/>
          <p:cNvSpPr txBox="1"/>
          <p:nvPr/>
        </p:nvSpPr>
        <p:spPr>
          <a:xfrm>
            <a:off x="8046720" y="3764280"/>
            <a:ext cx="3413455" cy="60960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45 minutes</a:t>
            </a:r>
            <a:endParaRPr lang="en-US" sz="1300" dirty="0"/>
          </a:p>
        </p:txBody>
      </p:sp>
      <p:sp>
        <p:nvSpPr>
          <p:cNvPr id="18" name="Shape 13"/>
          <p:cNvSpPr/>
          <p:nvPr/>
        </p:nvSpPr>
        <p:spPr>
          <a:xfrm>
            <a:off x="7863840" y="4785360"/>
            <a:ext cx="3779215" cy="1432560"/>
          </a:xfrm>
          <a:prstGeom prst="roundRect">
            <a:avLst>
              <a:gd name="adj" fmla="val 9574"/>
            </a:avLst>
          </a:prstGeom>
          <a:solidFill>
            <a:srgbClr val="FFFFFF"/>
          </a:solidFill>
          <a:ln w="12700">
            <a:solidFill>
              <a:srgbClr val="FFFFFF"/>
            </a:solidFill>
            <a:prstDash val="solid"/>
          </a:ln>
        </p:spPr>
      </p:sp>
      <p:sp>
        <p:nvSpPr>
          <p:cNvPr id="19" name="Shape 14"/>
          <p:cNvSpPr/>
          <p:nvPr/>
        </p:nvSpPr>
        <p:spPr>
          <a:xfrm>
            <a:off x="8046720" y="4968240"/>
            <a:ext cx="457200" cy="457200"/>
          </a:xfrm>
          <a:prstGeom prst="ellipse">
            <a:avLst/>
          </a:prstGeom>
          <a:solidFill>
            <a:srgbClr val="512BD4"/>
          </a:solidFill>
          <a:ln w="12700">
            <a:solidFill>
              <a:srgbClr val="512BD4"/>
            </a:solidFill>
            <a:prstDash val="solid"/>
          </a:ln>
        </p:spPr>
      </p:sp>
      <p:pic>
        <p:nvPicPr>
          <p:cNvPr id="20" name="Image 3" descr="preencoded.png">    </p:cNvPr>
          <p:cNvPicPr>
            <a:picLocks noChangeAspect="1"/>
          </p:cNvPicPr>
          <p:nvPr/>
        </p:nvPicPr>
        <p:blipFill>
          <a:blip r:embed="rId4"/>
          <a:stretch>
            <a:fillRect/>
          </a:stretch>
        </p:blipFill>
        <p:spPr>
          <a:xfrm>
            <a:off x="8161020" y="5082540"/>
            <a:ext cx="228600" cy="228600"/>
          </a:xfrm>
          <a:prstGeom prst="rect">
            <a:avLst/>
          </a:prstGeom>
        </p:spPr>
      </p:pic>
      <p:sp>
        <p:nvSpPr>
          <p:cNvPr id="21" name="Text 15"/>
          <p:cNvSpPr txBox="1"/>
          <p:nvPr/>
        </p:nvSpPr>
        <p:spPr>
          <a:xfrm>
            <a:off x="8686800" y="4968240"/>
            <a:ext cx="2773375" cy="457200"/>
          </a:xfrm>
          <a:prstGeom prst="rect">
            <a:avLst/>
          </a:prstGeom>
          <a:noFill/>
          <a:ln/>
        </p:spPr>
        <p:txBody>
          <a:bodyPr wrap="square" lIns="0" tIns="0" rIns="0" bIns="0" rtlCol="0" anchor="ctr"/>
          <a:lstStyle/>
          <a:p>
            <a:pPr algn="l" indent="0" marL="0">
              <a:buNone/>
            </a:pPr>
            <a:r>
              <a:rPr lang="en-US" altLang="en-US" sz="1400" b="1" dirty="0">
                <a:solidFill>
                  <a:srgbClr val="512BD4"/>
                </a:solidFill>
                <a:latin typeface="Arial" pitchFamily="34" charset="0"/>
                <a:ea typeface="Arial" pitchFamily="34" charset="-122"/>
                <a:cs typeface="Arial" pitchFamily="34" charset="-120"/>
              </a:rPr>
              <a:t>Deliverable</a:t>
            </a:r>
            <a:endParaRPr lang="en-US" sz="1400" dirty="0"/>
          </a:p>
        </p:txBody>
      </p:sp>
      <p:sp>
        <p:nvSpPr>
          <p:cNvPr id="22" name="Text 16"/>
          <p:cNvSpPr txBox="1"/>
          <p:nvPr/>
        </p:nvSpPr>
        <p:spPr>
          <a:xfrm>
            <a:off x="8046720" y="5471160"/>
            <a:ext cx="3413455" cy="60960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A Starter that meets all acceptance criteria in the README; bonus: BorrowedCount, Oldest, DueDate.</a:t>
            </a:r>
            <a:endParaRPr lang="en-US" sz="1300" dirty="0"/>
          </a:p>
        </p:txBody>
      </p:sp>
      <p:sp>
        <p:nvSpPr>
          <p:cNvPr id="23" name="Text 17"/>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24" name="Text 1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1340"/>
        </a:solidFill>
      </p:bgPr>
    </p:bg>
    <p:spTree>
      <p:nvGrpSpPr>
        <p:cNvPr id="1" name=""/>
        <p:cNvGrpSpPr/>
        <p:nvPr/>
      </p:nvGrpSpPr>
      <p:grpSpPr>
        <a:xfrm>
          <a:off x="0" y="0"/>
          <a:ext cx="0" cy="0"/>
          <a:chOff x="0" y="0"/>
          <a:chExt cx="0" cy="0"/>
        </a:xfrm>
      </p:grpSpPr>
      <p:sp>
        <p:nvSpPr>
          <p:cNvPr id="2" name="Shape 0"/>
          <p:cNvSpPr/>
          <p:nvPr/>
        </p:nvSpPr>
        <p:spPr>
          <a:xfrm>
            <a:off x="-2926080" y="-2743200"/>
            <a:ext cx="7315200" cy="7315200"/>
          </a:xfrm>
          <a:prstGeom prst="ellipse">
            <a:avLst/>
          </a:prstGeom>
          <a:solidFill>
            <a:srgbClr val="512BD4">
              <a:alpha val="28000"/>
            </a:srgbClr>
          </a:solidFill>
          <a:ln w="12700">
            <a:solidFill>
              <a:srgbClr val="512BD4">
                <a:alpha val="0"/>
              </a:srgbClr>
            </a:solidFill>
            <a:prstDash val="solid"/>
          </a:ln>
        </p:spPr>
      </p:sp>
      <p:sp>
        <p:nvSpPr>
          <p:cNvPr id="3" name="Text 1"/>
          <p:cNvSpPr txBox="1"/>
          <p:nvPr/>
        </p:nvSpPr>
        <p:spPr>
          <a:xfrm>
            <a:off x="7711135" y="1188720"/>
            <a:ext cx="3657600" cy="2743200"/>
          </a:xfrm>
          <a:prstGeom prst="rect">
            <a:avLst/>
          </a:prstGeom>
          <a:noFill/>
          <a:ln/>
        </p:spPr>
        <p:txBody>
          <a:bodyPr wrap="square" lIns="0" tIns="0" rIns="0" bIns="0" rtlCol="0" anchor="ctr"/>
          <a:lstStyle/>
          <a:p>
            <a:pPr algn="r" indent="0" marL="0">
              <a:buNone/>
            </a:pPr>
            <a:r>
              <a:rPr lang="en-US" sz="13000" b="1" dirty="0">
                <a:solidFill>
                  <a:srgbClr val="FFB020"/>
                </a:solidFill>
                <a:latin typeface="Arial" pitchFamily="34" charset="0"/>
                <a:ea typeface="Arial" pitchFamily="34" charset="-122"/>
                <a:cs typeface="Arial" pitchFamily="34" charset="-120"/>
              </a:rPr>
              <a:t>03</a:t>
            </a:r>
            <a:endParaRPr lang="en-US" sz="13000" dirty="0"/>
          </a:p>
        </p:txBody>
      </p:sp>
      <p:sp>
        <p:nvSpPr>
          <p:cNvPr id="4" name="Text 2"/>
          <p:cNvSpPr txBox="1"/>
          <p:nvPr/>
        </p:nvSpPr>
        <p:spPr>
          <a:xfrm>
            <a:off x="548640" y="1828800"/>
            <a:ext cx="7223760" cy="1463040"/>
          </a:xfrm>
          <a:prstGeom prst="rect">
            <a:avLst/>
          </a:prstGeom>
          <a:noFill/>
          <a:ln/>
        </p:spPr>
        <p:txBody>
          <a:bodyPr wrap="square" lIns="0" tIns="0" rIns="0" bIns="0" rtlCol="0" anchor="ctr"/>
          <a:lstStyle/>
          <a:p>
            <a:pPr algn="l" indent="0" marL="0">
              <a:buNone/>
            </a:pPr>
            <a:r>
              <a:rPr lang="en-US" altLang="en-US" sz="4000" b="1" dirty="0">
                <a:solidFill>
                  <a:srgbClr val="FFFFFF"/>
                </a:solidFill>
                <a:latin typeface="Arial" pitchFamily="34" charset="0"/>
                <a:ea typeface="Arial" pitchFamily="34" charset="-122"/>
                <a:cs typeface="Arial" pitchFamily="34" charset="-120"/>
              </a:rPr>
              <a:t>OOP Principles</a:t>
            </a:r>
            <a:endParaRPr lang="en-US" sz="4000" dirty="0"/>
          </a:p>
        </p:txBody>
      </p:sp>
      <p:sp>
        <p:nvSpPr>
          <p:cNvPr id="5" name="Text 3"/>
          <p:cNvSpPr txBox="1"/>
          <p:nvPr/>
        </p:nvSpPr>
        <p:spPr>
          <a:xfrm>
            <a:off x="548640" y="3383280"/>
            <a:ext cx="7223760" cy="1463040"/>
          </a:xfrm>
          <a:prstGeom prst="rect">
            <a:avLst/>
          </a:prstGeom>
          <a:noFill/>
          <a:ln/>
        </p:spPr>
        <p:txBody>
          <a:bodyPr wrap="square" lIns="0" tIns="0" rIns="0" bIns="0" rtlCol="0" anchor="t"/>
          <a:lstStyle/>
          <a:p>
            <a:pPr algn="l" indent="0" marL="0">
              <a:buNone/>
            </a:pPr>
            <a:r>
              <a:rPr lang="en-US" altLang="en-US" sz="2000" dirty="0">
                <a:solidFill>
                  <a:srgbClr val="CFC7F5"/>
                </a:solidFill>
                <a:latin typeface="Arial" pitchFamily="34" charset="0"/>
                <a:ea typeface="Arial" pitchFamily="34" charset="-122"/>
                <a:cs typeface="Arial" pitchFamily="34" charset="-120"/>
              </a:rPr>
              <a:t>Encapsulation · Inheritance · Polymorphism · Interfaces · Abstraction</a:t>
            </a:r>
            <a:endParaRPr lang="en-US" sz="20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A79FD6"/>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9FD6"/>
                </a:solidFill>
                <a:latin typeface="Arial" pitchFamily="34" charset="0"/>
                <a:ea typeface="Arial" pitchFamily="34" charset="-122"/>
                <a:cs typeface="Arial"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Four principles: how to change without breaking?</a:t>
            </a:r>
            <a:endParaRPr lang="en-US" sz="3200" dirty="0"/>
          </a:p>
        </p:txBody>
      </p:sp>
      <p:sp>
        <p:nvSpPr>
          <p:cNvPr id="3" name="Shape 1"/>
          <p:cNvSpPr/>
          <p:nvPr/>
        </p:nvSpPr>
        <p:spPr>
          <a:xfrm>
            <a:off x="548640" y="1371600"/>
            <a:ext cx="2533574" cy="4846320"/>
          </a:xfrm>
          <a:prstGeom prst="roundRect">
            <a:avLst>
              <a:gd name="adj" fmla="val 5414"/>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777240" y="1600200"/>
            <a:ext cx="640080" cy="640080"/>
          </a:xfrm>
          <a:prstGeom prst="ellipse">
            <a:avLst/>
          </a:prstGeom>
          <a:solidFill>
            <a:srgbClr val="512BD4"/>
          </a:solidFill>
          <a:ln w="12700">
            <a:solidFill>
              <a:srgbClr val="512BD4"/>
            </a:solidFill>
            <a:prstDash val="solid"/>
          </a:ln>
        </p:spPr>
      </p:sp>
      <p:pic>
        <p:nvPicPr>
          <p:cNvPr id="5" name="Image 0" descr="preencoded.png">    </p:cNvPr>
          <p:cNvPicPr>
            <a:picLocks noChangeAspect="1"/>
          </p:cNvPicPr>
          <p:nvPr/>
        </p:nvPicPr>
        <p:blipFill>
          <a:blip r:embed="rId1"/>
          <a:stretch>
            <a:fillRect/>
          </a:stretch>
        </p:blipFill>
        <p:spPr>
          <a:xfrm>
            <a:off x="937260" y="1760220"/>
            <a:ext cx="320040" cy="320040"/>
          </a:xfrm>
          <a:prstGeom prst="rect">
            <a:avLst/>
          </a:prstGeom>
        </p:spPr>
      </p:pic>
      <p:sp>
        <p:nvSpPr>
          <p:cNvPr id="6" name="Text 3"/>
          <p:cNvSpPr txBox="1"/>
          <p:nvPr/>
        </p:nvSpPr>
        <p:spPr>
          <a:xfrm>
            <a:off x="777240" y="2377440"/>
            <a:ext cx="2076374" cy="457200"/>
          </a:xfrm>
          <a:prstGeom prst="rect">
            <a:avLst/>
          </a:prstGeom>
          <a:noFill/>
          <a:ln/>
        </p:spPr>
        <p:txBody>
          <a:bodyPr wrap="square" lIns="0" tIns="0" rIns="0" bIns="0" rtlCol="0" anchor="ctr">
            <a:normAutofit/>
          </a:bodyPr>
          <a:lstStyle/>
          <a:p>
            <a:pPr algn="l" indent="0" marL="0">
              <a:buNone/>
            </a:pPr>
            <a:r>
              <a:rPr lang="en-US" altLang="en-US" sz="1600" b="1" dirty="0">
                <a:solidFill>
                  <a:srgbClr val="1B1340"/>
                </a:solidFill>
                <a:latin typeface="Arial" pitchFamily="34" charset="0"/>
                <a:ea typeface="Arial" pitchFamily="34" charset="-122"/>
                <a:cs typeface="Arial" pitchFamily="34" charset="-120"/>
              </a:rPr>
              <a:t>Encapsulation</a:t>
            </a:r>
            <a:endParaRPr lang="en-US" sz="1600" dirty="0"/>
          </a:p>
        </p:txBody>
      </p:sp>
      <p:sp>
        <p:nvSpPr>
          <p:cNvPr id="7" name="Text 4"/>
          <p:cNvSpPr txBox="1"/>
          <p:nvPr/>
        </p:nvSpPr>
        <p:spPr>
          <a:xfrm>
            <a:off x="777240" y="2880360"/>
            <a:ext cx="2076374" cy="310896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Private state, small API. Changing the implementation doesn't break callers.</a:t>
            </a:r>
            <a:endParaRPr lang="en-US" sz="1300" dirty="0"/>
          </a:p>
        </p:txBody>
      </p:sp>
      <p:sp>
        <p:nvSpPr>
          <p:cNvPr id="8" name="Shape 5"/>
          <p:cNvSpPr/>
          <p:nvPr/>
        </p:nvSpPr>
        <p:spPr>
          <a:xfrm>
            <a:off x="3402254" y="1371600"/>
            <a:ext cx="2533574" cy="4846320"/>
          </a:xfrm>
          <a:prstGeom prst="roundRect">
            <a:avLst>
              <a:gd name="adj" fmla="val 5414"/>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9" name="Shape 6"/>
          <p:cNvSpPr/>
          <p:nvPr/>
        </p:nvSpPr>
        <p:spPr>
          <a:xfrm>
            <a:off x="3630854" y="1600200"/>
            <a:ext cx="640080" cy="640080"/>
          </a:xfrm>
          <a:prstGeom prst="ellipse">
            <a:avLst/>
          </a:prstGeom>
          <a:solidFill>
            <a:srgbClr val="512BD4"/>
          </a:solidFill>
          <a:ln w="12700">
            <a:solidFill>
              <a:srgbClr val="512BD4"/>
            </a:solidFill>
            <a:prstDash val="solid"/>
          </a:ln>
        </p:spPr>
      </p:sp>
      <p:pic>
        <p:nvPicPr>
          <p:cNvPr id="10" name="Image 1" descr="preencoded.png">    </p:cNvPr>
          <p:cNvPicPr>
            <a:picLocks noChangeAspect="1"/>
          </p:cNvPicPr>
          <p:nvPr/>
        </p:nvPicPr>
        <p:blipFill>
          <a:blip r:embed="rId2"/>
          <a:stretch>
            <a:fillRect/>
          </a:stretch>
        </p:blipFill>
        <p:spPr>
          <a:xfrm>
            <a:off x="3790874" y="1760220"/>
            <a:ext cx="320040" cy="320040"/>
          </a:xfrm>
          <a:prstGeom prst="rect">
            <a:avLst/>
          </a:prstGeom>
        </p:spPr>
      </p:pic>
      <p:sp>
        <p:nvSpPr>
          <p:cNvPr id="11" name="Text 7"/>
          <p:cNvSpPr txBox="1"/>
          <p:nvPr/>
        </p:nvSpPr>
        <p:spPr>
          <a:xfrm>
            <a:off x="3630854" y="2377440"/>
            <a:ext cx="2076374" cy="457200"/>
          </a:xfrm>
          <a:prstGeom prst="rect">
            <a:avLst/>
          </a:prstGeom>
          <a:noFill/>
          <a:ln/>
        </p:spPr>
        <p:txBody>
          <a:bodyPr wrap="square" lIns="0" tIns="0" rIns="0" bIns="0" rtlCol="0" anchor="ctr">
            <a:normAutofit/>
          </a:bodyPr>
          <a:lstStyle/>
          <a:p>
            <a:pPr algn="l" indent="0" marL="0">
              <a:buNone/>
            </a:pPr>
            <a:r>
              <a:rPr lang="en-US" altLang="en-US" sz="1600" b="1" dirty="0">
                <a:solidFill>
                  <a:srgbClr val="1B1340"/>
                </a:solidFill>
                <a:latin typeface="Arial" pitchFamily="34" charset="0"/>
                <a:ea typeface="Arial" pitchFamily="34" charset="-122"/>
                <a:cs typeface="Arial" pitchFamily="34" charset="-120"/>
              </a:rPr>
              <a:t>Inheritance</a:t>
            </a:r>
            <a:endParaRPr lang="en-US" sz="1600" dirty="0"/>
          </a:p>
        </p:txBody>
      </p:sp>
      <p:sp>
        <p:nvSpPr>
          <p:cNvPr id="12" name="Text 8"/>
          <p:cNvSpPr txBox="1"/>
          <p:nvPr/>
        </p:nvSpPr>
        <p:spPr>
          <a:xfrm>
            <a:off x="3630854" y="2880360"/>
            <a:ext cx="2076374" cy="310896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A derived class gets and extends a base class. Only for "is a kind of" relations.</a:t>
            </a:r>
            <a:endParaRPr lang="en-US" sz="1300" dirty="0"/>
          </a:p>
        </p:txBody>
      </p:sp>
      <p:sp>
        <p:nvSpPr>
          <p:cNvPr id="13" name="Shape 9"/>
          <p:cNvSpPr/>
          <p:nvPr/>
        </p:nvSpPr>
        <p:spPr>
          <a:xfrm>
            <a:off x="6255868" y="1371600"/>
            <a:ext cx="2533574" cy="4846320"/>
          </a:xfrm>
          <a:prstGeom prst="roundRect">
            <a:avLst>
              <a:gd name="adj" fmla="val 5414"/>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14" name="Shape 10"/>
          <p:cNvSpPr/>
          <p:nvPr/>
        </p:nvSpPr>
        <p:spPr>
          <a:xfrm>
            <a:off x="6484468" y="1600200"/>
            <a:ext cx="640080" cy="640080"/>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644488" y="1760220"/>
            <a:ext cx="320040" cy="320040"/>
          </a:xfrm>
          <a:prstGeom prst="rect">
            <a:avLst/>
          </a:prstGeom>
        </p:spPr>
      </p:pic>
      <p:sp>
        <p:nvSpPr>
          <p:cNvPr id="16" name="Text 11"/>
          <p:cNvSpPr txBox="1"/>
          <p:nvPr/>
        </p:nvSpPr>
        <p:spPr>
          <a:xfrm>
            <a:off x="6484468" y="2377440"/>
            <a:ext cx="2076374" cy="457200"/>
          </a:xfrm>
          <a:prstGeom prst="rect">
            <a:avLst/>
          </a:prstGeom>
          <a:noFill/>
          <a:ln/>
        </p:spPr>
        <p:txBody>
          <a:bodyPr wrap="square" lIns="0" tIns="0" rIns="0" bIns="0" rtlCol="0" anchor="ctr">
            <a:normAutofit/>
          </a:bodyPr>
          <a:lstStyle/>
          <a:p>
            <a:pPr algn="l" indent="0" marL="0">
              <a:buNone/>
            </a:pPr>
            <a:r>
              <a:rPr lang="en-US" altLang="en-US" sz="1600" b="1" dirty="0">
                <a:solidFill>
                  <a:srgbClr val="1B1340"/>
                </a:solidFill>
                <a:latin typeface="Arial" pitchFamily="34" charset="0"/>
                <a:ea typeface="Arial" pitchFamily="34" charset="-122"/>
                <a:cs typeface="Arial" pitchFamily="34" charset="-120"/>
              </a:rPr>
              <a:t>Polymorphism</a:t>
            </a:r>
            <a:endParaRPr lang="en-US" sz="1600" dirty="0"/>
          </a:p>
        </p:txBody>
      </p:sp>
      <p:sp>
        <p:nvSpPr>
          <p:cNvPr id="17" name="Text 12"/>
          <p:cNvSpPr txBox="1"/>
          <p:nvPr/>
        </p:nvSpPr>
        <p:spPr>
          <a:xfrm>
            <a:off x="6484468" y="2880360"/>
            <a:ext cx="2076374" cy="310896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One call, behavior by the actual type. Replaces a switch on types.</a:t>
            </a:r>
            <a:endParaRPr lang="en-US" sz="1300" dirty="0"/>
          </a:p>
        </p:txBody>
      </p:sp>
      <p:sp>
        <p:nvSpPr>
          <p:cNvPr id="18" name="Shape 13"/>
          <p:cNvSpPr/>
          <p:nvPr/>
        </p:nvSpPr>
        <p:spPr>
          <a:xfrm>
            <a:off x="9109481" y="1371600"/>
            <a:ext cx="2533574" cy="4846320"/>
          </a:xfrm>
          <a:prstGeom prst="roundRect">
            <a:avLst>
              <a:gd name="adj" fmla="val 5414"/>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19" name="Shape 14"/>
          <p:cNvSpPr/>
          <p:nvPr/>
        </p:nvSpPr>
        <p:spPr>
          <a:xfrm>
            <a:off x="9338081" y="1600200"/>
            <a:ext cx="640080" cy="640080"/>
          </a:xfrm>
          <a:prstGeom prst="ellipse">
            <a:avLst/>
          </a:prstGeom>
          <a:solidFill>
            <a:srgbClr val="512BD4"/>
          </a:solidFill>
          <a:ln w="12700">
            <a:solidFill>
              <a:srgbClr val="512BD4"/>
            </a:solidFill>
            <a:prstDash val="solid"/>
          </a:ln>
        </p:spPr>
      </p:sp>
      <p:pic>
        <p:nvPicPr>
          <p:cNvPr id="20" name="Image 3" descr="preencoded.png">    </p:cNvPr>
          <p:cNvPicPr>
            <a:picLocks noChangeAspect="1"/>
          </p:cNvPicPr>
          <p:nvPr/>
        </p:nvPicPr>
        <p:blipFill>
          <a:blip r:embed="rId4"/>
          <a:stretch>
            <a:fillRect/>
          </a:stretch>
        </p:blipFill>
        <p:spPr>
          <a:xfrm>
            <a:off x="9498101" y="1760220"/>
            <a:ext cx="320040" cy="320040"/>
          </a:xfrm>
          <a:prstGeom prst="rect">
            <a:avLst/>
          </a:prstGeom>
        </p:spPr>
      </p:pic>
      <p:sp>
        <p:nvSpPr>
          <p:cNvPr id="21" name="Text 15"/>
          <p:cNvSpPr txBox="1"/>
          <p:nvPr/>
        </p:nvSpPr>
        <p:spPr>
          <a:xfrm>
            <a:off x="9338081" y="2377440"/>
            <a:ext cx="2076374" cy="457200"/>
          </a:xfrm>
          <a:prstGeom prst="rect">
            <a:avLst/>
          </a:prstGeom>
          <a:noFill/>
          <a:ln/>
        </p:spPr>
        <p:txBody>
          <a:bodyPr wrap="square" lIns="0" tIns="0" rIns="0" bIns="0" rtlCol="0" anchor="ctr">
            <a:normAutofit/>
          </a:bodyPr>
          <a:lstStyle/>
          <a:p>
            <a:pPr algn="l" indent="0" marL="0">
              <a:buNone/>
            </a:pPr>
            <a:r>
              <a:rPr lang="en-US" altLang="en-US" sz="1600" b="1" dirty="0">
                <a:solidFill>
                  <a:srgbClr val="1B1340"/>
                </a:solidFill>
                <a:latin typeface="Arial" pitchFamily="34" charset="0"/>
                <a:ea typeface="Arial" pitchFamily="34" charset="-122"/>
                <a:cs typeface="Arial" pitchFamily="34" charset="-120"/>
              </a:rPr>
              <a:t>Abstraction</a:t>
            </a:r>
            <a:endParaRPr lang="en-US" sz="1600" dirty="0"/>
          </a:p>
        </p:txBody>
      </p:sp>
      <p:sp>
        <p:nvSpPr>
          <p:cNvPr id="22" name="Text 16"/>
          <p:cNvSpPr txBox="1"/>
          <p:nvPr/>
        </p:nvSpPr>
        <p:spPr>
          <a:xfrm>
            <a:off x="9338081" y="2880360"/>
            <a:ext cx="2076374" cy="310896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Depend on a contract (interface / abstract), not an implementation. Swappable.</a:t>
            </a:r>
            <a:endParaRPr lang="en-US" sz="1300" dirty="0"/>
          </a:p>
        </p:txBody>
      </p:sp>
      <p:sp>
        <p:nvSpPr>
          <p:cNvPr id="23" name="Text 17"/>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24" name="Text 1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Encapsulation: access modifiers</a:t>
            </a:r>
            <a:endParaRPr lang="en-US" sz="3200" dirty="0"/>
          </a:p>
        </p:txBody>
      </p:sp>
      <p:sp>
        <p:nvSpPr>
          <p:cNvPr id="3" name="Text 1"/>
          <p:cNvSpPr txBox="1"/>
          <p:nvPr/>
        </p:nvSpPr>
        <p:spPr>
          <a:xfrm>
            <a:off x="548640" y="1371600"/>
            <a:ext cx="8168335" cy="4754880"/>
          </a:xfrm>
          <a:prstGeom prst="rect">
            <a:avLst/>
          </a:prstGeom>
          <a:noFill/>
          <a:ln/>
        </p:spPr>
        <p:txBody>
          <a:bodyPr wrap="square" lIns="1270" tIns="1270" rIns="1270" bIns="1270" rtlCol="0" anchor="t"/>
          <a:lstStyle/>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private — only the class itself (default for members)</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protected — the class and its derived classes</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internal — all code in the same project (default for classes)</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public — everyone</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protected internal / private protected — rare combinations</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The rule: start with private, widen only when needed</a:t>
            </a:r>
            <a:endParaRPr lang="en-US" sz="1800" dirty="0"/>
          </a:p>
          <a:p>
            <a:pPr algn="l" lvl="1" marL="508000" indent="-254000">
              <a:spcAft>
                <a:spcPts val="400"/>
              </a:spcAft>
              <a:buSzPct val="100000"/>
              <a:buChar char="•"/>
            </a:pPr>
            <a:r>
              <a:rPr lang="en-US" altLang="en-US" sz="1500" dirty="0">
                <a:solidFill>
                  <a:srgbClr val="6B6480"/>
                </a:solidFill>
                <a:latin typeface="Arial" pitchFamily="34" charset="0"/>
                <a:ea typeface="Arial" pitchFamily="34" charset="-122"/>
                <a:cs typeface="Arial" pitchFamily="34" charset="-120"/>
              </a:rPr>
              <a:t>Less public surface = less that can break</a:t>
            </a:r>
            <a:endParaRPr lang="en-US" sz="1800" dirty="0"/>
          </a:p>
        </p:txBody>
      </p:sp>
      <p:sp>
        <p:nvSpPr>
          <p:cNvPr id="4" name="Shape 2"/>
          <p:cNvSpPr/>
          <p:nvPr/>
        </p:nvSpPr>
        <p:spPr>
          <a:xfrm>
            <a:off x="9357055" y="2377440"/>
            <a:ext cx="1828800" cy="1828800"/>
          </a:xfrm>
          <a:prstGeom prst="ellipse">
            <a:avLst/>
          </a:prstGeom>
          <a:solidFill>
            <a:srgbClr val="F3F0FF"/>
          </a:solidFill>
          <a:ln w="12700">
            <a:solidFill>
              <a:srgbClr val="F3F0FF"/>
            </a:solidFill>
            <a:prstDash val="solid"/>
          </a:ln>
        </p:spPr>
      </p:sp>
      <p:pic>
        <p:nvPicPr>
          <p:cNvPr id="5" name="Image 0" descr="preencoded.png">    </p:cNvPr>
          <p:cNvPicPr>
            <a:picLocks noChangeAspect="1"/>
          </p:cNvPicPr>
          <p:nvPr/>
        </p:nvPicPr>
        <p:blipFill>
          <a:blip r:embed="rId1"/>
          <a:stretch>
            <a:fillRect/>
          </a:stretch>
        </p:blipFill>
        <p:spPr>
          <a:xfrm>
            <a:off x="9814255" y="2834640"/>
            <a:ext cx="914400" cy="914400"/>
          </a:xfrm>
          <a:prstGeom prst="rect">
            <a:avLst/>
          </a:prstGeom>
        </p:spPr>
      </p:pic>
      <p:sp>
        <p:nvSpPr>
          <p:cNvPr id="6" name="Text 3"/>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Inheritance: virtual, override, base, sealed</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508760"/>
            <a:ext cx="6858000" cy="4617720"/>
          </a:xfrm>
          <a:prstGeom prst="rect">
            <a:avLst/>
          </a:prstGeom>
          <a:noFill/>
          <a:ln/>
        </p:spPr>
        <p:txBody>
          <a:bodyPr wrap="square" lIns="635" tIns="635" rIns="635" bIns="635" rtlCol="0" anchor="t"/>
          <a:lstStyle/>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class Employee(int id, string name)</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int Id { get; } = id;</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string Name { get; } = name;</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virtual decimal MonthlyPay() =&gt; 0;</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virtual string Describe() =&gt; $"#{Id} {Name}";</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class Manager(int id, string name, decimal salary, decimal bonus)</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 Employee(id, name)</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override decimal MonthlyPay() =&gt; salary / 12 + bonus;</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override string Describe()</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=&gt; base.Describe() + " (manager)";</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sealed class Intern(int id, string name) : Employee(id, name)</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override decimal MonthlyPay() =&gt; 3_000;</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p:txBody>
      </p:sp>
      <p:sp>
        <p:nvSpPr>
          <p:cNvPr id="5" name="Text 3"/>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virtual — may be overridden; override — overrides</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base.X() — the parent's implementation (extend, don't replace)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sealed — end of the hierarchy</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Single inheritance only; interfaces — as many as you like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Only a real is-a: a manager is an employee</a:t>
            </a:r>
            <a:endParaRPr lang="en-US" sz="16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abstract + polymorphism</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508760"/>
            <a:ext cx="6858000" cy="4617720"/>
          </a:xfrm>
          <a:prstGeom prst="rect">
            <a:avLst/>
          </a:prstGeom>
          <a:noFill/>
          <a:ln/>
        </p:spPr>
        <p:txBody>
          <a:bodyPr wrap="square" lIns="635" tIns="635" rIns="635" bIns="635" rtlCol="0" anchor="t"/>
          <a:lstStyle/>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abstract class Shape</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abstract double Area();                  // must implement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virtual string Describe()</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=&gt; $"{GetType().Name} area={Area():F2}";    // shared</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class Circle(double r) : Shape</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override double Area() =&gt; Math.PI * r * r;</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class Rect(double w, double h) : Shape</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override double Area() =&gt; w * h;</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List&lt;Shape&gt; shapes = [new Circle(1), new Rect(2, 3)];</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foreach (var s in shapes)</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Console.WriteLine(s.Describe());   // each by its own type</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double total = shapes.Sum(s =&gt; s.Area());</a:t>
            </a:r>
            <a:endParaRPr lang="en-US" sz="1300" dirty="0"/>
          </a:p>
        </p:txBody>
      </p:sp>
      <p:sp>
        <p:nvSpPr>
          <p:cNvPr id="5" name="Text 3"/>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abstract class — no new Shape()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abstract method — no body; derived classes must implement it</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Describe uses Area, which doesn't exist yet — resolved at run time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The loop won't change when we add Triangle — Open/Closed</a:t>
            </a:r>
            <a:endParaRPr lang="en-US" sz="16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Interfaces: a contract without implementation</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508760"/>
            <a:ext cx="6858000" cy="4617720"/>
          </a:xfrm>
          <a:prstGeom prst="rect">
            <a:avLst/>
          </a:prstGeom>
          <a:noFill/>
          <a:ln/>
        </p:spPr>
        <p:txBody>
          <a:bodyPr wrap="square" lIns="635" tIns="635" rIns="635" bIns="635" rtlCol="0" anchor="t"/>
          <a:lstStyle/>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interface IPayable</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    string PayeeName { get; }</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    decimal MonthlyPay();</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    // default member (C# 8+)</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    string PaySlip() =&gt; $"{PayeeName}: {MonthlyPay():N2}";</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a:t>
            </a:r>
            <a:endParaRPr lang="en-US" sz="1400" dirty="0"/>
          </a:p>
          <a:p>
            <a:pPr algn="l" indent="0" marL="0">
              <a:buNone/>
            </a:pP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class Contractor(string company, decimal fee) : IPayable</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    public string PayeeName =&gt; company;</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    public decimal MonthlyPay() =&gt; fee;</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a:t>
            </a:r>
            <a:endParaRPr lang="en-US" sz="1400" dirty="0"/>
          </a:p>
          <a:p>
            <a:pPr algn="l" indent="0" marL="0">
              <a:buNone/>
            </a:pP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List&lt;IPayable&gt; payroll =</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    new Manager(1, "Noa", 360_000, 2_000),</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    new Contractor("Acme", 12_000),</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foreach (var p in payroll) Console.WriteLine(p.PaySlip());</a:t>
            </a:r>
            <a:endParaRPr lang="en-US" sz="1400" dirty="0"/>
          </a:p>
        </p:txBody>
      </p:sp>
      <p:sp>
        <p:nvSpPr>
          <p:cNvPr id="5" name="Text 3"/>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A contractor isn't an employee — but gets paid</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A class can implement several interfaces</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Default member: a default implementation, reachable via the interface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IComparable&lt;T&gt;, IEnumerable&lt;T&gt;, IDisposable — .NET interfaces</a:t>
            </a:r>
            <a:endParaRPr lang="en-US" sz="16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abstract class or interface?</a:t>
            </a:r>
            <a:endParaRPr lang="en-US" sz="3200" dirty="0"/>
          </a:p>
        </p:txBody>
      </p:sp>
      <p:sp>
        <p:nvSpPr>
          <p:cNvPr id="3" name="Shape 1"/>
          <p:cNvSpPr/>
          <p:nvPr/>
        </p:nvSpPr>
        <p:spPr>
          <a:xfrm>
            <a:off x="548640" y="1371600"/>
            <a:ext cx="5318608" cy="4846320"/>
          </a:xfrm>
          <a:prstGeom prst="roundRect">
            <a:avLst>
              <a:gd name="adj" fmla="val 2830"/>
            </a:avLst>
          </a:prstGeom>
          <a:solidFill>
            <a:srgbClr val="F3F0FF"/>
          </a:solidFill>
          <a:ln w="12700">
            <a:solidFill>
              <a:srgbClr val="F3F0FF"/>
            </a:solidFill>
            <a:prstDash val="solid"/>
          </a:ln>
        </p:spPr>
      </p:sp>
      <p:sp>
        <p:nvSpPr>
          <p:cNvPr id="4" name="Text 2"/>
          <p:cNvSpPr txBox="1"/>
          <p:nvPr/>
        </p:nvSpPr>
        <p:spPr>
          <a:xfrm>
            <a:off x="777240" y="1508760"/>
            <a:ext cx="4861408" cy="548640"/>
          </a:xfrm>
          <a:prstGeom prst="rect">
            <a:avLst/>
          </a:prstGeom>
          <a:noFill/>
          <a:ln/>
        </p:spPr>
        <p:txBody>
          <a:bodyPr wrap="square" lIns="0" tIns="0" rIns="0" bIns="0" rtlCol="0" anchor="t"/>
          <a:lstStyle/>
          <a:p>
            <a:pPr algn="l" indent="0" marL="0">
              <a:buNone/>
            </a:pPr>
            <a:r>
              <a:rPr lang="en-US" altLang="en-US" sz="2000" b="1" dirty="0">
                <a:solidFill>
                  <a:srgbClr val="512BD4"/>
                </a:solidFill>
                <a:latin typeface="Arial" pitchFamily="34" charset="0"/>
                <a:ea typeface="Arial" pitchFamily="34" charset="-122"/>
                <a:cs typeface="Arial" pitchFamily="34" charset="-120"/>
              </a:rPr>
              <a:t>abstract class</a:t>
            </a:r>
            <a:endParaRPr lang="en-US" sz="2000" dirty="0"/>
          </a:p>
        </p:txBody>
      </p:sp>
      <p:sp>
        <p:nvSpPr>
          <p:cNvPr id="5" name="Text 3"/>
          <p:cNvSpPr txBox="1"/>
          <p:nvPr/>
        </p:nvSpPr>
        <p:spPr>
          <a:xfrm>
            <a:off x="777240" y="2103120"/>
            <a:ext cx="4861408" cy="3931920"/>
          </a:xfrm>
          <a:prstGeom prst="rect">
            <a:avLst/>
          </a:prstGeom>
          <a:noFill/>
          <a:ln/>
        </p:spPr>
        <p:txBody>
          <a:bodyPr wrap="square" lIns="0" tIns="0" rIns="0" bIns="0" rtlCol="0" anchor="t"/>
          <a:lstStyle/>
          <a:p>
            <a:pPr algn="l" marL="342900" indent="-342900">
              <a:spcAft>
                <a:spcPts val="800"/>
              </a:spcAft>
              <a:buSzPct val="100000"/>
              <a:buChar char="•"/>
            </a:pPr>
            <a:r>
              <a:rPr lang="en-US" altLang="en-US" sz="1700" dirty="0">
                <a:solidFill>
                  <a:srgbClr val="1F1B2E"/>
                </a:solidFill>
                <a:latin typeface="Arial" pitchFamily="34" charset="0"/>
                <a:ea typeface="Arial" pitchFamily="34" charset="-122"/>
                <a:cs typeface="Arial" pitchFamily="34" charset="-120"/>
              </a:rPr>
              <a:t>Single inheritance only</a:t>
            </a:r>
            <a:endParaRPr lang="en-US" sz="1700" dirty="0"/>
          </a:p>
          <a:p>
            <a:pPr algn="l" marL="342900" indent="-342900">
              <a:spcAft>
                <a:spcPts val="800"/>
              </a:spcAft>
              <a:buSzPct val="100000"/>
              <a:buChar char="•"/>
            </a:pPr>
            <a:r>
              <a:rPr lang="en-US" altLang="en-US" sz="1700" dirty="0">
                <a:solidFill>
                  <a:srgbClr val="1F1B2E"/>
                </a:solidFill>
                <a:latin typeface="Arial" pitchFamily="34" charset="0"/>
                <a:ea typeface="Arial" pitchFamily="34" charset="-122"/>
                <a:cs typeface="Arial" pitchFamily="34" charset="-120"/>
              </a:rPr>
              <a:t>Fields, constructors, shared implementation</a:t>
            </a:r>
            <a:endParaRPr lang="en-US" sz="1700" dirty="0"/>
          </a:p>
          <a:p>
            <a:pPr algn="l" marL="342900" indent="-342900">
              <a:spcAft>
                <a:spcPts val="800"/>
              </a:spcAft>
              <a:buSzPct val="100000"/>
              <a:buChar char="•"/>
            </a:pPr>
            <a:r>
              <a:rPr lang="en-US" altLang="en-US" sz="1700" dirty="0">
                <a:solidFill>
                  <a:srgbClr val="1F1B2E"/>
                </a:solidFill>
                <a:latin typeface="Arial" pitchFamily="34" charset="0"/>
                <a:ea typeface="Arial" pitchFamily="34" charset="-122"/>
                <a:cs typeface="Arial" pitchFamily="34" charset="-120"/>
              </a:rPr>
              <a:t>Strong is-a relation</a:t>
            </a:r>
            <a:endParaRPr lang="en-US" sz="1700" dirty="0"/>
          </a:p>
          <a:p>
            <a:pPr algn="l" marL="342900" indent="-342900">
              <a:spcAft>
                <a:spcPts val="800"/>
              </a:spcAft>
              <a:buSzPct val="100000"/>
              <a:buChar char="•"/>
            </a:pPr>
            <a:r>
              <a:rPr lang="en-US" altLang="en-US" sz="1700" dirty="0">
                <a:solidFill>
                  <a:srgbClr val="1F1B2E"/>
                </a:solidFill>
                <a:latin typeface="Arial" pitchFamily="34" charset="0"/>
                <a:ea typeface="Arial" pitchFamily="34" charset="-122"/>
                <a:cs typeface="Arial" pitchFamily="34" charset="-120"/>
              </a:rPr>
              <a:t>Shape, Employee</a:t>
            </a:r>
            <a:endParaRPr lang="en-US" sz="1700" dirty="0"/>
          </a:p>
        </p:txBody>
      </p:sp>
      <p:sp>
        <p:nvSpPr>
          <p:cNvPr id="6" name="Shape 4"/>
          <p:cNvSpPr/>
          <p:nvPr/>
        </p:nvSpPr>
        <p:spPr>
          <a:xfrm>
            <a:off x="6324448" y="1371600"/>
            <a:ext cx="5318608" cy="4846320"/>
          </a:xfrm>
          <a:prstGeom prst="roundRect">
            <a:avLst>
              <a:gd name="adj" fmla="val 2830"/>
            </a:avLst>
          </a:prstGeom>
          <a:solidFill>
            <a:srgbClr val="F3F0FF"/>
          </a:solidFill>
          <a:ln w="12700">
            <a:solidFill>
              <a:srgbClr val="F3F0FF"/>
            </a:solidFill>
            <a:prstDash val="solid"/>
          </a:ln>
        </p:spPr>
      </p:sp>
      <p:sp>
        <p:nvSpPr>
          <p:cNvPr id="7" name="Text 5"/>
          <p:cNvSpPr txBox="1"/>
          <p:nvPr/>
        </p:nvSpPr>
        <p:spPr>
          <a:xfrm>
            <a:off x="6553048" y="1508760"/>
            <a:ext cx="4861408" cy="548640"/>
          </a:xfrm>
          <a:prstGeom prst="rect">
            <a:avLst/>
          </a:prstGeom>
          <a:noFill/>
          <a:ln/>
        </p:spPr>
        <p:txBody>
          <a:bodyPr wrap="square" lIns="0" tIns="0" rIns="0" bIns="0" rtlCol="0" anchor="t"/>
          <a:lstStyle/>
          <a:p>
            <a:pPr algn="l" indent="0" marL="0">
              <a:buNone/>
            </a:pPr>
            <a:r>
              <a:rPr lang="en-US" altLang="en-US" sz="2000" b="1" dirty="0">
                <a:solidFill>
                  <a:srgbClr val="512BD4"/>
                </a:solidFill>
                <a:latin typeface="Arial" pitchFamily="34" charset="0"/>
                <a:ea typeface="Arial" pitchFamily="34" charset="-122"/>
                <a:cs typeface="Arial" pitchFamily="34" charset="-120"/>
              </a:rPr>
              <a:t>interface</a:t>
            </a:r>
            <a:endParaRPr lang="en-US" sz="2000" dirty="0"/>
          </a:p>
        </p:txBody>
      </p:sp>
      <p:sp>
        <p:nvSpPr>
          <p:cNvPr id="8" name="Text 6"/>
          <p:cNvSpPr txBox="1"/>
          <p:nvPr/>
        </p:nvSpPr>
        <p:spPr>
          <a:xfrm>
            <a:off x="6553048" y="2103120"/>
            <a:ext cx="4861408" cy="3931920"/>
          </a:xfrm>
          <a:prstGeom prst="rect">
            <a:avLst/>
          </a:prstGeom>
          <a:noFill/>
          <a:ln/>
        </p:spPr>
        <p:txBody>
          <a:bodyPr wrap="square" lIns="0" tIns="0" rIns="0" bIns="0" rtlCol="0" anchor="t"/>
          <a:lstStyle/>
          <a:p>
            <a:pPr algn="l" marL="342900" indent="-342900">
              <a:spcAft>
                <a:spcPts val="800"/>
              </a:spcAft>
              <a:buSzPct val="100000"/>
              <a:buChar char="•"/>
            </a:pPr>
            <a:r>
              <a:rPr lang="en-US" altLang="en-US" sz="1700" dirty="0">
                <a:solidFill>
                  <a:srgbClr val="1F1B2E"/>
                </a:solidFill>
                <a:latin typeface="Arial" pitchFamily="34" charset="0"/>
                <a:ea typeface="Arial" pitchFamily="34" charset="-122"/>
                <a:cs typeface="Arial" pitchFamily="34" charset="-120"/>
              </a:rPr>
              <a:t>As many as you like</a:t>
            </a:r>
            <a:endParaRPr lang="en-US" sz="1700" dirty="0"/>
          </a:p>
          <a:p>
            <a:pPr algn="l" marL="342900" indent="-342900">
              <a:spcAft>
                <a:spcPts val="800"/>
              </a:spcAft>
              <a:buSzPct val="100000"/>
              <a:buChar char="•"/>
            </a:pPr>
            <a:r>
              <a:rPr lang="en-US" altLang="en-US" sz="1700" dirty="0">
                <a:solidFill>
                  <a:srgbClr val="1F1B2E"/>
                </a:solidFill>
                <a:latin typeface="Arial" pitchFamily="34" charset="0"/>
                <a:ea typeface="Arial" pitchFamily="34" charset="-122"/>
                <a:cs typeface="Arial" pitchFamily="34" charset="-120"/>
              </a:rPr>
              <a:t>Contract (+ default members)</a:t>
            </a:r>
            <a:endParaRPr lang="en-US" sz="1700" dirty="0"/>
          </a:p>
          <a:p>
            <a:pPr algn="l" marL="342900" indent="-342900">
              <a:spcAft>
                <a:spcPts val="800"/>
              </a:spcAft>
              <a:buSzPct val="100000"/>
              <a:buChar char="•"/>
            </a:pPr>
            <a:r>
              <a:rPr lang="en-US" altLang="en-US" sz="1700" dirty="0">
                <a:solidFill>
                  <a:srgbClr val="1F1B2E"/>
                </a:solidFill>
                <a:latin typeface="Arial" pitchFamily="34" charset="0"/>
                <a:ea typeface="Arial" pitchFamily="34" charset="-122"/>
                <a:cs typeface="Arial" pitchFamily="34" charset="-120"/>
              </a:rPr>
              <a:t>A capability: can-do</a:t>
            </a:r>
            <a:endParaRPr lang="en-US" sz="1700" dirty="0"/>
          </a:p>
          <a:p>
            <a:pPr algn="l" marL="342900" indent="-342900">
              <a:spcAft>
                <a:spcPts val="800"/>
              </a:spcAft>
              <a:buSzPct val="100000"/>
              <a:buChar char="•"/>
            </a:pPr>
            <a:r>
              <a:rPr lang="en-US" altLang="en-US" sz="1700" dirty="0">
                <a:solidFill>
                  <a:srgbClr val="1F1B2E"/>
                </a:solidFill>
                <a:latin typeface="Arial" pitchFamily="34" charset="0"/>
                <a:ea typeface="Arial" pitchFamily="34" charset="-122"/>
                <a:cs typeface="Arial" pitchFamily="34" charset="-120"/>
              </a:rPr>
              <a:t>IPayable, IDisposable, IComparable</a:t>
            </a:r>
            <a:endParaRPr lang="en-US" sz="1700" dirty="0"/>
          </a:p>
        </p:txBody>
      </p:sp>
      <p:sp>
        <p:nvSpPr>
          <p:cNvPr id="9" name="Text 7"/>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10"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Composition over inheritance</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508760"/>
            <a:ext cx="6858000" cy="4617720"/>
          </a:xfrm>
          <a:prstGeom prst="rect">
            <a:avLst/>
          </a:prstGeom>
          <a:noFill/>
          <a:ln/>
        </p:spPr>
        <p:txBody>
          <a:bodyPr wrap="square" lIns="635" tIns="635" rIns="635" bIns="635" rtlCol="0" anchor="t"/>
          <a:lstStyle/>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 ❌ an order service "is a" logger?</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class OrderService : ConsoleLogger { }</a:t>
            </a:r>
            <a:endParaRPr lang="en-US" sz="1400" dirty="0"/>
          </a:p>
          <a:p>
            <a:pPr algn="l" indent="0" marL="0">
              <a:buNone/>
            </a:pP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 ✅ it has a logger — and any logger will do</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interface ILogger { void Log(string message); }</a:t>
            </a:r>
            <a:endParaRPr lang="en-US" sz="1400" dirty="0"/>
          </a:p>
          <a:p>
            <a:pPr algn="l" indent="0" marL="0">
              <a:buNone/>
            </a:pP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class ConsoleLogger : ILogger</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    public void Log(string m) =&gt; Console.WriteLine(m);</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a:t>
            </a:r>
            <a:endParaRPr lang="en-US" sz="1400" dirty="0"/>
          </a:p>
          <a:p>
            <a:pPr algn="l" indent="0" marL="0">
              <a:buNone/>
            </a:pP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class OrderService(ILogger logger)</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    public void Place(string id)</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    {</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        logger.Log($"placing {id}");</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    }</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a:t>
            </a:r>
            <a:endParaRPr lang="en-US" sz="1400" dirty="0"/>
          </a:p>
          <a:p>
            <a:pPr algn="l" indent="0" marL="0">
              <a:buNone/>
            </a:pP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var svc = new OrderService(new ConsoleLogger());</a:t>
            </a:r>
            <a:endParaRPr lang="en-US" sz="1400" dirty="0"/>
          </a:p>
        </p:txBody>
      </p:sp>
      <p:sp>
        <p:nvSpPr>
          <p:cNvPr id="5" name="Text 3"/>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Inheritance = the strongest coupling; the child depends on every detail of the parent</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has-a instead of is-a in most cases</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Swap the implementation: a file, a fake for tests</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This is the basis of Dependency Injection (Day 4)</a:t>
            </a:r>
            <a:endParaRPr lang="en-US" sz="16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is / as / pattern matching</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508760"/>
            <a:ext cx="6858000" cy="4617720"/>
          </a:xfrm>
          <a:prstGeom prst="rect">
            <a:avLst/>
          </a:prstGeom>
          <a:noFill/>
          <a:ln/>
        </p:spPr>
        <p:txBody>
          <a:bodyPr wrap="square" lIns="635" tIns="635" rIns="635" bIns="635" rtlCol="0" anchor="t"/>
          <a:lstStyle/>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if (shape is Circle c) Console.WriteLine(c.Radius);</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var rect = shape as Rectangle;        // null if it doesn't match</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var forced = (Rectangle)shape;        // InvalidCastException</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string label = shape switch</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Circle { Radius: &gt; 10 } =&gt; "big circle",</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Circle c                =&gt; $"circle r={c.Radius}",</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Rectangle { Width: var w, Height: var h } when w == h</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=&gt; "square-ish",</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null                    =&gt; "nothing",</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_                       =&gt; "other",</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p:txBody>
      </p:sp>
      <p:sp>
        <p:nvSpPr>
          <p:cNvPr id="5" name="Text 3"/>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is — test + cast + new variable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Property pattern { Prop: condition }</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when — an extra condition</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Order: specific before general</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Switching on types everywhere? Maybe a virtual is missing</a:t>
            </a:r>
            <a:endParaRPr lang="en-US" sz="16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ToString, Equals, GetHashCode</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508760"/>
            <a:ext cx="6858000" cy="4617720"/>
          </a:xfrm>
          <a:prstGeom prst="rect">
            <a:avLst/>
          </a:prstGeom>
          <a:noFill/>
          <a:ln/>
        </p:spPr>
        <p:txBody>
          <a:bodyPr wrap="square" lIns="635" tIns="635" rIns="635" bIns="635" rtlCol="0" anchor="t"/>
          <a:lstStyle/>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class Money(decimal amount, string currency)</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    public decimal Amount =&gt; amount;</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    public string Currency =&gt; currency;</a:t>
            </a:r>
            <a:endParaRPr lang="en-US" sz="1500" dirty="0"/>
          </a:p>
          <a:p>
            <a:pPr algn="l" indent="0" marL="0">
              <a:buNone/>
            </a:pP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    public override bool Equals(object? obj) =&gt;</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        obj is Money o &amp;&amp; o.Amount == Amount</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                       &amp;&amp; o.Currency == Currency;</a:t>
            </a:r>
            <a:endParaRPr lang="en-US" sz="1500" dirty="0"/>
          </a:p>
          <a:p>
            <a:pPr algn="l" indent="0" marL="0">
              <a:buNone/>
            </a:pP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    public override int GetHashCode()</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        =&gt; HashCode.Combine(Amount, Currency);</a:t>
            </a:r>
            <a:endParaRPr lang="en-US" sz="1500" dirty="0"/>
          </a:p>
          <a:p>
            <a:pPr algn="l" indent="0" marL="0">
              <a:buNone/>
            </a:pP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    public override string ToString()</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        =&gt; $"{Amount} {Currency}";</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a:t>
            </a:r>
            <a:endParaRPr lang="en-US" sz="1500" dirty="0"/>
          </a:p>
          <a:p>
            <a:pPr algn="l" indent="0" marL="0">
              <a:buNone/>
            </a:pP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 or simply:</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record Money(decimal Amount, string Currency);</a:t>
            </a:r>
            <a:endParaRPr lang="en-US" sz="1500" dirty="0"/>
          </a:p>
        </p:txBody>
      </p:sp>
      <p:sp>
        <p:nvSpPr>
          <p:cNvPr id="5" name="Text 3"/>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Default: Equals by reference, ToString = type name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Equals and GetHashCode — always together</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Dictionary / HashSet rely on them</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A record does all of this automatically</a:t>
            </a:r>
            <a:endParaRPr lang="en-US" sz="16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F0FF"/>
        </a:solidFill>
      </p:bgPr>
    </p:bg>
    <p:spTree>
      <p:nvGrpSpPr>
        <p:cNvPr id="1" name=""/>
        <p:cNvGrpSpPr/>
        <p:nvPr/>
      </p:nvGrpSpPr>
      <p:grpSpPr>
        <a:xfrm>
          <a:off x="0" y="0"/>
          <a:ext cx="0" cy="0"/>
          <a:chOff x="0" y="0"/>
          <a:chExt cx="0" cy="0"/>
        </a:xfrm>
      </p:grpSpPr>
      <p:sp>
        <p:nvSpPr>
          <p:cNvPr id="2" name="Shape 0"/>
          <p:cNvSpPr/>
          <p:nvPr/>
        </p:nvSpPr>
        <p:spPr>
          <a:xfrm>
            <a:off x="548640" y="411480"/>
            <a:ext cx="822960" cy="822960"/>
          </a:xfrm>
          <a:prstGeom prst="ellipse">
            <a:avLst/>
          </a:prstGeom>
          <a:solidFill>
            <a:srgbClr val="FFB020"/>
          </a:solidFill>
          <a:ln w="12700">
            <a:solidFill>
              <a:srgbClr val="FFB020"/>
            </a:solidFill>
            <a:prstDash val="solid"/>
          </a:ln>
        </p:spPr>
      </p:sp>
      <p:pic>
        <p:nvPicPr>
          <p:cNvPr id="3" name="Image 0" descr="preencoded.png">    </p:cNvPr>
          <p:cNvPicPr>
            <a:picLocks noChangeAspect="1"/>
          </p:cNvPicPr>
          <p:nvPr/>
        </p:nvPicPr>
        <p:blipFill>
          <a:blip r:embed="rId1"/>
          <a:stretch>
            <a:fillRect/>
          </a:stretch>
        </p:blipFill>
        <p:spPr>
          <a:xfrm>
            <a:off x="754380" y="617220"/>
            <a:ext cx="411480" cy="411480"/>
          </a:xfrm>
          <a:prstGeom prst="rect">
            <a:avLst/>
          </a:prstGeom>
        </p:spPr>
      </p:pic>
      <p:sp>
        <p:nvSpPr>
          <p:cNvPr id="4" name="Text 1"/>
          <p:cNvSpPr txBox="1"/>
          <p:nvPr/>
        </p:nvSpPr>
        <p:spPr>
          <a:xfrm>
            <a:off x="1554480" y="365760"/>
            <a:ext cx="1008857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Lab 2 — Shapes and Employees</a:t>
            </a:r>
            <a:endParaRPr lang="en-US" sz="3200" dirty="0"/>
          </a:p>
        </p:txBody>
      </p:sp>
      <p:sp>
        <p:nvSpPr>
          <p:cNvPr id="5" name="Shape 2"/>
          <p:cNvSpPr/>
          <p:nvPr/>
        </p:nvSpPr>
        <p:spPr>
          <a:xfrm>
            <a:off x="548640" y="1371600"/>
            <a:ext cx="6949440" cy="4846320"/>
          </a:xfrm>
          <a:prstGeom prst="roundRect">
            <a:avLst>
              <a:gd name="adj" fmla="val 2830"/>
            </a:avLst>
          </a:prstGeom>
          <a:solidFill>
            <a:srgbClr val="FFFFFF"/>
          </a:solidFill>
          <a:ln w="12700">
            <a:solidFill>
              <a:srgbClr val="FFFFFF"/>
            </a:solidFill>
            <a:prstDash val="solid"/>
          </a:ln>
        </p:spPr>
      </p:sp>
      <p:sp>
        <p:nvSpPr>
          <p:cNvPr id="6" name="Text 3"/>
          <p:cNvSpPr txBox="1"/>
          <p:nvPr/>
        </p:nvSpPr>
        <p:spPr>
          <a:xfrm>
            <a:off x="777240" y="1508760"/>
            <a:ext cx="6492240" cy="457200"/>
          </a:xfrm>
          <a:prstGeom prst="rect">
            <a:avLst/>
          </a:prstGeom>
          <a:noFill/>
          <a:ln/>
        </p:spPr>
        <p:txBody>
          <a:bodyPr wrap="square" lIns="0" tIns="0" rIns="0" bIns="0" rtlCol="0" anchor="t"/>
          <a:lstStyle/>
          <a:p>
            <a:pPr algn="l" indent="0" marL="0">
              <a:buNone/>
            </a:pPr>
            <a:r>
              <a:rPr lang="en-US" altLang="en-US" sz="1800" b="1" dirty="0">
                <a:solidFill>
                  <a:srgbClr val="512BD4"/>
                </a:solidFill>
                <a:latin typeface="Arial" pitchFamily="34" charset="0"/>
                <a:ea typeface="Arial" pitchFamily="34" charset="-122"/>
                <a:cs typeface="Arial" pitchFamily="34" charset="-120"/>
              </a:rPr>
              <a:t>Tasks</a:t>
            </a:r>
            <a:endParaRPr lang="en-US" sz="1800" dirty="0"/>
          </a:p>
        </p:txBody>
      </p:sp>
      <p:sp>
        <p:nvSpPr>
          <p:cNvPr id="7" name="Text 4"/>
          <p:cNvSpPr txBox="1"/>
          <p:nvPr/>
        </p:nvSpPr>
        <p:spPr>
          <a:xfrm>
            <a:off x="777240" y="2011680"/>
            <a:ext cx="6492240" cy="4114800"/>
          </a:xfrm>
          <a:prstGeom prst="rect">
            <a:avLst/>
          </a:prstGeom>
          <a:noFill/>
          <a:ln/>
        </p:spPr>
        <p:txBody>
          <a:bodyPr wrap="square" lIns="0" tIns="0" rIns="0" bIns="0" rtlCol="0" anchor="t"/>
          <a:lstStyle/>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Abstract Shape: Name, Area(), Perimeter(), shared ToString</a:t>
            </a:r>
            <a:endParaRPr lang="en-US" sz="1400" dirty="0"/>
          </a:p>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Triangle validates the triangle inequality in its constructor; Square : Rectangle, sealed</a:t>
            </a:r>
            <a:endParaRPr lang="en-US" sz="1400" dirty="0"/>
          </a:p>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IPayable with a default member PaySlip()</a:t>
            </a:r>
            <a:endParaRPr lang="en-US" sz="1400" dirty="0"/>
          </a:p>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Abstract Employee : IPayable; Salaried / Hourly (overtime ×1.5)</a:t>
            </a:r>
            <a:endParaRPr lang="en-US" sz="1400" dirty="0"/>
          </a:p>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Manager : SalariedEmployee with Bonus and Reports; base.CalculateMonthlyPay()</a:t>
            </a:r>
            <a:endParaRPr lang="en-US" sz="1400" dirty="0"/>
          </a:p>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Contractor implements IPayable without inheriting Employee; Payroll with List&lt;IPayable&gt;</a:t>
            </a:r>
            <a:endParaRPr lang="en-US" sz="1400" dirty="0"/>
          </a:p>
        </p:txBody>
      </p:sp>
      <p:sp>
        <p:nvSpPr>
          <p:cNvPr id="8" name="Shape 5"/>
          <p:cNvSpPr/>
          <p:nvPr/>
        </p:nvSpPr>
        <p:spPr>
          <a:xfrm>
            <a:off x="7863840" y="1371600"/>
            <a:ext cx="3779215" cy="1432560"/>
          </a:xfrm>
          <a:prstGeom prst="roundRect">
            <a:avLst>
              <a:gd name="adj" fmla="val 9574"/>
            </a:avLst>
          </a:prstGeom>
          <a:solidFill>
            <a:srgbClr val="FFFFFF"/>
          </a:solidFill>
          <a:ln w="12700">
            <a:solidFill>
              <a:srgbClr val="FFFFFF"/>
            </a:solidFill>
            <a:prstDash val="solid"/>
          </a:ln>
        </p:spPr>
      </p:sp>
      <p:sp>
        <p:nvSpPr>
          <p:cNvPr id="9" name="Shape 6"/>
          <p:cNvSpPr/>
          <p:nvPr/>
        </p:nvSpPr>
        <p:spPr>
          <a:xfrm>
            <a:off x="8046720" y="1554480"/>
            <a:ext cx="457200" cy="457200"/>
          </a:xfrm>
          <a:prstGeom prst="ellipse">
            <a:avLst/>
          </a:prstGeom>
          <a:solidFill>
            <a:srgbClr val="512BD4"/>
          </a:solidFill>
          <a:ln w="12700">
            <a:solidFill>
              <a:srgbClr val="512BD4"/>
            </a:solidFill>
            <a:prstDash val="solid"/>
          </a:ln>
        </p:spPr>
      </p:sp>
      <p:pic>
        <p:nvPicPr>
          <p:cNvPr id="10" name="Image 1" descr="preencoded.png">    </p:cNvPr>
          <p:cNvPicPr>
            <a:picLocks noChangeAspect="1"/>
          </p:cNvPicPr>
          <p:nvPr/>
        </p:nvPicPr>
        <p:blipFill>
          <a:blip r:embed="rId2"/>
          <a:stretch>
            <a:fillRect/>
          </a:stretch>
        </p:blipFill>
        <p:spPr>
          <a:xfrm>
            <a:off x="8161020" y="1668780"/>
            <a:ext cx="228600" cy="228600"/>
          </a:xfrm>
          <a:prstGeom prst="rect">
            <a:avLst/>
          </a:prstGeom>
        </p:spPr>
      </p:pic>
      <p:sp>
        <p:nvSpPr>
          <p:cNvPr id="11" name="Text 7"/>
          <p:cNvSpPr txBox="1"/>
          <p:nvPr/>
        </p:nvSpPr>
        <p:spPr>
          <a:xfrm>
            <a:off x="8686800" y="1554480"/>
            <a:ext cx="2773375" cy="457200"/>
          </a:xfrm>
          <a:prstGeom prst="rect">
            <a:avLst/>
          </a:prstGeom>
          <a:noFill/>
          <a:ln/>
        </p:spPr>
        <p:txBody>
          <a:bodyPr wrap="square" lIns="0" tIns="0" rIns="0" bIns="0" rtlCol="0" anchor="ctr"/>
          <a:lstStyle/>
          <a:p>
            <a:pPr algn="l" indent="0" marL="0">
              <a:buNone/>
            </a:pPr>
            <a:r>
              <a:rPr lang="en-US" altLang="en-US" sz="1400" b="1" dirty="0">
                <a:solidFill>
                  <a:srgbClr val="512BD4"/>
                </a:solidFill>
                <a:latin typeface="Arial" pitchFamily="34" charset="0"/>
                <a:ea typeface="Arial" pitchFamily="34" charset="-122"/>
                <a:cs typeface="Arial" pitchFamily="34" charset="-120"/>
              </a:rPr>
              <a:t>Goal</a:t>
            </a:r>
            <a:endParaRPr lang="en-US" sz="1400" dirty="0"/>
          </a:p>
        </p:txBody>
      </p:sp>
      <p:sp>
        <p:nvSpPr>
          <p:cNvPr id="12" name="Text 8"/>
          <p:cNvSpPr txBox="1"/>
          <p:nvPr/>
        </p:nvSpPr>
        <p:spPr>
          <a:xfrm>
            <a:off x="8046720" y="2057400"/>
            <a:ext cx="3413455" cy="60960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Abstract Shape (Circle/Rectangle/Triangle/Square) and a payroll: Employee, Manager, HourlyEmployee, Contractor via IPayable.</a:t>
            </a:r>
            <a:endParaRPr lang="en-US" sz="1300" dirty="0"/>
          </a:p>
        </p:txBody>
      </p:sp>
      <p:sp>
        <p:nvSpPr>
          <p:cNvPr id="13" name="Shape 9"/>
          <p:cNvSpPr/>
          <p:nvPr/>
        </p:nvSpPr>
        <p:spPr>
          <a:xfrm>
            <a:off x="7863840" y="3078480"/>
            <a:ext cx="3779215" cy="1432560"/>
          </a:xfrm>
          <a:prstGeom prst="roundRect">
            <a:avLst>
              <a:gd name="adj" fmla="val 9574"/>
            </a:avLst>
          </a:prstGeom>
          <a:solidFill>
            <a:srgbClr val="FFFFFF"/>
          </a:solidFill>
          <a:ln w="12700">
            <a:solidFill>
              <a:srgbClr val="FFFFFF"/>
            </a:solidFill>
            <a:prstDash val="solid"/>
          </a:ln>
        </p:spPr>
      </p:sp>
      <p:sp>
        <p:nvSpPr>
          <p:cNvPr id="14" name="Shape 10"/>
          <p:cNvSpPr/>
          <p:nvPr/>
        </p:nvSpPr>
        <p:spPr>
          <a:xfrm>
            <a:off x="8046720" y="3261360"/>
            <a:ext cx="457200" cy="457200"/>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8161020" y="3375660"/>
            <a:ext cx="228600" cy="228600"/>
          </a:xfrm>
          <a:prstGeom prst="rect">
            <a:avLst/>
          </a:prstGeom>
        </p:spPr>
      </p:pic>
      <p:sp>
        <p:nvSpPr>
          <p:cNvPr id="16" name="Text 11"/>
          <p:cNvSpPr txBox="1"/>
          <p:nvPr/>
        </p:nvSpPr>
        <p:spPr>
          <a:xfrm>
            <a:off x="8686800" y="3261360"/>
            <a:ext cx="2773375" cy="457200"/>
          </a:xfrm>
          <a:prstGeom prst="rect">
            <a:avLst/>
          </a:prstGeom>
          <a:noFill/>
          <a:ln/>
        </p:spPr>
        <p:txBody>
          <a:bodyPr wrap="square" lIns="0" tIns="0" rIns="0" bIns="0" rtlCol="0" anchor="ctr"/>
          <a:lstStyle/>
          <a:p>
            <a:pPr algn="l" indent="0" marL="0">
              <a:buNone/>
            </a:pPr>
            <a:r>
              <a:rPr lang="en-US" altLang="en-US" sz="1400" b="1" dirty="0">
                <a:solidFill>
                  <a:srgbClr val="512BD4"/>
                </a:solidFill>
                <a:latin typeface="Arial" pitchFamily="34" charset="0"/>
                <a:ea typeface="Arial" pitchFamily="34" charset="-122"/>
                <a:cs typeface="Arial" pitchFamily="34" charset="-120"/>
              </a:rPr>
              <a:t>Duration</a:t>
            </a:r>
            <a:endParaRPr lang="en-US" sz="1400" dirty="0"/>
          </a:p>
        </p:txBody>
      </p:sp>
      <p:sp>
        <p:nvSpPr>
          <p:cNvPr id="17" name="Text 12"/>
          <p:cNvSpPr txBox="1"/>
          <p:nvPr/>
        </p:nvSpPr>
        <p:spPr>
          <a:xfrm>
            <a:off x="8046720" y="3764280"/>
            <a:ext cx="3413455" cy="60960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60 minutes</a:t>
            </a:r>
            <a:endParaRPr lang="en-US" sz="1300" dirty="0"/>
          </a:p>
        </p:txBody>
      </p:sp>
      <p:sp>
        <p:nvSpPr>
          <p:cNvPr id="18" name="Shape 13"/>
          <p:cNvSpPr/>
          <p:nvPr/>
        </p:nvSpPr>
        <p:spPr>
          <a:xfrm>
            <a:off x="7863840" y="4785360"/>
            <a:ext cx="3779215" cy="1432560"/>
          </a:xfrm>
          <a:prstGeom prst="roundRect">
            <a:avLst>
              <a:gd name="adj" fmla="val 9574"/>
            </a:avLst>
          </a:prstGeom>
          <a:solidFill>
            <a:srgbClr val="FFFFFF"/>
          </a:solidFill>
          <a:ln w="12700">
            <a:solidFill>
              <a:srgbClr val="FFFFFF"/>
            </a:solidFill>
            <a:prstDash val="solid"/>
          </a:ln>
        </p:spPr>
      </p:sp>
      <p:sp>
        <p:nvSpPr>
          <p:cNvPr id="19" name="Shape 14"/>
          <p:cNvSpPr/>
          <p:nvPr/>
        </p:nvSpPr>
        <p:spPr>
          <a:xfrm>
            <a:off x="8046720" y="4968240"/>
            <a:ext cx="457200" cy="457200"/>
          </a:xfrm>
          <a:prstGeom prst="ellipse">
            <a:avLst/>
          </a:prstGeom>
          <a:solidFill>
            <a:srgbClr val="512BD4"/>
          </a:solidFill>
          <a:ln w="12700">
            <a:solidFill>
              <a:srgbClr val="512BD4"/>
            </a:solidFill>
            <a:prstDash val="solid"/>
          </a:ln>
        </p:spPr>
      </p:sp>
      <p:pic>
        <p:nvPicPr>
          <p:cNvPr id="20" name="Image 3" descr="preencoded.png">    </p:cNvPr>
          <p:cNvPicPr>
            <a:picLocks noChangeAspect="1"/>
          </p:cNvPicPr>
          <p:nvPr/>
        </p:nvPicPr>
        <p:blipFill>
          <a:blip r:embed="rId4"/>
          <a:stretch>
            <a:fillRect/>
          </a:stretch>
        </p:blipFill>
        <p:spPr>
          <a:xfrm>
            <a:off x="8161020" y="5082540"/>
            <a:ext cx="228600" cy="228600"/>
          </a:xfrm>
          <a:prstGeom prst="rect">
            <a:avLst/>
          </a:prstGeom>
        </p:spPr>
      </p:pic>
      <p:sp>
        <p:nvSpPr>
          <p:cNvPr id="21" name="Text 15"/>
          <p:cNvSpPr txBox="1"/>
          <p:nvPr/>
        </p:nvSpPr>
        <p:spPr>
          <a:xfrm>
            <a:off x="8686800" y="4968240"/>
            <a:ext cx="2773375" cy="457200"/>
          </a:xfrm>
          <a:prstGeom prst="rect">
            <a:avLst/>
          </a:prstGeom>
          <a:noFill/>
          <a:ln/>
        </p:spPr>
        <p:txBody>
          <a:bodyPr wrap="square" lIns="0" tIns="0" rIns="0" bIns="0" rtlCol="0" anchor="ctr"/>
          <a:lstStyle/>
          <a:p>
            <a:pPr algn="l" indent="0" marL="0">
              <a:buNone/>
            </a:pPr>
            <a:r>
              <a:rPr lang="en-US" altLang="en-US" sz="1400" b="1" dirty="0">
                <a:solidFill>
                  <a:srgbClr val="512BD4"/>
                </a:solidFill>
                <a:latin typeface="Arial" pitchFamily="34" charset="0"/>
                <a:ea typeface="Arial" pitchFamily="34" charset="-122"/>
                <a:cs typeface="Arial" pitchFamily="34" charset="-120"/>
              </a:rPr>
              <a:t>Deliverable</a:t>
            </a:r>
            <a:endParaRPr lang="en-US" sz="1400" dirty="0"/>
          </a:p>
        </p:txBody>
      </p:sp>
      <p:sp>
        <p:nvSpPr>
          <p:cNvPr id="22" name="Text 16"/>
          <p:cNvSpPr txBox="1"/>
          <p:nvPr/>
        </p:nvSpPr>
        <p:spPr>
          <a:xfrm>
            <a:off x="8046720" y="5471160"/>
            <a:ext cx="3413455" cy="60960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Pay slips for every IPayable (78,000 total on sample data), Describe for employees only; bonus: pattern switch.</a:t>
            </a:r>
            <a:endParaRPr lang="en-US" sz="1300" dirty="0"/>
          </a:p>
        </p:txBody>
      </p:sp>
      <p:sp>
        <p:nvSpPr>
          <p:cNvPr id="23" name="Text 17"/>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24" name="Text 1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1340"/>
        </a:solidFill>
      </p:bgPr>
    </p:bg>
    <p:spTree>
      <p:nvGrpSpPr>
        <p:cNvPr id="1" name=""/>
        <p:cNvGrpSpPr/>
        <p:nvPr/>
      </p:nvGrpSpPr>
      <p:grpSpPr>
        <a:xfrm>
          <a:off x="0" y="0"/>
          <a:ext cx="0" cy="0"/>
          <a:chOff x="0" y="0"/>
          <a:chExt cx="0" cy="0"/>
        </a:xfrm>
      </p:grpSpPr>
      <p:sp>
        <p:nvSpPr>
          <p:cNvPr id="2" name="Shape 0"/>
          <p:cNvSpPr/>
          <p:nvPr/>
        </p:nvSpPr>
        <p:spPr>
          <a:xfrm>
            <a:off x="-2926080" y="-2743200"/>
            <a:ext cx="7315200" cy="7315200"/>
          </a:xfrm>
          <a:prstGeom prst="ellipse">
            <a:avLst/>
          </a:prstGeom>
          <a:solidFill>
            <a:srgbClr val="512BD4">
              <a:alpha val="28000"/>
            </a:srgbClr>
          </a:solidFill>
          <a:ln w="12700">
            <a:solidFill>
              <a:srgbClr val="512BD4">
                <a:alpha val="0"/>
              </a:srgbClr>
            </a:solidFill>
            <a:prstDash val="solid"/>
          </a:ln>
        </p:spPr>
      </p:sp>
      <p:sp>
        <p:nvSpPr>
          <p:cNvPr id="3" name="Text 1"/>
          <p:cNvSpPr txBox="1"/>
          <p:nvPr/>
        </p:nvSpPr>
        <p:spPr>
          <a:xfrm>
            <a:off x="7711135" y="1188720"/>
            <a:ext cx="3657600" cy="2743200"/>
          </a:xfrm>
          <a:prstGeom prst="rect">
            <a:avLst/>
          </a:prstGeom>
          <a:noFill/>
          <a:ln/>
        </p:spPr>
        <p:txBody>
          <a:bodyPr wrap="square" lIns="0" tIns="0" rIns="0" bIns="0" rtlCol="0" anchor="ctr"/>
          <a:lstStyle/>
          <a:p>
            <a:pPr algn="r" indent="0" marL="0">
              <a:buNone/>
            </a:pPr>
            <a:r>
              <a:rPr lang="en-US" sz="13000" b="1" dirty="0">
                <a:solidFill>
                  <a:srgbClr val="FFB020"/>
                </a:solidFill>
                <a:latin typeface="Arial" pitchFamily="34" charset="0"/>
                <a:ea typeface="Arial" pitchFamily="34" charset="-122"/>
                <a:cs typeface="Arial" pitchFamily="34" charset="-120"/>
              </a:rPr>
              <a:t>04</a:t>
            </a:r>
            <a:endParaRPr lang="en-US" sz="13000" dirty="0"/>
          </a:p>
        </p:txBody>
      </p:sp>
      <p:sp>
        <p:nvSpPr>
          <p:cNvPr id="4" name="Text 2"/>
          <p:cNvSpPr txBox="1"/>
          <p:nvPr/>
        </p:nvSpPr>
        <p:spPr>
          <a:xfrm>
            <a:off x="548640" y="1828800"/>
            <a:ext cx="7223760" cy="1463040"/>
          </a:xfrm>
          <a:prstGeom prst="rect">
            <a:avLst/>
          </a:prstGeom>
          <a:noFill/>
          <a:ln/>
        </p:spPr>
        <p:txBody>
          <a:bodyPr wrap="square" lIns="0" tIns="0" rIns="0" bIns="0" rtlCol="0" anchor="ctr"/>
          <a:lstStyle/>
          <a:p>
            <a:pPr algn="l" indent="0" marL="0">
              <a:buNone/>
            </a:pPr>
            <a:r>
              <a:rPr lang="en-US" altLang="en-US" sz="4000" b="1" dirty="0">
                <a:solidFill>
                  <a:srgbClr val="FFFFFF"/>
                </a:solidFill>
                <a:latin typeface="Arial" pitchFamily="34" charset="0"/>
                <a:ea typeface="Arial" pitchFamily="34" charset="-122"/>
                <a:cs typeface="Arial" pitchFamily="34" charset="-120"/>
              </a:rPr>
              <a:t>Collections and Generics</a:t>
            </a:r>
            <a:endParaRPr lang="en-US" sz="4000" dirty="0"/>
          </a:p>
        </p:txBody>
      </p:sp>
      <p:sp>
        <p:nvSpPr>
          <p:cNvPr id="5" name="Text 3"/>
          <p:cNvSpPr txBox="1"/>
          <p:nvPr/>
        </p:nvSpPr>
        <p:spPr>
          <a:xfrm>
            <a:off x="548640" y="3383280"/>
            <a:ext cx="7223760" cy="1463040"/>
          </a:xfrm>
          <a:prstGeom prst="rect">
            <a:avLst/>
          </a:prstGeom>
          <a:noFill/>
          <a:ln/>
        </p:spPr>
        <p:txBody>
          <a:bodyPr wrap="square" lIns="0" tIns="0" rIns="0" bIns="0" rtlCol="0" anchor="t"/>
          <a:lstStyle/>
          <a:p>
            <a:pPr algn="l" indent="0" marL="0">
              <a:buNone/>
            </a:pPr>
            <a:r>
              <a:rPr lang="en-US" altLang="en-US" sz="2000" dirty="0">
                <a:solidFill>
                  <a:srgbClr val="CFC7F5"/>
                </a:solidFill>
                <a:latin typeface="Arial" pitchFamily="34" charset="0"/>
                <a:ea typeface="Arial" pitchFamily="34" charset="-122"/>
                <a:cs typeface="Arial" pitchFamily="34" charset="-120"/>
              </a:rPr>
              <a:t>Arrays, List, Dictionary, HashSet, Queue/Stack, IEnumerable, Repository&lt;T&gt;</a:t>
            </a:r>
            <a:endParaRPr lang="en-US" sz="20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A79FD6"/>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9FD6"/>
                </a:solidFill>
                <a:latin typeface="Arial" pitchFamily="34" charset="0"/>
                <a:ea typeface="Arial" pitchFamily="34" charset="-122"/>
                <a:cs typeface="Arial"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Arrays: 1D, 2D, jagged</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508760"/>
            <a:ext cx="6858000" cy="4617720"/>
          </a:xfrm>
          <a:prstGeom prst="rect">
            <a:avLst/>
          </a:prstGeom>
          <a:noFill/>
          <a:ln/>
        </p:spPr>
        <p:txBody>
          <a:bodyPr wrap="square" lIns="635" tIns="635" rIns="635" bIns="635" rtlCol="0" anchor="t"/>
          <a:lstStyle/>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int[] scores = [90, 75, 88];           // collection expression</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int[] zeros = new int[5];</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Console.WriteLine(scores[0]);           // 90</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Console.WriteLine(scores[^1]);          // 88 — from the end</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int[] tail = scores[1..];               // range</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Array.Sort(scores);</a:t>
            </a:r>
            <a:endParaRPr lang="en-US" sz="1400" dirty="0"/>
          </a:p>
          <a:p>
            <a:pPr algn="l" indent="0" marL="0">
              <a:buNone/>
            </a:pP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int[,] grid = { { 1, 2, 3 }, { 4, 5, 6 } };</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Console.WriteLine(grid[1, 2]);          // 6</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Console.WriteLine(grid.GetLength(0));   // 2 rows</a:t>
            </a:r>
            <a:endParaRPr lang="en-US" sz="1400" dirty="0"/>
          </a:p>
          <a:p>
            <a:pPr algn="l" indent="0" marL="0">
              <a:buNone/>
            </a:pP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int[][] jagged = [[1], [2, 3], [4, 5, 6]];</a:t>
            </a:r>
            <a:endParaRPr lang="en-US" sz="1400" dirty="0"/>
          </a:p>
          <a:p>
            <a:pPr algn="l" indent="0" marL="0">
              <a:buNone/>
            </a:pPr>
            <a:r>
              <a:rPr lang="en-US" altLang="en-US" sz="1400" dirty="0">
                <a:solidFill>
                  <a:srgbClr val="E6E6F0"/>
                </a:solidFill>
                <a:latin typeface="Courier New" pitchFamily="34" charset="0"/>
                <a:ea typeface="Courier New" pitchFamily="34" charset="-122"/>
                <a:cs typeface="Courier New" pitchFamily="34" charset="-120"/>
              </a:rPr>
              <a:t>Console.WriteLine(jagged[2].Length);    // 3</a:t>
            </a:r>
            <a:endParaRPr lang="en-US" sz="1400" dirty="0"/>
          </a:p>
        </p:txBody>
      </p:sp>
      <p:sp>
        <p:nvSpPr>
          <p:cNvPr id="5" name="Text 3"/>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Fixed size, O(1) access by index</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Indexes start at 0; ^1 from the end; a..b range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2D for a rectangular matrix; jagged for rows of different lengths</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An array is a reference type</a:t>
            </a:r>
            <a:endParaRPr lang="en-US" sz="16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List&lt;T&gt; and Dictionary&lt;K,V&gt;</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508760"/>
            <a:ext cx="6858000" cy="4617720"/>
          </a:xfrm>
          <a:prstGeom prst="rect">
            <a:avLst/>
          </a:prstGeom>
          <a:noFill/>
          <a:ln/>
        </p:spPr>
        <p:txBody>
          <a:bodyPr wrap="square" lIns="635" tIns="635" rIns="635" bIns="635" rtlCol="0" anchor="t"/>
          <a:lstStyle/>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var names = new List&lt;string&gt; { "Dana", "Yossi" };</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names.Add("Noa");</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names.Remove("Yossi");</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bool has = names.Contains("Noa");       // O(n)</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Console.WriteLine(names.Count);</a:t>
            </a:r>
            <a:endParaRPr lang="en-US" sz="1500" dirty="0"/>
          </a:p>
          <a:p>
            <a:pPr algn="l" indent="0" marL="0">
              <a:buNone/>
            </a:pP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var stock = new Dictionary&lt;string, int&gt;</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    ["apple"] = 10,</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stock["cherry"] = 25;                   // add / update</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stock["apple"] += 5;</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if (stock.TryGetValue("kiwi", out int q)) { }</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foreach (var (fruit, qty) in stock)</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    Console.WriteLine($"{fruit}: {qty}");</a:t>
            </a:r>
            <a:endParaRPr lang="en-US" sz="1500" dirty="0"/>
          </a:p>
          <a:p>
            <a:pPr algn="l" indent="0" marL="0">
              <a:buNone/>
            </a:pP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var byName = new Dictionary&lt;string, Product&gt;(</a:t>
            </a:r>
            <a:endParaRPr lang="en-US" sz="1500" dirty="0"/>
          </a:p>
          <a:p>
            <a:pPr algn="l" indent="0" marL="0">
              <a:buNone/>
            </a:pPr>
            <a:r>
              <a:rPr lang="en-US" altLang="en-US" sz="1500" dirty="0">
                <a:solidFill>
                  <a:srgbClr val="E6E6F0"/>
                </a:solidFill>
                <a:latin typeface="Courier New" pitchFamily="34" charset="0"/>
                <a:ea typeface="Courier New" pitchFamily="34" charset="-122"/>
                <a:cs typeface="Courier New" pitchFamily="34" charset="-120"/>
              </a:rPr>
              <a:t>    StringComparer.OrdinalIgnoreCase);</a:t>
            </a:r>
            <a:endParaRPr lang="en-US" sz="1500" dirty="0"/>
          </a:p>
        </p:txBody>
      </p:sp>
      <p:sp>
        <p:nvSpPr>
          <p:cNvPr id="5" name="Text 3"/>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List — an array that can grow; Count, not Length</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Dictionary — key → value, O(1) lookup</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dict[key] on a missing key → KeyNotFoundException</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TryGetValue / GetValueOrDefault / TryAdd</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StringComparer for case-insensitive keys</a:t>
            </a:r>
            <a:endParaRPr lang="en-US" sz="16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HashSet, Queue, Stack, IEnumerable</a:t>
            </a:r>
            <a:endParaRPr lang="en-US" sz="3200" dirty="0"/>
          </a:p>
        </p:txBody>
      </p:sp>
      <p:sp>
        <p:nvSpPr>
          <p:cNvPr id="3" name="Shape 1"/>
          <p:cNvSpPr/>
          <p:nvPr/>
        </p:nvSpPr>
        <p:spPr>
          <a:xfrm>
            <a:off x="548640" y="1371600"/>
            <a:ext cx="2533574" cy="4846320"/>
          </a:xfrm>
          <a:prstGeom prst="roundRect">
            <a:avLst>
              <a:gd name="adj" fmla="val 5414"/>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777240" y="1600200"/>
            <a:ext cx="640080" cy="640080"/>
          </a:xfrm>
          <a:prstGeom prst="ellipse">
            <a:avLst/>
          </a:prstGeom>
          <a:solidFill>
            <a:srgbClr val="512BD4"/>
          </a:solidFill>
          <a:ln w="12700">
            <a:solidFill>
              <a:srgbClr val="512BD4"/>
            </a:solidFill>
            <a:prstDash val="solid"/>
          </a:ln>
        </p:spPr>
      </p:sp>
      <p:pic>
        <p:nvPicPr>
          <p:cNvPr id="5" name="Image 0" descr="preencoded.png">    </p:cNvPr>
          <p:cNvPicPr>
            <a:picLocks noChangeAspect="1"/>
          </p:cNvPicPr>
          <p:nvPr/>
        </p:nvPicPr>
        <p:blipFill>
          <a:blip r:embed="rId1"/>
          <a:stretch>
            <a:fillRect/>
          </a:stretch>
        </p:blipFill>
        <p:spPr>
          <a:xfrm>
            <a:off x="937260" y="1760220"/>
            <a:ext cx="320040" cy="320040"/>
          </a:xfrm>
          <a:prstGeom prst="rect">
            <a:avLst/>
          </a:prstGeom>
        </p:spPr>
      </p:pic>
      <p:sp>
        <p:nvSpPr>
          <p:cNvPr id="6" name="Text 3"/>
          <p:cNvSpPr txBox="1"/>
          <p:nvPr/>
        </p:nvSpPr>
        <p:spPr>
          <a:xfrm>
            <a:off x="777240" y="2377440"/>
            <a:ext cx="2076374" cy="457200"/>
          </a:xfrm>
          <a:prstGeom prst="rect">
            <a:avLst/>
          </a:prstGeom>
          <a:noFill/>
          <a:ln/>
        </p:spPr>
        <p:txBody>
          <a:bodyPr wrap="square" lIns="0" tIns="0" rIns="0" bIns="0" rtlCol="0" anchor="ctr">
            <a:normAutofit/>
          </a:bodyPr>
          <a:lstStyle/>
          <a:p>
            <a:pPr algn="l" indent="0" marL="0">
              <a:buNone/>
            </a:pPr>
            <a:r>
              <a:rPr lang="en-US" altLang="en-US" sz="1600" b="1" dirty="0">
                <a:solidFill>
                  <a:srgbClr val="1B1340"/>
                </a:solidFill>
                <a:latin typeface="Arial" pitchFamily="34" charset="0"/>
                <a:ea typeface="Arial" pitchFamily="34" charset="-122"/>
                <a:cs typeface="Arial" pitchFamily="34" charset="-120"/>
              </a:rPr>
              <a:t>HashSet&lt;T&gt;</a:t>
            </a:r>
            <a:endParaRPr lang="en-US" sz="1600" dirty="0"/>
          </a:p>
        </p:txBody>
      </p:sp>
      <p:sp>
        <p:nvSpPr>
          <p:cNvPr id="7" name="Text 4"/>
          <p:cNvSpPr txBox="1"/>
          <p:nvPr/>
        </p:nvSpPr>
        <p:spPr>
          <a:xfrm>
            <a:off x="777240" y="2880360"/>
            <a:ext cx="2076374" cy="310896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A set without duplicates, O(1) Contains. Add returns false if present. UnionWith / IntersectWith.</a:t>
            </a:r>
            <a:endParaRPr lang="en-US" sz="1300" dirty="0"/>
          </a:p>
        </p:txBody>
      </p:sp>
      <p:sp>
        <p:nvSpPr>
          <p:cNvPr id="8" name="Shape 5"/>
          <p:cNvSpPr/>
          <p:nvPr/>
        </p:nvSpPr>
        <p:spPr>
          <a:xfrm>
            <a:off x="3402254" y="1371600"/>
            <a:ext cx="2533574" cy="4846320"/>
          </a:xfrm>
          <a:prstGeom prst="roundRect">
            <a:avLst>
              <a:gd name="adj" fmla="val 5414"/>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9" name="Shape 6"/>
          <p:cNvSpPr/>
          <p:nvPr/>
        </p:nvSpPr>
        <p:spPr>
          <a:xfrm>
            <a:off x="3630854" y="1600200"/>
            <a:ext cx="640080" cy="640080"/>
          </a:xfrm>
          <a:prstGeom prst="ellipse">
            <a:avLst/>
          </a:prstGeom>
          <a:solidFill>
            <a:srgbClr val="512BD4"/>
          </a:solidFill>
          <a:ln w="12700">
            <a:solidFill>
              <a:srgbClr val="512BD4"/>
            </a:solidFill>
            <a:prstDash val="solid"/>
          </a:ln>
        </p:spPr>
      </p:sp>
      <p:pic>
        <p:nvPicPr>
          <p:cNvPr id="10" name="Image 1" descr="preencoded.png">    </p:cNvPr>
          <p:cNvPicPr>
            <a:picLocks noChangeAspect="1"/>
          </p:cNvPicPr>
          <p:nvPr/>
        </p:nvPicPr>
        <p:blipFill>
          <a:blip r:embed="rId2"/>
          <a:stretch>
            <a:fillRect/>
          </a:stretch>
        </p:blipFill>
        <p:spPr>
          <a:xfrm>
            <a:off x="3790874" y="1760220"/>
            <a:ext cx="320040" cy="320040"/>
          </a:xfrm>
          <a:prstGeom prst="rect">
            <a:avLst/>
          </a:prstGeom>
        </p:spPr>
      </p:pic>
      <p:sp>
        <p:nvSpPr>
          <p:cNvPr id="11" name="Text 7"/>
          <p:cNvSpPr txBox="1"/>
          <p:nvPr/>
        </p:nvSpPr>
        <p:spPr>
          <a:xfrm>
            <a:off x="3630854" y="2377440"/>
            <a:ext cx="2076374" cy="457200"/>
          </a:xfrm>
          <a:prstGeom prst="rect">
            <a:avLst/>
          </a:prstGeom>
          <a:noFill/>
          <a:ln/>
        </p:spPr>
        <p:txBody>
          <a:bodyPr wrap="square" lIns="0" tIns="0" rIns="0" bIns="0" rtlCol="0" anchor="ctr">
            <a:normAutofit/>
          </a:bodyPr>
          <a:lstStyle/>
          <a:p>
            <a:pPr algn="l" indent="0" marL="0">
              <a:buNone/>
            </a:pPr>
            <a:r>
              <a:rPr lang="en-US" altLang="en-US" sz="1600" b="1" dirty="0">
                <a:solidFill>
                  <a:srgbClr val="1B1340"/>
                </a:solidFill>
                <a:latin typeface="Arial" pitchFamily="34" charset="0"/>
                <a:ea typeface="Arial" pitchFamily="34" charset="-122"/>
                <a:cs typeface="Arial" pitchFamily="34" charset="-120"/>
              </a:rPr>
              <a:t>Queue&lt;T&gt; — FIFO</a:t>
            </a:r>
            <a:endParaRPr lang="en-US" sz="1600" dirty="0"/>
          </a:p>
        </p:txBody>
      </p:sp>
      <p:sp>
        <p:nvSpPr>
          <p:cNvPr id="12" name="Text 8"/>
          <p:cNvSpPr txBox="1"/>
          <p:nvPr/>
        </p:nvSpPr>
        <p:spPr>
          <a:xfrm>
            <a:off x="3630854" y="2880360"/>
            <a:ext cx="2076374" cy="310896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Enqueue / Dequeue / Peek. Process in arrival order: jobs, printing.</a:t>
            </a:r>
            <a:endParaRPr lang="en-US" sz="1300" dirty="0"/>
          </a:p>
        </p:txBody>
      </p:sp>
      <p:sp>
        <p:nvSpPr>
          <p:cNvPr id="13" name="Shape 9"/>
          <p:cNvSpPr/>
          <p:nvPr/>
        </p:nvSpPr>
        <p:spPr>
          <a:xfrm>
            <a:off x="6255868" y="1371600"/>
            <a:ext cx="2533574" cy="4846320"/>
          </a:xfrm>
          <a:prstGeom prst="roundRect">
            <a:avLst>
              <a:gd name="adj" fmla="val 5414"/>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14" name="Shape 10"/>
          <p:cNvSpPr/>
          <p:nvPr/>
        </p:nvSpPr>
        <p:spPr>
          <a:xfrm>
            <a:off x="6484468" y="1600200"/>
            <a:ext cx="640080" cy="640080"/>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644488" y="1760220"/>
            <a:ext cx="320040" cy="320040"/>
          </a:xfrm>
          <a:prstGeom prst="rect">
            <a:avLst/>
          </a:prstGeom>
        </p:spPr>
      </p:pic>
      <p:sp>
        <p:nvSpPr>
          <p:cNvPr id="16" name="Text 11"/>
          <p:cNvSpPr txBox="1"/>
          <p:nvPr/>
        </p:nvSpPr>
        <p:spPr>
          <a:xfrm>
            <a:off x="6484468" y="2377440"/>
            <a:ext cx="2076374" cy="457200"/>
          </a:xfrm>
          <a:prstGeom prst="rect">
            <a:avLst/>
          </a:prstGeom>
          <a:noFill/>
          <a:ln/>
        </p:spPr>
        <p:txBody>
          <a:bodyPr wrap="square" lIns="0" tIns="0" rIns="0" bIns="0" rtlCol="0" anchor="ctr">
            <a:normAutofit/>
          </a:bodyPr>
          <a:lstStyle/>
          <a:p>
            <a:pPr algn="l" indent="0" marL="0">
              <a:buNone/>
            </a:pPr>
            <a:r>
              <a:rPr lang="en-US" altLang="en-US" sz="1600" b="1" dirty="0">
                <a:solidFill>
                  <a:srgbClr val="1B1340"/>
                </a:solidFill>
                <a:latin typeface="Arial" pitchFamily="34" charset="0"/>
                <a:ea typeface="Arial" pitchFamily="34" charset="-122"/>
                <a:cs typeface="Arial" pitchFamily="34" charset="-120"/>
              </a:rPr>
              <a:t>Stack&lt;T&gt; — LIFO</a:t>
            </a:r>
            <a:endParaRPr lang="en-US" sz="1600" dirty="0"/>
          </a:p>
        </p:txBody>
      </p:sp>
      <p:sp>
        <p:nvSpPr>
          <p:cNvPr id="17" name="Text 12"/>
          <p:cNvSpPr txBox="1"/>
          <p:nvPr/>
        </p:nvSpPr>
        <p:spPr>
          <a:xfrm>
            <a:off x="6484468" y="2880360"/>
            <a:ext cx="2076374" cy="310896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Push / Pop / Peek. Undo, back navigation, parsing.</a:t>
            </a:r>
            <a:endParaRPr lang="en-US" sz="1300" dirty="0"/>
          </a:p>
        </p:txBody>
      </p:sp>
      <p:sp>
        <p:nvSpPr>
          <p:cNvPr id="18" name="Shape 13"/>
          <p:cNvSpPr/>
          <p:nvPr/>
        </p:nvSpPr>
        <p:spPr>
          <a:xfrm>
            <a:off x="9109481" y="1371600"/>
            <a:ext cx="2533574" cy="4846320"/>
          </a:xfrm>
          <a:prstGeom prst="roundRect">
            <a:avLst>
              <a:gd name="adj" fmla="val 5414"/>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19" name="Shape 14"/>
          <p:cNvSpPr/>
          <p:nvPr/>
        </p:nvSpPr>
        <p:spPr>
          <a:xfrm>
            <a:off x="9338081" y="1600200"/>
            <a:ext cx="640080" cy="640080"/>
          </a:xfrm>
          <a:prstGeom prst="ellipse">
            <a:avLst/>
          </a:prstGeom>
          <a:solidFill>
            <a:srgbClr val="512BD4"/>
          </a:solidFill>
          <a:ln w="12700">
            <a:solidFill>
              <a:srgbClr val="512BD4"/>
            </a:solidFill>
            <a:prstDash val="solid"/>
          </a:ln>
        </p:spPr>
      </p:sp>
      <p:pic>
        <p:nvPicPr>
          <p:cNvPr id="20" name="Image 3" descr="preencoded.png">    </p:cNvPr>
          <p:cNvPicPr>
            <a:picLocks noChangeAspect="1"/>
          </p:cNvPicPr>
          <p:nvPr/>
        </p:nvPicPr>
        <p:blipFill>
          <a:blip r:embed="rId4"/>
          <a:stretch>
            <a:fillRect/>
          </a:stretch>
        </p:blipFill>
        <p:spPr>
          <a:xfrm>
            <a:off x="9498101" y="1760220"/>
            <a:ext cx="320040" cy="320040"/>
          </a:xfrm>
          <a:prstGeom prst="rect">
            <a:avLst/>
          </a:prstGeom>
        </p:spPr>
      </p:pic>
      <p:sp>
        <p:nvSpPr>
          <p:cNvPr id="21" name="Text 15"/>
          <p:cNvSpPr txBox="1"/>
          <p:nvPr/>
        </p:nvSpPr>
        <p:spPr>
          <a:xfrm>
            <a:off x="9338081" y="2377440"/>
            <a:ext cx="2076374" cy="457200"/>
          </a:xfrm>
          <a:prstGeom prst="rect">
            <a:avLst/>
          </a:prstGeom>
          <a:noFill/>
          <a:ln/>
        </p:spPr>
        <p:txBody>
          <a:bodyPr wrap="square" lIns="0" tIns="0" rIns="0" bIns="0" rtlCol="0" anchor="ctr">
            <a:normAutofit/>
          </a:bodyPr>
          <a:lstStyle/>
          <a:p>
            <a:pPr algn="l" indent="0" marL="0">
              <a:buNone/>
            </a:pPr>
            <a:r>
              <a:rPr lang="en-US" altLang="en-US" sz="1600" b="1" dirty="0">
                <a:solidFill>
                  <a:srgbClr val="1B1340"/>
                </a:solidFill>
                <a:latin typeface="Arial" pitchFamily="34" charset="0"/>
                <a:ea typeface="Arial" pitchFamily="34" charset="-122"/>
                <a:cs typeface="Arial" pitchFamily="34" charset="-120"/>
              </a:rPr>
              <a:t>IEnumerable&lt;T&gt;</a:t>
            </a:r>
            <a:endParaRPr lang="en-US" sz="1600" dirty="0"/>
          </a:p>
        </p:txBody>
      </p:sp>
      <p:sp>
        <p:nvSpPr>
          <p:cNvPr id="22" name="Text 16"/>
          <p:cNvSpPr txBox="1"/>
          <p:nvPr/>
        </p:nvSpPr>
        <p:spPr>
          <a:xfrm>
            <a:off x="9338081" y="2880360"/>
            <a:ext cx="2076374" cy="310896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The common denominator: "you can foreach over me". Accept it as a parameter.</a:t>
            </a:r>
            <a:endParaRPr lang="en-US" sz="1300" dirty="0"/>
          </a:p>
        </p:txBody>
      </p:sp>
      <p:sp>
        <p:nvSpPr>
          <p:cNvPr id="23" name="Text 17"/>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24" name="Text 1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yield return — IEnumerable on demand</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508760"/>
            <a:ext cx="6858000" cy="4617720"/>
          </a:xfrm>
          <a:prstGeom prst="rect">
            <a:avLst/>
          </a:prstGeom>
          <a:noFill/>
          <a:ln/>
        </p:spPr>
        <p:txBody>
          <a:bodyPr wrap="square" lIns="635" tIns="635" rIns="635" bIns="635" rtlCol="0" anchor="t"/>
          <a:lstStyle/>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static IEnumerable&lt;int&gt; Evens(int max)</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for (int i = 0; i &lt;= max; i += 2)</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yield return i;      // return one item, resume next time</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foreach (var n in Evens(10))</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Console.Write($"{n} ");           // 0 2 4 6 8 10</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a million items? only 3 are computed</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var first3 = Evens(1_000_000).Take(3);</a:t>
            </a:r>
            <a:endParaRPr lang="en-US" sz="1300" dirty="0"/>
          </a:p>
        </p:txBody>
      </p:sp>
      <p:sp>
        <p:nvSpPr>
          <p:cNvPr id="5" name="Text 3"/>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The method doesn't run until you iterate the result</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No temporary list in memory</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This is the basis of LINQ's deferred execution</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Chainable: Where, Take, Select</a:t>
            </a:r>
            <a:endParaRPr lang="en-US" sz="16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Generics: Repository&lt;T&gt; with a constraint</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508760"/>
            <a:ext cx="6858000" cy="4617720"/>
          </a:xfrm>
          <a:prstGeom prst="rect">
            <a:avLst/>
          </a:prstGeom>
          <a:noFill/>
          <a:ln/>
        </p:spPr>
        <p:txBody>
          <a:bodyPr wrap="square" lIns="635" tIns="635" rIns="635" bIns="635" rtlCol="0" anchor="t"/>
          <a:lstStyle/>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interface IEntity { int Id { get; } }</a:t>
            </a:r>
            <a:endParaRPr lang="en-US" sz="1200" dirty="0"/>
          </a:p>
          <a:p>
            <a:pPr algn="l" indent="0" marL="0">
              <a:buNone/>
            </a:pP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class Repository&lt;T&gt; where T : IEntity        // constraint</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private readonly List&lt;T&gt; _items = [];</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private readonly Dictionary&lt;int, T&gt; _byId = [];   // index</a:t>
            </a:r>
            <a:endParaRPr lang="en-US" sz="1200" dirty="0"/>
          </a:p>
          <a:p>
            <a:pPr algn="l" indent="0" marL="0">
              <a:buNone/>
            </a:pP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public IReadOnlyList&lt;T&gt; All =&gt; _items;</a:t>
            </a:r>
            <a:endParaRPr lang="en-US" sz="1200" dirty="0"/>
          </a:p>
          <a:p>
            <a:pPr algn="l" indent="0" marL="0">
              <a:buNone/>
            </a:pP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public void Add(T item)</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if (!_byId.TryAdd(item.Id, item))          // because T : IEntity</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throw new InvalidOperationException($"Id {item.Id}");</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_items.Add(item);</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a:t>
            </a:r>
            <a:endParaRPr lang="en-US" sz="1200" dirty="0"/>
          </a:p>
          <a:p>
            <a:pPr algn="l" indent="0" marL="0">
              <a:buNone/>
            </a:pP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public T? GetById(int id) =&gt; _byId.GetValueOrDefault(id);</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a:t>
            </a:r>
            <a:endParaRPr lang="en-US" sz="1200" dirty="0"/>
          </a:p>
          <a:p>
            <a:pPr algn="l" indent="0" marL="0">
              <a:buNone/>
            </a:pP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record Customer(int Id, string Name) : IEntity;</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var repo = new Repository&lt;Customer&gt;();</a:t>
            </a:r>
            <a:endParaRPr lang="en-US" sz="1200" dirty="0"/>
          </a:p>
        </p:txBody>
      </p:sp>
      <p:sp>
        <p:nvSpPr>
          <p:cNvPr id="5" name="Text 3"/>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T — a type placeholder, fixed at the call site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where T : IEntity — what you may do with T</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Constraints: class, struct, new(), IComparable&lt;T&gt;, notnull</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List&lt;T&gt; and Dictionary&lt;K,V&gt; are built exactly this way</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Generic method: static T Max&lt;T&gt;(T a, T b) where T : IComparable&lt;T&gt;</a:t>
            </a:r>
            <a:endParaRPr lang="en-US" sz="16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Choosing the right collection</a:t>
            </a:r>
            <a:endParaRPr lang="en-US" sz="3200" dirty="0"/>
          </a:p>
        </p:txBody>
      </p:sp>
      <p:sp>
        <p:nvSpPr>
          <p:cNvPr id="3" name="Text 1"/>
          <p:cNvSpPr txBox="1"/>
          <p:nvPr/>
        </p:nvSpPr>
        <p:spPr>
          <a:xfrm>
            <a:off x="548640" y="1371600"/>
            <a:ext cx="8168335" cy="4754880"/>
          </a:xfrm>
          <a:prstGeom prst="rect">
            <a:avLst/>
          </a:prstGeom>
          <a:noFill/>
          <a:ln/>
        </p:spPr>
        <p:txBody>
          <a:bodyPr wrap="square" lIns="1270" tIns="1270" rIns="1270" bIns="1270" rtlCol="0" anchor="t"/>
          <a:lstStyle/>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T[] — fixed size, fastest: index O(1), search O(n)</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List&lt;T&gt; — general-purpose list: index O(1), Add O(1)*, Contains O(n)</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Dictionary&lt;K,V&gt; — key → value: lookup/add/remove O(1)</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HashSet&lt;T&gt; — uniqueness and membership: O(1)</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Queue&lt;T&gt; / Stack&lt;T&gt; — processing order: O(1)</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SortedDictionary&lt;K,V&gt; — always sorted: O(log n)</a:t>
            </a:r>
            <a:endParaRPr lang="en-US" sz="1800" dirty="0"/>
          </a:p>
          <a:p>
            <a:pPr algn="l" marL="342900" indent="-342900">
              <a:spcAft>
                <a:spcPts val="800"/>
              </a:spcAft>
              <a:buSzPct val="100000"/>
              <a:buChar char="•"/>
            </a:pPr>
            <a:r>
              <a:rPr lang="en-US" altLang="en-US" sz="1800" b="1" dirty="0">
                <a:solidFill>
                  <a:srgbClr val="1F1B2E"/>
                </a:solidFill>
                <a:latin typeface="Arial" pitchFamily="34" charset="0"/>
                <a:ea typeface="Arial" pitchFamily="34" charset="-122"/>
                <a:cs typeface="Arial" pitchFamily="34" charset="-120"/>
              </a:rPr>
              <a:t>Ask: Order? Lookup by key? Duplicates? How many items?</a:t>
            </a:r>
            <a:endParaRPr lang="en-US" sz="1800" dirty="0"/>
          </a:p>
          <a:p>
            <a:pPr algn="l" lvl="1" marL="508000" indent="-254000">
              <a:spcAft>
                <a:spcPts val="400"/>
              </a:spcAft>
              <a:buSzPct val="100000"/>
              <a:buChar char="•"/>
            </a:pPr>
            <a:r>
              <a:rPr lang="en-US" altLang="en-US" sz="1500" dirty="0">
                <a:solidFill>
                  <a:srgbClr val="6B6480"/>
                </a:solidFill>
                <a:latin typeface="Arial" pitchFamily="34" charset="0"/>
                <a:ea typeface="Arial" pitchFamily="34" charset="-122"/>
                <a:cs typeface="Arial" pitchFamily="34" charset="-120"/>
              </a:rPr>
              <a:t>List.Contains in a loop over 100K = 10 billion comparisons; HashSet = 100K</a:t>
            </a:r>
            <a:endParaRPr lang="en-US" sz="1800" dirty="0"/>
          </a:p>
        </p:txBody>
      </p:sp>
      <p:sp>
        <p:nvSpPr>
          <p:cNvPr id="4" name="Shape 2"/>
          <p:cNvSpPr/>
          <p:nvPr/>
        </p:nvSpPr>
        <p:spPr>
          <a:xfrm>
            <a:off x="9357055" y="2377440"/>
            <a:ext cx="1828800" cy="1828800"/>
          </a:xfrm>
          <a:prstGeom prst="ellipse">
            <a:avLst/>
          </a:prstGeom>
          <a:solidFill>
            <a:srgbClr val="F3F0FF"/>
          </a:solidFill>
          <a:ln w="12700">
            <a:solidFill>
              <a:srgbClr val="F3F0FF"/>
            </a:solidFill>
            <a:prstDash val="solid"/>
          </a:ln>
        </p:spPr>
      </p:sp>
      <p:pic>
        <p:nvPicPr>
          <p:cNvPr id="5" name="Image 0" descr="preencoded.png">    </p:cNvPr>
          <p:cNvPicPr>
            <a:picLocks noChangeAspect="1"/>
          </p:cNvPicPr>
          <p:nvPr/>
        </p:nvPicPr>
        <p:blipFill>
          <a:blip r:embed="rId1"/>
          <a:stretch>
            <a:fillRect/>
          </a:stretch>
        </p:blipFill>
        <p:spPr>
          <a:xfrm>
            <a:off x="9814255" y="2834640"/>
            <a:ext cx="914400" cy="914400"/>
          </a:xfrm>
          <a:prstGeom prst="rect">
            <a:avLst/>
          </a:prstGeom>
        </p:spPr>
      </p:pic>
      <p:sp>
        <p:nvSpPr>
          <p:cNvPr id="6" name="Text 3"/>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IReadOnlyList&lt;T&gt; and efficient data handling</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508760"/>
            <a:ext cx="6858000" cy="4617720"/>
          </a:xfrm>
          <a:prstGeom prst="rect">
            <a:avLst/>
          </a:prstGeom>
          <a:noFill/>
          <a:ln/>
        </p:spPr>
        <p:txBody>
          <a:bodyPr wrap="square" lIns="635" tIns="635" rIns="635" bIns="635" rtlCol="0" anchor="t"/>
          <a:lstStyle/>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class Library</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private readonly List&lt;Book&gt; _books = [];</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 ❌ public List&lt;Book&gt; Books =&gt; _books;   // anyone can Clear()</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 ✅ read, don't modify:</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IReadOnlyList&lt;Book&gt; Books =&gt; _books;</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void Add(Book b) { /* validation */ _books.Add(b); }</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var big = new List&lt;int&gt;(capacity: 100_000);   // no reallocations</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Span&lt;int&gt; window = data.AsSpan(2, 4);          // a window, no copy</a:t>
            </a:r>
            <a:endParaRPr lang="en-US" sz="1300" dirty="0"/>
          </a:p>
        </p:txBody>
      </p:sp>
      <p:sp>
        <p:nvSpPr>
          <p:cNvPr id="5" name="Text 3"/>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List&lt;T&gt; implements IReadOnlyList&lt;T&gt; — no copy</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Set capacity when you know the size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ToList() only when you need a snapshot</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StringBuilder for building a string in a loop</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Span&lt;T&gt; — for high performance, not everyday code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Measure before optimizing (Stopwatch)</a:t>
            </a:r>
            <a:endParaRPr lang="en-US" sz="16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1340"/>
        </a:solidFill>
      </p:bgPr>
    </p:bg>
    <p:spTree>
      <p:nvGrpSpPr>
        <p:cNvPr id="1" name=""/>
        <p:cNvGrpSpPr/>
        <p:nvPr/>
      </p:nvGrpSpPr>
      <p:grpSpPr>
        <a:xfrm>
          <a:off x="0" y="0"/>
          <a:ext cx="0" cy="0"/>
          <a:chOff x="0" y="0"/>
          <a:chExt cx="0" cy="0"/>
        </a:xfrm>
      </p:grpSpPr>
      <p:sp>
        <p:nvSpPr>
          <p:cNvPr id="2" name="Shape 0"/>
          <p:cNvSpPr/>
          <p:nvPr/>
        </p:nvSpPr>
        <p:spPr>
          <a:xfrm>
            <a:off x="-2926080" y="-2743200"/>
            <a:ext cx="7315200" cy="7315200"/>
          </a:xfrm>
          <a:prstGeom prst="ellipse">
            <a:avLst/>
          </a:prstGeom>
          <a:solidFill>
            <a:srgbClr val="512BD4">
              <a:alpha val="28000"/>
            </a:srgbClr>
          </a:solidFill>
          <a:ln w="12700">
            <a:solidFill>
              <a:srgbClr val="512BD4">
                <a:alpha val="0"/>
              </a:srgbClr>
            </a:solidFill>
            <a:prstDash val="solid"/>
          </a:ln>
        </p:spPr>
      </p:sp>
      <p:sp>
        <p:nvSpPr>
          <p:cNvPr id="3" name="Text 1"/>
          <p:cNvSpPr txBox="1"/>
          <p:nvPr/>
        </p:nvSpPr>
        <p:spPr>
          <a:xfrm>
            <a:off x="7711135" y="1188720"/>
            <a:ext cx="3657600" cy="2743200"/>
          </a:xfrm>
          <a:prstGeom prst="rect">
            <a:avLst/>
          </a:prstGeom>
          <a:noFill/>
          <a:ln/>
        </p:spPr>
        <p:txBody>
          <a:bodyPr wrap="square" lIns="0" tIns="0" rIns="0" bIns="0" rtlCol="0" anchor="ctr"/>
          <a:lstStyle/>
          <a:p>
            <a:pPr algn="r" indent="0" marL="0">
              <a:buNone/>
            </a:pPr>
            <a:r>
              <a:rPr lang="en-US" sz="13000" b="1" dirty="0">
                <a:solidFill>
                  <a:srgbClr val="FFB020"/>
                </a:solidFill>
                <a:latin typeface="Arial" pitchFamily="34" charset="0"/>
                <a:ea typeface="Arial" pitchFamily="34" charset="-122"/>
                <a:cs typeface="Arial" pitchFamily="34" charset="-120"/>
              </a:rPr>
              <a:t>05</a:t>
            </a:r>
            <a:endParaRPr lang="en-US" sz="13000" dirty="0"/>
          </a:p>
        </p:txBody>
      </p:sp>
      <p:sp>
        <p:nvSpPr>
          <p:cNvPr id="4" name="Text 2"/>
          <p:cNvSpPr txBox="1"/>
          <p:nvPr/>
        </p:nvSpPr>
        <p:spPr>
          <a:xfrm>
            <a:off x="548640" y="1828800"/>
            <a:ext cx="7223760" cy="1463040"/>
          </a:xfrm>
          <a:prstGeom prst="rect">
            <a:avLst/>
          </a:prstGeom>
          <a:noFill/>
          <a:ln/>
        </p:spPr>
        <p:txBody>
          <a:bodyPr wrap="square" lIns="0" tIns="0" rIns="0" bIns="0" rtlCol="0" anchor="ctr"/>
          <a:lstStyle/>
          <a:p>
            <a:pPr algn="l" indent="0" marL="0">
              <a:buNone/>
            </a:pPr>
            <a:r>
              <a:rPr lang="en-US" altLang="en-US" sz="4000" b="1" dirty="0">
                <a:solidFill>
                  <a:srgbClr val="FFFFFF"/>
                </a:solidFill>
                <a:latin typeface="Arial" pitchFamily="34" charset="0"/>
                <a:ea typeface="Arial" pitchFamily="34" charset="-122"/>
                <a:cs typeface="Arial" pitchFamily="34" charset="-120"/>
              </a:rPr>
              <a:t>Delegates, Lambdas, Events and LINQ</a:t>
            </a:r>
            <a:endParaRPr lang="en-US" sz="4000" dirty="0"/>
          </a:p>
        </p:txBody>
      </p:sp>
      <p:sp>
        <p:nvSpPr>
          <p:cNvPr id="5" name="Text 3"/>
          <p:cNvSpPr txBox="1"/>
          <p:nvPr/>
        </p:nvSpPr>
        <p:spPr>
          <a:xfrm>
            <a:off x="548640" y="3383280"/>
            <a:ext cx="7223760" cy="1463040"/>
          </a:xfrm>
          <a:prstGeom prst="rect">
            <a:avLst/>
          </a:prstGeom>
          <a:noFill/>
          <a:ln/>
        </p:spPr>
        <p:txBody>
          <a:bodyPr wrap="square" lIns="0" tIns="0" rIns="0" bIns="0" rtlCol="0" anchor="t"/>
          <a:lstStyle/>
          <a:p>
            <a:pPr algn="l" indent="0" marL="0">
              <a:buNone/>
            </a:pPr>
            <a:r>
              <a:rPr lang="en-US" altLang="en-US" sz="2000" dirty="0">
                <a:solidFill>
                  <a:srgbClr val="CFC7F5"/>
                </a:solidFill>
                <a:latin typeface="Arial" pitchFamily="34" charset="0"/>
                <a:ea typeface="Arial" pitchFamily="34" charset="-122"/>
                <a:cs typeface="Arial" pitchFamily="34" charset="-120"/>
              </a:rPr>
              <a:t>Pass behavior, not just data</a:t>
            </a:r>
            <a:endParaRPr lang="en-US" sz="20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A79FD6"/>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9FD6"/>
                </a:solidFill>
                <a:latin typeface="Arial" pitchFamily="34" charset="0"/>
                <a:ea typeface="Arial" pitchFamily="34" charset="-122"/>
                <a:cs typeface="Arial"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Delegates, Func/Action and lambdas</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508760"/>
            <a:ext cx="6858000" cy="4617720"/>
          </a:xfrm>
          <a:prstGeom prst="rect">
            <a:avLst/>
          </a:prstGeom>
          <a:noFill/>
          <a:ln/>
        </p:spPr>
        <p:txBody>
          <a:bodyPr wrap="square" lIns="635" tIns="635" rIns="635" bIns="635" rtlCol="0" anchor="t"/>
          <a:lstStyle/>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delegate int MathOp(int a, int b);          // a method type</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MathOp add = (a, b) =&gt; a + b;</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Console.WriteLine(add(2, 3));               // 5</a:t>
            </a:r>
            <a:endParaRPr lang="en-US" sz="1200" dirty="0"/>
          </a:p>
          <a:p>
            <a:pPr algn="l" indent="0" marL="0">
              <a:buNone/>
            </a:pP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static int Apply(int x, int y, MathOp op) =&gt; op(x, y);</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Apply(10, 4, (a, b) =&gt; a - b);              // behavior as a parameter</a:t>
            </a:r>
            <a:endParaRPr lang="en-US" sz="1200" dirty="0"/>
          </a:p>
          <a:p>
            <a:pPr algn="l" indent="0" marL="0">
              <a:buNone/>
            </a:pP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.NET built-ins — almost always enough</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Func&lt;int, int, int&gt; power = (b, e) =&gt; (int)Math.Pow(b, e);</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Action&lt;string&gt; shout = s =&gt; Console.WriteLine(s.ToUpper());</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Predicate&lt;int&gt; isEven = n =&gt; n % 2 == 0;</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Func&lt;int&gt; answer = () =&gt; 42;</a:t>
            </a:r>
            <a:endParaRPr lang="en-US" sz="1200" dirty="0"/>
          </a:p>
          <a:p>
            <a:pPr algn="l" indent="0" marL="0">
              <a:buNone/>
            </a:pP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Action pipeline = () =&gt; Console.Write("1 ");</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pipeline += () =&gt; Console.Write("2 ");     // multicast</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pipeline();</a:t>
            </a:r>
            <a:endParaRPr lang="en-US" sz="1200" dirty="0"/>
          </a:p>
        </p:txBody>
      </p:sp>
      <p:sp>
        <p:nvSpPr>
          <p:cNvPr id="5" name="Text 3"/>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delegate = a method as a value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Func&lt;..., TResult&gt; returns a value; Action doesn't</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lambda: (parameters) =&gt; expression</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multicast (+=) — the basis of events</a:t>
            </a:r>
            <a:endParaRPr lang="en-US" sz="16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Closures and events</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508760"/>
            <a:ext cx="6858000" cy="4617720"/>
          </a:xfrm>
          <a:prstGeom prst="rect">
            <a:avLst/>
          </a:prstGeom>
          <a:noFill/>
          <a:ln/>
        </p:spPr>
        <p:txBody>
          <a:bodyPr wrap="square" lIns="635" tIns="635" rIns="635" bIns="635" rtlCol="0" anchor="t"/>
          <a:lstStyle/>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static Func&lt;int&gt; MakeCounter()</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int count = 0;</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return () =&gt; ++count;        // count is "captured"</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var next = MakeCounter();</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next(); next(); next();          // 1 2 3</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class Thermometer</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event EventHandler&lt;TempArgs&gt;? Changed;</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void Set(double value)</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 ... update ...</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Changed?.Invoke(this, new TempArgs(value));</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var t = new Thermometer();</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t.Changed += (sender, e) =&gt; Console.WriteLine(e.Value);</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t.Changed += (_, e) =&gt; { if (e.Value &gt; 30) TurnOnAC(); };</a:t>
            </a:r>
            <a:endParaRPr lang="en-US" sz="1300" dirty="0"/>
          </a:p>
        </p:txBody>
      </p:sp>
      <p:sp>
        <p:nvSpPr>
          <p:cNvPr id="5" name="Text 3"/>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A closure captures the variable, not the value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event = a delegate that outsiders can only += / -=</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EventHandler&lt;T&gt; — (sender, e) — the convention</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?.Invoke — in case there are no subscribers</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The publisher doesn't know its subscribers</a:t>
            </a:r>
            <a:endParaRPr lang="en-US" sz="16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38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LINQ — describe what, not how</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508760"/>
            <a:ext cx="6858000" cy="4617720"/>
          </a:xfrm>
          <a:prstGeom prst="rect">
            <a:avLst/>
          </a:prstGeom>
          <a:noFill/>
          <a:ln/>
        </p:spPr>
        <p:txBody>
          <a:bodyPr wrap="square" lIns="635" tIns="635" rIns="635" bIns="635" rtlCol="0" anchor="t"/>
          <a:lstStyle/>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var names = orders.Where(o =&gt; o.Total &gt; 100)</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.Select(o =&gt; o.Customer);</a:t>
            </a:r>
            <a:endParaRPr lang="en-US" sz="1200" dirty="0"/>
          </a:p>
          <a:p>
            <a:pPr algn="l" indent="0" marL="0">
              <a:buNone/>
            </a:pP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var sorted = orders.OrderByDescending(o =&gt; o.Total)</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.ThenBy(o =&gt; o.Customer);</a:t>
            </a:r>
            <a:endParaRPr lang="en-US" sz="1200" dirty="0"/>
          </a:p>
          <a:p>
            <a:pPr algn="l" indent="0" marL="0">
              <a:buNone/>
            </a:pP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foreach (var g in orders.GroupBy(o =&gt; o.Category))</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Console.WriteLine($"{g.Key}: {g.Count()} orders");</a:t>
            </a:r>
            <a:endParaRPr lang="en-US" sz="1200" dirty="0"/>
          </a:p>
          <a:p>
            <a:pPr algn="l" indent="0" marL="0">
              <a:buNone/>
            </a:pP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var first = orders.First(o =&gt; o.Category == "Books");   // throws if none</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var maybe = orders.FirstOrDefault(o =&gt; o.Total &gt; 5000);  // null</a:t>
            </a:r>
            <a:endParaRPr lang="en-US" sz="1200" dirty="0"/>
          </a:p>
          <a:p>
            <a:pPr algn="l" indent="0" marL="0">
              <a:buNone/>
            </a:pP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bool any = orders.Any(o =&gt; o.Total &gt; 1000);</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decimal max = orders.Max(o =&gt; o.Total);</a:t>
            </a:r>
            <a:endParaRPr lang="en-US" sz="1200" dirty="0"/>
          </a:p>
          <a:p>
            <a:pPr algn="l" indent="0" marL="0">
              <a:buNone/>
            </a:pP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Dictionary&lt;string, decimal&gt; perCustomer = orders</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.GroupBy(o =&gt; o.Customer)</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.ToDictionary(g =&gt; g.Key, g =&gt; g.Sum(o =&gt; o.Total));</a:t>
            </a:r>
            <a:endParaRPr lang="en-US" sz="1200" dirty="0"/>
          </a:p>
        </p:txBody>
      </p:sp>
      <p:sp>
        <p:nvSpPr>
          <p:cNvPr id="5" name="Text 3"/>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Where / Select / OrderBy / GroupBy</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First / FirstOrDefault / Single / Any / All</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Count / Sum / Max / Average / MinBy</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ToList / ToDictionary / ToHashSet</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Skip / Take for paging; Distinct; Chunk</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Query syntax (from … where … select) — same thing, SQL-like</a:t>
            </a:r>
            <a:endParaRPr lang="en-US" sz="16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39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Deferred execution — the query runs when consumed</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508760"/>
            <a:ext cx="6858000" cy="4617720"/>
          </a:xfrm>
          <a:prstGeom prst="rect">
            <a:avLst/>
          </a:prstGeom>
          <a:noFill/>
          <a:ln/>
        </p:spPr>
        <p:txBody>
          <a:bodyPr wrap="square" lIns="635" tIns="635" rIns="635" bIns="635" rtlCol="0" anchor="t"/>
          <a:lstStyle/>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var numbers = new List&lt;int&gt; { 1, 2, 3 };</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var evens = numbers.Where(n =&gt; n % 2 == 0);   // nothing happened yet</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numbers.Add(4);</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Console.WriteLine(string.Join(",", evens));    // 2,4 — runs now</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var snapshot = numbers.Where(n =&gt; n % 2 == 0).ToList();  // freezes</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numbers.Add(6);</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Console.WriteLine(string.Join(",", snapshot)); // 2,4</a:t>
            </a:r>
            <a:endParaRPr lang="en-US" sz="1300" dirty="0"/>
          </a:p>
        </p:txBody>
      </p:sp>
      <p:sp>
        <p:nvSpPr>
          <p:cNvPr id="5" name="Text 3"/>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Where/Select/OrderBy build a plan — they don't execute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foreach / ToList / Count / First execute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A query consumed twice runs twice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An exception in a lambda is thrown at consumption time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ToList() when you need a stable result</a:t>
            </a:r>
            <a:endParaRPr lang="en-US" sz="16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40</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Functional style</a:t>
            </a:r>
            <a:endParaRPr lang="en-US" sz="3200" dirty="0"/>
          </a:p>
        </p:txBody>
      </p:sp>
      <p:sp>
        <p:nvSpPr>
          <p:cNvPr id="3" name="Text 1"/>
          <p:cNvSpPr txBox="1"/>
          <p:nvPr/>
        </p:nvSpPr>
        <p:spPr>
          <a:xfrm>
            <a:off x="548640" y="1371600"/>
            <a:ext cx="8168335" cy="4754880"/>
          </a:xfrm>
          <a:prstGeom prst="rect">
            <a:avLst/>
          </a:prstGeom>
          <a:noFill/>
          <a:ln/>
        </p:spPr>
        <p:txBody>
          <a:bodyPr wrap="square" lIns="1270" tIns="1270" rIns="1270" bIns="1270" rtlCol="0" anchor="t"/>
          <a:lstStyle/>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Pure functions: same inputs → same output, no side effects</a:t>
            </a:r>
            <a:endParaRPr lang="en-US" sz="1800" dirty="0"/>
          </a:p>
          <a:p>
            <a:pPr algn="l" lvl="1" marL="508000" indent="-254000">
              <a:spcAft>
                <a:spcPts val="400"/>
              </a:spcAft>
              <a:buSzPct val="100000"/>
              <a:buChar char="•"/>
            </a:pPr>
            <a:r>
              <a:rPr lang="en-US" altLang="en-US" sz="1500" dirty="0">
                <a:solidFill>
                  <a:srgbClr val="6B6480"/>
                </a:solidFill>
                <a:latin typeface="Arial" pitchFamily="34" charset="0"/>
                <a:ea typeface="Arial" pitchFamily="34" charset="-122"/>
                <a:cs typeface="Arial" pitchFamily="34" charset="-120"/>
              </a:rPr>
              <a:t>Easy to test, easy to compose, thread-safe</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Immutability: record + with, IReadOnlyList, ImmutableList</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Composition: small methods that take and return Func / IEnumerable</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Separate computation from I/O: compute purely, print outside</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LINQ for computation; foreach for side effects</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Not everything must be functional — but when possible, prefer it</a:t>
            </a:r>
            <a:endParaRPr lang="en-US" sz="1800" dirty="0"/>
          </a:p>
        </p:txBody>
      </p:sp>
      <p:sp>
        <p:nvSpPr>
          <p:cNvPr id="4" name="Shape 2"/>
          <p:cNvSpPr/>
          <p:nvPr/>
        </p:nvSpPr>
        <p:spPr>
          <a:xfrm>
            <a:off x="9357055" y="2377440"/>
            <a:ext cx="1828800" cy="1828800"/>
          </a:xfrm>
          <a:prstGeom prst="ellipse">
            <a:avLst/>
          </a:prstGeom>
          <a:solidFill>
            <a:srgbClr val="F3F0FF"/>
          </a:solidFill>
          <a:ln w="12700">
            <a:solidFill>
              <a:srgbClr val="F3F0FF"/>
            </a:solidFill>
            <a:prstDash val="solid"/>
          </a:ln>
        </p:spPr>
      </p:sp>
      <p:pic>
        <p:nvPicPr>
          <p:cNvPr id="5" name="Image 0" descr="preencoded.png">    </p:cNvPr>
          <p:cNvPicPr>
            <a:picLocks noChangeAspect="1"/>
          </p:cNvPicPr>
          <p:nvPr/>
        </p:nvPicPr>
        <p:blipFill>
          <a:blip r:embed="rId1"/>
          <a:stretch>
            <a:fillRect/>
          </a:stretch>
        </p:blipFill>
        <p:spPr>
          <a:xfrm>
            <a:off x="9814255" y="2834640"/>
            <a:ext cx="914400" cy="914400"/>
          </a:xfrm>
          <a:prstGeom prst="rect">
            <a:avLst/>
          </a:prstGeom>
        </p:spPr>
      </p:pic>
      <p:sp>
        <p:nvSpPr>
          <p:cNvPr id="6" name="Text 3"/>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41</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3F0FF"/>
        </a:solidFill>
      </p:bgPr>
    </p:bg>
    <p:spTree>
      <p:nvGrpSpPr>
        <p:cNvPr id="1" name=""/>
        <p:cNvGrpSpPr/>
        <p:nvPr/>
      </p:nvGrpSpPr>
      <p:grpSpPr>
        <a:xfrm>
          <a:off x="0" y="0"/>
          <a:ext cx="0" cy="0"/>
          <a:chOff x="0" y="0"/>
          <a:chExt cx="0" cy="0"/>
        </a:xfrm>
      </p:grpSpPr>
      <p:sp>
        <p:nvSpPr>
          <p:cNvPr id="2" name="Shape 0"/>
          <p:cNvSpPr/>
          <p:nvPr/>
        </p:nvSpPr>
        <p:spPr>
          <a:xfrm>
            <a:off x="548640" y="411480"/>
            <a:ext cx="822960" cy="822960"/>
          </a:xfrm>
          <a:prstGeom prst="ellipse">
            <a:avLst/>
          </a:prstGeom>
          <a:solidFill>
            <a:srgbClr val="FFB020"/>
          </a:solidFill>
          <a:ln w="12700">
            <a:solidFill>
              <a:srgbClr val="FFB020"/>
            </a:solidFill>
            <a:prstDash val="solid"/>
          </a:ln>
        </p:spPr>
      </p:sp>
      <p:pic>
        <p:nvPicPr>
          <p:cNvPr id="3" name="Image 0" descr="preencoded.png">    </p:cNvPr>
          <p:cNvPicPr>
            <a:picLocks noChangeAspect="1"/>
          </p:cNvPicPr>
          <p:nvPr/>
        </p:nvPicPr>
        <p:blipFill>
          <a:blip r:embed="rId1"/>
          <a:stretch>
            <a:fillRect/>
          </a:stretch>
        </p:blipFill>
        <p:spPr>
          <a:xfrm>
            <a:off x="754380" y="617220"/>
            <a:ext cx="411480" cy="411480"/>
          </a:xfrm>
          <a:prstGeom prst="rect">
            <a:avLst/>
          </a:prstGeom>
        </p:spPr>
      </p:pic>
      <p:sp>
        <p:nvSpPr>
          <p:cNvPr id="4" name="Text 1"/>
          <p:cNvSpPr txBox="1"/>
          <p:nvPr/>
        </p:nvSpPr>
        <p:spPr>
          <a:xfrm>
            <a:off x="1554480" y="365760"/>
            <a:ext cx="1008857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Lab 3 — Inventory: LINQ, Delegates, Events</a:t>
            </a:r>
            <a:endParaRPr lang="en-US" sz="3200" dirty="0"/>
          </a:p>
        </p:txBody>
      </p:sp>
      <p:sp>
        <p:nvSpPr>
          <p:cNvPr id="5" name="Shape 2"/>
          <p:cNvSpPr/>
          <p:nvPr/>
        </p:nvSpPr>
        <p:spPr>
          <a:xfrm>
            <a:off x="548640" y="1371600"/>
            <a:ext cx="6949440" cy="4846320"/>
          </a:xfrm>
          <a:prstGeom prst="roundRect">
            <a:avLst>
              <a:gd name="adj" fmla="val 2830"/>
            </a:avLst>
          </a:prstGeom>
          <a:solidFill>
            <a:srgbClr val="FFFFFF"/>
          </a:solidFill>
          <a:ln w="12700">
            <a:solidFill>
              <a:srgbClr val="FFFFFF"/>
            </a:solidFill>
            <a:prstDash val="solid"/>
          </a:ln>
        </p:spPr>
      </p:sp>
      <p:sp>
        <p:nvSpPr>
          <p:cNvPr id="6" name="Text 3"/>
          <p:cNvSpPr txBox="1"/>
          <p:nvPr/>
        </p:nvSpPr>
        <p:spPr>
          <a:xfrm>
            <a:off x="777240" y="1508760"/>
            <a:ext cx="6492240" cy="457200"/>
          </a:xfrm>
          <a:prstGeom prst="rect">
            <a:avLst/>
          </a:prstGeom>
          <a:noFill/>
          <a:ln/>
        </p:spPr>
        <p:txBody>
          <a:bodyPr wrap="square" lIns="0" tIns="0" rIns="0" bIns="0" rtlCol="0" anchor="t"/>
          <a:lstStyle/>
          <a:p>
            <a:pPr algn="l" indent="0" marL="0">
              <a:buNone/>
            </a:pPr>
            <a:r>
              <a:rPr lang="en-US" altLang="en-US" sz="1800" b="1" dirty="0">
                <a:solidFill>
                  <a:srgbClr val="512BD4"/>
                </a:solidFill>
                <a:latin typeface="Arial" pitchFamily="34" charset="0"/>
                <a:ea typeface="Arial" pitchFamily="34" charset="-122"/>
                <a:cs typeface="Arial" pitchFamily="34" charset="-120"/>
              </a:rPr>
              <a:t>Tasks</a:t>
            </a:r>
            <a:endParaRPr lang="en-US" sz="1800" dirty="0"/>
          </a:p>
        </p:txBody>
      </p:sp>
      <p:sp>
        <p:nvSpPr>
          <p:cNvPr id="7" name="Text 4"/>
          <p:cNvSpPr txBox="1"/>
          <p:nvPr/>
        </p:nvSpPr>
        <p:spPr>
          <a:xfrm>
            <a:off x="777240" y="2011680"/>
            <a:ext cx="6492240" cy="4114800"/>
          </a:xfrm>
          <a:prstGeom prst="rect">
            <a:avLst/>
          </a:prstGeom>
          <a:noFill/>
          <a:ln/>
        </p:spPr>
        <p:txBody>
          <a:bodyPr wrap="square" lIns="0" tIns="0" rIns="0" bIns="0" rtlCol="0" anchor="t"/>
          <a:lstStyle/>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Dictionary&lt;string, StockItem&gt; and HashSet&lt;string&gt; with StringComparer.OrdinalIgnoreCase</a:t>
            </a:r>
            <a:endParaRPr lang="en-US" sz="1400" dirty="0"/>
          </a:p>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event EventHandler&lt;LowStockEventArgs&gt;? LowStock; raise it in Sell with ?.Invoke</a:t>
            </a:r>
            <a:endParaRPr lang="en-US" sz="1400" dirty="0"/>
          </a:p>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Find(Func&lt;StockItem, bool&gt;) and ApplyToCategory(string, Action&lt;StockItem&gt;)</a:t>
            </a:r>
            <a:endParaRPr lang="en-US" sz="1400" dirty="0"/>
          </a:p>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Reports: TotalValue, ByCategory (GroupBy), TopByValue, LowStock, PriceIndex (ToDictionary)</a:t>
            </a:r>
            <a:endParaRPr lang="en-US" sz="1400" dirty="0"/>
          </a:p>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Subscribe to the event in Program and print a warning</a:t>
            </a:r>
            <a:endParaRPr lang="en-US" sz="1400" dirty="0"/>
          </a:p>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Bonus: SkusInBoth (IntersectWith), query syntax, deferred-execution demo</a:t>
            </a:r>
            <a:endParaRPr lang="en-US" sz="1400" dirty="0"/>
          </a:p>
        </p:txBody>
      </p:sp>
      <p:sp>
        <p:nvSpPr>
          <p:cNvPr id="8" name="Shape 5"/>
          <p:cNvSpPr/>
          <p:nvPr/>
        </p:nvSpPr>
        <p:spPr>
          <a:xfrm>
            <a:off x="7863840" y="1371600"/>
            <a:ext cx="3779215" cy="1432560"/>
          </a:xfrm>
          <a:prstGeom prst="roundRect">
            <a:avLst>
              <a:gd name="adj" fmla="val 9574"/>
            </a:avLst>
          </a:prstGeom>
          <a:solidFill>
            <a:srgbClr val="FFFFFF"/>
          </a:solidFill>
          <a:ln w="12700">
            <a:solidFill>
              <a:srgbClr val="FFFFFF"/>
            </a:solidFill>
            <a:prstDash val="solid"/>
          </a:ln>
        </p:spPr>
      </p:sp>
      <p:sp>
        <p:nvSpPr>
          <p:cNvPr id="9" name="Shape 6"/>
          <p:cNvSpPr/>
          <p:nvPr/>
        </p:nvSpPr>
        <p:spPr>
          <a:xfrm>
            <a:off x="8046720" y="1554480"/>
            <a:ext cx="457200" cy="457200"/>
          </a:xfrm>
          <a:prstGeom prst="ellipse">
            <a:avLst/>
          </a:prstGeom>
          <a:solidFill>
            <a:srgbClr val="512BD4"/>
          </a:solidFill>
          <a:ln w="12700">
            <a:solidFill>
              <a:srgbClr val="512BD4"/>
            </a:solidFill>
            <a:prstDash val="solid"/>
          </a:ln>
        </p:spPr>
      </p:sp>
      <p:pic>
        <p:nvPicPr>
          <p:cNvPr id="10" name="Image 1" descr="preencoded.png">    </p:cNvPr>
          <p:cNvPicPr>
            <a:picLocks noChangeAspect="1"/>
          </p:cNvPicPr>
          <p:nvPr/>
        </p:nvPicPr>
        <p:blipFill>
          <a:blip r:embed="rId2"/>
          <a:stretch>
            <a:fillRect/>
          </a:stretch>
        </p:blipFill>
        <p:spPr>
          <a:xfrm>
            <a:off x="8161020" y="1668780"/>
            <a:ext cx="228600" cy="228600"/>
          </a:xfrm>
          <a:prstGeom prst="rect">
            <a:avLst/>
          </a:prstGeom>
        </p:spPr>
      </p:pic>
      <p:sp>
        <p:nvSpPr>
          <p:cNvPr id="11" name="Text 7"/>
          <p:cNvSpPr txBox="1"/>
          <p:nvPr/>
        </p:nvSpPr>
        <p:spPr>
          <a:xfrm>
            <a:off x="8686800" y="1554480"/>
            <a:ext cx="2773375" cy="457200"/>
          </a:xfrm>
          <a:prstGeom prst="rect">
            <a:avLst/>
          </a:prstGeom>
          <a:noFill/>
          <a:ln/>
        </p:spPr>
        <p:txBody>
          <a:bodyPr wrap="square" lIns="0" tIns="0" rIns="0" bIns="0" rtlCol="0" anchor="ctr"/>
          <a:lstStyle/>
          <a:p>
            <a:pPr algn="l" indent="0" marL="0">
              <a:buNone/>
            </a:pPr>
            <a:r>
              <a:rPr lang="en-US" altLang="en-US" sz="1400" b="1" dirty="0">
                <a:solidFill>
                  <a:srgbClr val="512BD4"/>
                </a:solidFill>
                <a:latin typeface="Arial" pitchFamily="34" charset="0"/>
                <a:ea typeface="Arial" pitchFamily="34" charset="-122"/>
                <a:cs typeface="Arial" pitchFamily="34" charset="-120"/>
              </a:rPr>
              <a:t>Goal</a:t>
            </a:r>
            <a:endParaRPr lang="en-US" sz="1400" dirty="0"/>
          </a:p>
        </p:txBody>
      </p:sp>
      <p:sp>
        <p:nvSpPr>
          <p:cNvPr id="12" name="Text 8"/>
          <p:cNvSpPr txBox="1"/>
          <p:nvPr/>
        </p:nvSpPr>
        <p:spPr>
          <a:xfrm>
            <a:off x="8046720" y="2057400"/>
            <a:ext cx="3413455" cy="60960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Inventory with a Dictionary by SKU and a HashSet of categories, Find(Func), ApplyToCategory(Action), a LowStock event, pure LINQ reports.</a:t>
            </a:r>
            <a:endParaRPr lang="en-US" sz="1300" dirty="0"/>
          </a:p>
        </p:txBody>
      </p:sp>
      <p:sp>
        <p:nvSpPr>
          <p:cNvPr id="13" name="Shape 9"/>
          <p:cNvSpPr/>
          <p:nvPr/>
        </p:nvSpPr>
        <p:spPr>
          <a:xfrm>
            <a:off x="7863840" y="3078480"/>
            <a:ext cx="3779215" cy="1432560"/>
          </a:xfrm>
          <a:prstGeom prst="roundRect">
            <a:avLst>
              <a:gd name="adj" fmla="val 9574"/>
            </a:avLst>
          </a:prstGeom>
          <a:solidFill>
            <a:srgbClr val="FFFFFF"/>
          </a:solidFill>
          <a:ln w="12700">
            <a:solidFill>
              <a:srgbClr val="FFFFFF"/>
            </a:solidFill>
            <a:prstDash val="solid"/>
          </a:ln>
        </p:spPr>
      </p:sp>
      <p:sp>
        <p:nvSpPr>
          <p:cNvPr id="14" name="Shape 10"/>
          <p:cNvSpPr/>
          <p:nvPr/>
        </p:nvSpPr>
        <p:spPr>
          <a:xfrm>
            <a:off x="8046720" y="3261360"/>
            <a:ext cx="457200" cy="457200"/>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8161020" y="3375660"/>
            <a:ext cx="228600" cy="228600"/>
          </a:xfrm>
          <a:prstGeom prst="rect">
            <a:avLst/>
          </a:prstGeom>
        </p:spPr>
      </p:pic>
      <p:sp>
        <p:nvSpPr>
          <p:cNvPr id="16" name="Text 11"/>
          <p:cNvSpPr txBox="1"/>
          <p:nvPr/>
        </p:nvSpPr>
        <p:spPr>
          <a:xfrm>
            <a:off x="8686800" y="3261360"/>
            <a:ext cx="2773375" cy="457200"/>
          </a:xfrm>
          <a:prstGeom prst="rect">
            <a:avLst/>
          </a:prstGeom>
          <a:noFill/>
          <a:ln/>
        </p:spPr>
        <p:txBody>
          <a:bodyPr wrap="square" lIns="0" tIns="0" rIns="0" bIns="0" rtlCol="0" anchor="ctr"/>
          <a:lstStyle/>
          <a:p>
            <a:pPr algn="l" indent="0" marL="0">
              <a:buNone/>
            </a:pPr>
            <a:r>
              <a:rPr lang="en-US" altLang="en-US" sz="1400" b="1" dirty="0">
                <a:solidFill>
                  <a:srgbClr val="512BD4"/>
                </a:solidFill>
                <a:latin typeface="Arial" pitchFamily="34" charset="0"/>
                <a:ea typeface="Arial" pitchFamily="34" charset="-122"/>
                <a:cs typeface="Arial" pitchFamily="34" charset="-120"/>
              </a:rPr>
              <a:t>Duration</a:t>
            </a:r>
            <a:endParaRPr lang="en-US" sz="1400" dirty="0"/>
          </a:p>
        </p:txBody>
      </p:sp>
      <p:sp>
        <p:nvSpPr>
          <p:cNvPr id="17" name="Text 12"/>
          <p:cNvSpPr txBox="1"/>
          <p:nvPr/>
        </p:nvSpPr>
        <p:spPr>
          <a:xfrm>
            <a:off x="8046720" y="3764280"/>
            <a:ext cx="3413455" cy="60960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60 minutes</a:t>
            </a:r>
            <a:endParaRPr lang="en-US" sz="1300" dirty="0"/>
          </a:p>
        </p:txBody>
      </p:sp>
      <p:sp>
        <p:nvSpPr>
          <p:cNvPr id="18" name="Shape 13"/>
          <p:cNvSpPr/>
          <p:nvPr/>
        </p:nvSpPr>
        <p:spPr>
          <a:xfrm>
            <a:off x="7863840" y="4785360"/>
            <a:ext cx="3779215" cy="1432560"/>
          </a:xfrm>
          <a:prstGeom prst="roundRect">
            <a:avLst>
              <a:gd name="adj" fmla="val 9574"/>
            </a:avLst>
          </a:prstGeom>
          <a:solidFill>
            <a:srgbClr val="FFFFFF"/>
          </a:solidFill>
          <a:ln w="12700">
            <a:solidFill>
              <a:srgbClr val="FFFFFF"/>
            </a:solidFill>
            <a:prstDash val="solid"/>
          </a:ln>
        </p:spPr>
      </p:sp>
      <p:sp>
        <p:nvSpPr>
          <p:cNvPr id="19" name="Shape 14"/>
          <p:cNvSpPr/>
          <p:nvPr/>
        </p:nvSpPr>
        <p:spPr>
          <a:xfrm>
            <a:off x="8046720" y="4968240"/>
            <a:ext cx="457200" cy="457200"/>
          </a:xfrm>
          <a:prstGeom prst="ellipse">
            <a:avLst/>
          </a:prstGeom>
          <a:solidFill>
            <a:srgbClr val="512BD4"/>
          </a:solidFill>
          <a:ln w="12700">
            <a:solidFill>
              <a:srgbClr val="512BD4"/>
            </a:solidFill>
            <a:prstDash val="solid"/>
          </a:ln>
        </p:spPr>
      </p:sp>
      <p:pic>
        <p:nvPicPr>
          <p:cNvPr id="20" name="Image 3" descr="preencoded.png">    </p:cNvPr>
          <p:cNvPicPr>
            <a:picLocks noChangeAspect="1"/>
          </p:cNvPicPr>
          <p:nvPr/>
        </p:nvPicPr>
        <p:blipFill>
          <a:blip r:embed="rId4"/>
          <a:stretch>
            <a:fillRect/>
          </a:stretch>
        </p:blipFill>
        <p:spPr>
          <a:xfrm>
            <a:off x="8161020" y="5082540"/>
            <a:ext cx="228600" cy="228600"/>
          </a:xfrm>
          <a:prstGeom prst="rect">
            <a:avLst/>
          </a:prstGeom>
        </p:spPr>
      </p:pic>
      <p:sp>
        <p:nvSpPr>
          <p:cNvPr id="21" name="Text 15"/>
          <p:cNvSpPr txBox="1"/>
          <p:nvPr/>
        </p:nvSpPr>
        <p:spPr>
          <a:xfrm>
            <a:off x="8686800" y="4968240"/>
            <a:ext cx="2773375" cy="457200"/>
          </a:xfrm>
          <a:prstGeom prst="rect">
            <a:avLst/>
          </a:prstGeom>
          <a:noFill/>
          <a:ln/>
        </p:spPr>
        <p:txBody>
          <a:bodyPr wrap="square" lIns="0" tIns="0" rIns="0" bIns="0" rtlCol="0" anchor="ctr"/>
          <a:lstStyle/>
          <a:p>
            <a:pPr algn="l" indent="0" marL="0">
              <a:buNone/>
            </a:pPr>
            <a:r>
              <a:rPr lang="en-US" altLang="en-US" sz="1400" b="1" dirty="0">
                <a:solidFill>
                  <a:srgbClr val="512BD4"/>
                </a:solidFill>
                <a:latin typeface="Arial" pitchFamily="34" charset="0"/>
                <a:ea typeface="Arial" pitchFamily="34" charset="-122"/>
                <a:cs typeface="Arial" pitchFamily="34" charset="-120"/>
              </a:rPr>
              <a:t>Deliverable</a:t>
            </a:r>
            <a:endParaRPr lang="en-US" sz="1400" dirty="0"/>
          </a:p>
        </p:txBody>
      </p:sp>
      <p:sp>
        <p:nvSpPr>
          <p:cNvPr id="22" name="Text 16"/>
          <p:cNvSpPr txBox="1"/>
          <p:nvPr/>
        </p:nvSpPr>
        <p:spPr>
          <a:xfrm>
            <a:off x="8046720" y="5471160"/>
            <a:ext cx="3413455" cy="60960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LOW STOCK warnings during sales; reports by category / Top 3 / low stock; bonus: deferred execution.</a:t>
            </a:r>
            <a:endParaRPr lang="en-US" sz="1300" dirty="0"/>
          </a:p>
        </p:txBody>
      </p:sp>
      <p:sp>
        <p:nvSpPr>
          <p:cNvPr id="23" name="Text 17"/>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24" name="Text 1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42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B1340"/>
        </a:solidFill>
      </p:bgPr>
    </p:bg>
    <p:spTree>
      <p:nvGrpSpPr>
        <p:cNvPr id="1" name=""/>
        <p:cNvGrpSpPr/>
        <p:nvPr/>
      </p:nvGrpSpPr>
      <p:grpSpPr>
        <a:xfrm>
          <a:off x="0" y="0"/>
          <a:ext cx="0" cy="0"/>
          <a:chOff x="0" y="0"/>
          <a:chExt cx="0" cy="0"/>
        </a:xfrm>
      </p:grpSpPr>
      <p:sp>
        <p:nvSpPr>
          <p:cNvPr id="2" name="Shape 0"/>
          <p:cNvSpPr/>
          <p:nvPr/>
        </p:nvSpPr>
        <p:spPr>
          <a:xfrm>
            <a:off x="-2926080" y="-2743200"/>
            <a:ext cx="7315200" cy="7315200"/>
          </a:xfrm>
          <a:prstGeom prst="ellipse">
            <a:avLst/>
          </a:prstGeom>
          <a:solidFill>
            <a:srgbClr val="512BD4">
              <a:alpha val="28000"/>
            </a:srgbClr>
          </a:solidFill>
          <a:ln w="12700">
            <a:solidFill>
              <a:srgbClr val="512BD4">
                <a:alpha val="0"/>
              </a:srgbClr>
            </a:solidFill>
            <a:prstDash val="solid"/>
          </a:ln>
        </p:spPr>
      </p:sp>
      <p:sp>
        <p:nvSpPr>
          <p:cNvPr id="3" name="Text 1"/>
          <p:cNvSpPr txBox="1"/>
          <p:nvPr/>
        </p:nvSpPr>
        <p:spPr>
          <a:xfrm>
            <a:off x="7711135" y="1188720"/>
            <a:ext cx="3657600" cy="2743200"/>
          </a:xfrm>
          <a:prstGeom prst="rect">
            <a:avLst/>
          </a:prstGeom>
          <a:noFill/>
          <a:ln/>
        </p:spPr>
        <p:txBody>
          <a:bodyPr wrap="square" lIns="0" tIns="0" rIns="0" bIns="0" rtlCol="0" anchor="ctr"/>
          <a:lstStyle/>
          <a:p>
            <a:pPr algn="r" indent="0" marL="0">
              <a:buNone/>
            </a:pPr>
            <a:r>
              <a:rPr lang="en-US" sz="13000" b="1" dirty="0">
                <a:solidFill>
                  <a:srgbClr val="FFB020"/>
                </a:solidFill>
                <a:latin typeface="Arial" pitchFamily="34" charset="0"/>
                <a:ea typeface="Arial" pitchFamily="34" charset="-122"/>
                <a:cs typeface="Arial" pitchFamily="34" charset="-120"/>
              </a:rPr>
              <a:t>06</a:t>
            </a:r>
            <a:endParaRPr lang="en-US" sz="13000" dirty="0"/>
          </a:p>
        </p:txBody>
      </p:sp>
      <p:sp>
        <p:nvSpPr>
          <p:cNvPr id="4" name="Text 2"/>
          <p:cNvSpPr txBox="1"/>
          <p:nvPr/>
        </p:nvSpPr>
        <p:spPr>
          <a:xfrm>
            <a:off x="548640" y="1828800"/>
            <a:ext cx="7223760" cy="1463040"/>
          </a:xfrm>
          <a:prstGeom prst="rect">
            <a:avLst/>
          </a:prstGeom>
          <a:noFill/>
          <a:ln/>
        </p:spPr>
        <p:txBody>
          <a:bodyPr wrap="square" lIns="0" tIns="0" rIns="0" bIns="0" rtlCol="0" anchor="ctr"/>
          <a:lstStyle/>
          <a:p>
            <a:pPr algn="l" indent="0" marL="0">
              <a:buNone/>
            </a:pPr>
            <a:r>
              <a:rPr lang="en-US" altLang="en-US" sz="4000" b="1" dirty="0">
                <a:solidFill>
                  <a:srgbClr val="FFFFFF"/>
                </a:solidFill>
                <a:latin typeface="Arial" pitchFamily="34" charset="0"/>
                <a:ea typeface="Arial" pitchFamily="34" charset="-122"/>
                <a:cs typeface="Arial" pitchFamily="34" charset="-120"/>
              </a:rPr>
              <a:t>Exceptions and Debugging</a:t>
            </a:r>
            <a:endParaRPr lang="en-US" sz="4000" dirty="0"/>
          </a:p>
        </p:txBody>
      </p:sp>
      <p:sp>
        <p:nvSpPr>
          <p:cNvPr id="5" name="Text 3"/>
          <p:cNvSpPr txBox="1"/>
          <p:nvPr/>
        </p:nvSpPr>
        <p:spPr>
          <a:xfrm>
            <a:off x="548640" y="3383280"/>
            <a:ext cx="7223760" cy="1463040"/>
          </a:xfrm>
          <a:prstGeom prst="rect">
            <a:avLst/>
          </a:prstGeom>
          <a:noFill/>
          <a:ln/>
        </p:spPr>
        <p:txBody>
          <a:bodyPr wrap="square" lIns="0" tIns="0" rIns="0" bIns="0" rtlCol="0" anchor="t"/>
          <a:lstStyle/>
          <a:p>
            <a:pPr algn="l" indent="0" marL="0">
              <a:buNone/>
            </a:pPr>
            <a:r>
              <a:rPr lang="en-US" altLang="en-US" sz="2000" dirty="0">
                <a:solidFill>
                  <a:srgbClr val="CFC7F5"/>
                </a:solidFill>
                <a:latin typeface="Arial" pitchFamily="34" charset="0"/>
                <a:ea typeface="Arial" pitchFamily="34" charset="-122"/>
                <a:cs typeface="Arial" pitchFamily="34" charset="-120"/>
              </a:rPr>
              <a:t>try/catch/finally, when, throw;, using, guard clauses, TryParse, the debugger</a:t>
            </a:r>
            <a:endParaRPr lang="en-US" sz="20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A79FD6"/>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9FD6"/>
                </a:solidFill>
                <a:latin typeface="Arial" pitchFamily="34" charset="0"/>
                <a:ea typeface="Arial" pitchFamily="34" charset="-122"/>
                <a:cs typeface="Arial" pitchFamily="34" charset="-120"/>
              </a:rPr>
              <a:t>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try / catch / finally / when</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508760"/>
            <a:ext cx="6858000" cy="4617720"/>
          </a:xfrm>
          <a:prstGeom prst="rect">
            <a:avLst/>
          </a:prstGeom>
          <a:noFill/>
          <a:ln/>
        </p:spPr>
        <p:txBody>
          <a:bodyPr wrap="square" lIns="635" tIns="635" rIns="635" bIns="635" rtlCol="0" anchor="t"/>
          <a:lstStyle/>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try</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var count = int.Parse(File.ReadAllText(path));</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Console.WriteLine(100 / count);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catch (FileNotFoundException ex)                 // specific first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Console.WriteLine($"missing: {ex.FileName}");</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catch (InsufficientFundsException ex) when (ex.Shortfall &gt; 1000)</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Escalate(ex);                                // exception filter</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catch (Exception ex)                             // general — last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logger.Log(ex);</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throw;                                       // not throw ex;</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finally</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Console.WriteLine("always");                 // cleanup</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p:txBody>
      </p:sp>
      <p:sp>
        <p:nvSpPr>
          <p:cNvPr id="5" name="Text 3"/>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The first matching catch handles it — specific before general</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finally always runs: after return, continue, an exception</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when — conditional catch, without unwinding the stack</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throw; keeps the stack trace; throw ex; resets it</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An empty catch = swallowing errors</a:t>
            </a:r>
            <a:endParaRPr lang="en-US" sz="16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44</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Custom exceptions</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508760"/>
            <a:ext cx="6858000" cy="4617720"/>
          </a:xfrm>
          <a:prstGeom prst="rect">
            <a:avLst/>
          </a:prstGeom>
          <a:noFill/>
          <a:ln/>
        </p:spPr>
        <p:txBody>
          <a:bodyPr wrap="square" lIns="635" tIns="635" rIns="635" bIns="635" rtlCol="0" anchor="t"/>
          <a:lstStyle/>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base for all domain exceptions</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public class BankException(string message) : Exception(message);</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public class InsufficientFundsException(</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string accountId, decimal requested, decimal available)</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 BankException(</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$"Insufficient funds in {accountId}: " +</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$"requested {requested:N2}, available {available:N2}")</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string AccountId { get; } = accountId;</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decimal Requested { get; } = requested;</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decimal Available { get; } = available;</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public decimal Shortfall =&gt; Requested - Available;</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a:t>
            </a:r>
            <a:endParaRPr lang="en-US" sz="1300" dirty="0"/>
          </a:p>
          <a:p>
            <a:pPr algn="l" indent="0" marL="0">
              <a:buNone/>
            </a:pP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 wrap without losing information</a:t>
            </a:r>
            <a:endParaRPr lang="en-US" sz="1300" dirty="0"/>
          </a:p>
          <a:p>
            <a:pPr algn="l" indent="0" marL="0">
              <a:buNone/>
            </a:pPr>
            <a:r>
              <a:rPr lang="en-US" altLang="en-US" sz="1300" dirty="0">
                <a:solidFill>
                  <a:srgbClr val="E6E6F0"/>
                </a:solidFill>
                <a:latin typeface="Courier New" pitchFamily="34" charset="0"/>
                <a:ea typeface="Courier New" pitchFamily="34" charset="-122"/>
                <a:cs typeface="Courier New" pitchFamily="34" charset="-120"/>
              </a:rPr>
              <a:t>throw new DataAccessException("load failed", innerException: ex);</a:t>
            </a:r>
            <a:endParaRPr lang="en-US" sz="1300" dirty="0"/>
          </a:p>
        </p:txBody>
      </p:sp>
      <p:sp>
        <p:nvSpPr>
          <p:cNvPr id="5" name="Text 3"/>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Exception suffix, derive from Exception</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A clear message built in the constructor</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Properties for the data the handler needs</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Hierarchy: one catch (BankException) for all business errors</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InnerException when wrapping</a:t>
            </a:r>
            <a:endParaRPr lang="en-US" sz="16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45</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using, guard clauses and TryParse</a:t>
            </a:r>
            <a:endParaRPr lang="en-US" sz="3200" dirty="0"/>
          </a:p>
        </p:txBody>
      </p:sp>
      <p:sp>
        <p:nvSpPr>
          <p:cNvPr id="3" name="Shape 1"/>
          <p:cNvSpPr/>
          <p:nvPr/>
        </p:nvSpPr>
        <p:spPr>
          <a:xfrm>
            <a:off x="548640" y="1371600"/>
            <a:ext cx="7223760" cy="4846320"/>
          </a:xfrm>
          <a:prstGeom prst="roundRect">
            <a:avLst>
              <a:gd name="adj" fmla="val 2264"/>
            </a:avLst>
          </a:prstGeom>
          <a:solidFill>
            <a:srgbClr val="1E1E2E"/>
          </a:solidFill>
          <a:ln w="12700">
            <a:solidFill>
              <a:srgbClr val="1E1E2E"/>
            </a:solidFill>
            <a:prstDash val="solid"/>
          </a:ln>
        </p:spPr>
      </p:sp>
      <p:sp>
        <p:nvSpPr>
          <p:cNvPr id="4" name="Text 2"/>
          <p:cNvSpPr txBox="1"/>
          <p:nvPr/>
        </p:nvSpPr>
        <p:spPr>
          <a:xfrm>
            <a:off x="731520" y="1508760"/>
            <a:ext cx="6858000" cy="4617720"/>
          </a:xfrm>
          <a:prstGeom prst="rect">
            <a:avLst/>
          </a:prstGeom>
          <a:noFill/>
          <a:ln/>
        </p:spPr>
        <p:txBody>
          <a:bodyPr wrap="square" lIns="635" tIns="635" rIns="635" bIns="635" rtlCol="0" anchor="t"/>
          <a:lstStyle/>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using (var writer = new StreamWriter("log.txt"))</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writer.WriteLine("hello");</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 Dispose() — even if an exception occurred</a:t>
            </a:r>
            <a:endParaRPr lang="en-US" sz="1200" dirty="0"/>
          </a:p>
          <a:p>
            <a:pPr algn="l" indent="0" marL="0">
              <a:buNone/>
            </a:pP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using var reader = new StreamReader("data.csv");   // until end of scope</a:t>
            </a:r>
            <a:endParaRPr lang="en-US" sz="1200" dirty="0"/>
          </a:p>
          <a:p>
            <a:pPr algn="l" indent="0" marL="0">
              <a:buNone/>
            </a:pP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public void Transfer(Account? from, Account? to, decimal amount)</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ArgumentNullException.ThrowIfNull(from);</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ArgumentNullException.ThrowIfNull(to);</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ArgumentOutOfRangeException.ThrowIfNegativeOrZero(amount);</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ArgumentException.ThrowIfNullOrEmpty(from.Id);</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 from here on — everything is valid</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a:t>
            </a:r>
            <a:endParaRPr lang="en-US" sz="1200" dirty="0"/>
          </a:p>
          <a:p>
            <a:pPr algn="l" indent="0" marL="0">
              <a:buNone/>
            </a:pP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if (int.TryParse(input, out int age) &amp;&amp; age is &gt;= 0 and &lt;= 120)</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Console.WriteLine($"ok {age}");</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else</a:t>
            </a:r>
            <a:endParaRPr lang="en-US" sz="1200" dirty="0"/>
          </a:p>
          <a:p>
            <a:pPr algn="l" indent="0" marL="0">
              <a:buNone/>
            </a:pPr>
            <a:r>
              <a:rPr lang="en-US" altLang="en-US" sz="1200" dirty="0">
                <a:solidFill>
                  <a:srgbClr val="E6E6F0"/>
                </a:solidFill>
                <a:latin typeface="Courier New" pitchFamily="34" charset="0"/>
                <a:ea typeface="Courier New" pitchFamily="34" charset="-122"/>
                <a:cs typeface="Courier New" pitchFamily="34" charset="-120"/>
              </a:rPr>
              <a:t>    Console.WriteLine("enter a number 0-120");   // no exception</a:t>
            </a:r>
            <a:endParaRPr lang="en-US" sz="1200" dirty="0"/>
          </a:p>
        </p:txBody>
      </p:sp>
      <p:sp>
        <p:nvSpPr>
          <p:cNvPr id="5" name="Text 3"/>
          <p:cNvSpPr txBox="1"/>
          <p:nvPr/>
        </p:nvSpPr>
        <p:spPr>
          <a:xfrm>
            <a:off x="8138160" y="1371600"/>
            <a:ext cx="3504895"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using = try/finally that calls Dispose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Without using: a locked file, an unflushed buffer</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Guard clauses: fail early, at the entrance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ThrowIfNull / ThrowIfNullOrEmpty / ThrowIfNegative</a:t>
            </a:r>
            <a:endParaRPr lang="en-US" sz="1600" dirty="0"/>
          </a:p>
          <a:p>
            <a:pPr algn="l" marL="342900" indent="-342900">
              <a:spcAft>
                <a:spcPts val="800"/>
              </a:spcAft>
              <a:buSzPct val="100000"/>
              <a:buChar char="•"/>
            </a:pPr>
            <a:r>
              <a:rPr lang="en-US" altLang="en-US" sz="1600" dirty="0">
                <a:solidFill>
                  <a:srgbClr val="1F1B2E"/>
                </a:solidFill>
                <a:latin typeface="Arial" pitchFamily="34" charset="0"/>
                <a:ea typeface="Arial" pitchFamily="34" charset="-122"/>
                <a:cs typeface="Arial" pitchFamily="34" charset="-120"/>
              </a:rPr>
              <a:t>Expected bad input = TryParse; broken rule = throw</a:t>
            </a:r>
            <a:endParaRPr lang="en-US" sz="16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46</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A debugging strategy</a:t>
            </a:r>
            <a:endParaRPr lang="en-US" sz="3200" dirty="0"/>
          </a:p>
        </p:txBody>
      </p:sp>
      <p:sp>
        <p:nvSpPr>
          <p:cNvPr id="3" name="Shape 1"/>
          <p:cNvSpPr/>
          <p:nvPr/>
        </p:nvSpPr>
        <p:spPr>
          <a:xfrm>
            <a:off x="548640" y="1508760"/>
            <a:ext cx="640080" cy="640080"/>
          </a:xfrm>
          <a:prstGeom prst="ellipse">
            <a:avLst/>
          </a:prstGeom>
          <a:solidFill>
            <a:srgbClr val="512BD4"/>
          </a:solidFill>
          <a:ln w="12700">
            <a:solidFill>
              <a:srgbClr val="512BD4"/>
            </a:solidFill>
            <a:prstDash val="solid"/>
          </a:ln>
        </p:spPr>
      </p:sp>
      <p:sp>
        <p:nvSpPr>
          <p:cNvPr id="4" name="Text 2"/>
          <p:cNvSpPr txBox="1"/>
          <p:nvPr/>
        </p:nvSpPr>
        <p:spPr>
          <a:xfrm>
            <a:off x="548640" y="15087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5" name="Text 3"/>
          <p:cNvSpPr txBox="1"/>
          <p:nvPr/>
        </p:nvSpPr>
        <p:spPr>
          <a:xfrm>
            <a:off x="1463040" y="1417320"/>
            <a:ext cx="10180015" cy="822960"/>
          </a:xfrm>
          <a:prstGeom prst="rect">
            <a:avLst/>
          </a:prstGeom>
          <a:noFill/>
          <a:ln/>
        </p:spPr>
        <p:txBody>
          <a:bodyPr wrap="square" lIns="0" tIns="0" rIns="0" bIns="0" rtlCol="0" anchor="ctr"/>
          <a:lstStyle/>
          <a:p>
            <a:pPr algn="l" indent="0" marL="0">
              <a:buNone/>
            </a:pPr>
            <a:r>
              <a:rPr lang="en-US" altLang="en-US" sz="1800" b="1" dirty="0">
                <a:solidFill>
                  <a:srgbClr val="1B1340"/>
                </a:solidFill>
                <a:latin typeface="Arial" pitchFamily="34" charset="0"/>
                <a:ea typeface="Arial" pitchFamily="34" charset="-122"/>
                <a:cs typeface="Arial" pitchFamily="34" charset="-120"/>
              </a:rPr>
              <a:t>Reproduce</a:t>
            </a:r>
            <a:endParaRPr lang="en-US" sz="1800" dirty="0"/>
          </a:p>
          <a:p>
            <a:pPr algn="l" indent="0" marL="0">
              <a:buNone/>
            </a:pPr>
            <a:r>
              <a:rPr lang="en-US" altLang="en-US" sz="1400" dirty="0">
                <a:solidFill>
                  <a:srgbClr val="6B6480"/>
                </a:solidFill>
                <a:latin typeface="Arial" pitchFamily="34" charset="0"/>
                <a:ea typeface="Arial" pitchFamily="34" charset="-122"/>
                <a:cs typeface="Arial" pitchFamily="34" charset="-120"/>
              </a:rPr>
              <a:t>Make the bug deterministic: same input, same result. Without that there is nothing to debug.</a:t>
            </a:r>
            <a:endParaRPr lang="en-US" sz="1800" dirty="0"/>
          </a:p>
        </p:txBody>
      </p:sp>
      <p:sp>
        <p:nvSpPr>
          <p:cNvPr id="6" name="Shape 4"/>
          <p:cNvSpPr/>
          <p:nvPr/>
        </p:nvSpPr>
        <p:spPr>
          <a:xfrm>
            <a:off x="548640" y="2423160"/>
            <a:ext cx="640080" cy="640080"/>
          </a:xfrm>
          <a:prstGeom prst="ellipse">
            <a:avLst/>
          </a:prstGeom>
          <a:solidFill>
            <a:srgbClr val="512BD4"/>
          </a:solidFill>
          <a:ln w="12700">
            <a:solidFill>
              <a:srgbClr val="512BD4"/>
            </a:solidFill>
            <a:prstDash val="solid"/>
          </a:ln>
        </p:spPr>
      </p:sp>
      <p:sp>
        <p:nvSpPr>
          <p:cNvPr id="7" name="Text 5"/>
          <p:cNvSpPr txBox="1"/>
          <p:nvPr/>
        </p:nvSpPr>
        <p:spPr>
          <a:xfrm>
            <a:off x="548640" y="24231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8" name="Text 6"/>
          <p:cNvSpPr txBox="1"/>
          <p:nvPr/>
        </p:nvSpPr>
        <p:spPr>
          <a:xfrm>
            <a:off x="1463040" y="2331720"/>
            <a:ext cx="10180015" cy="822960"/>
          </a:xfrm>
          <a:prstGeom prst="rect">
            <a:avLst/>
          </a:prstGeom>
          <a:noFill/>
          <a:ln/>
        </p:spPr>
        <p:txBody>
          <a:bodyPr wrap="square" lIns="0" tIns="0" rIns="0" bIns="0" rtlCol="0" anchor="ctr"/>
          <a:lstStyle/>
          <a:p>
            <a:pPr algn="l" indent="0" marL="0">
              <a:buNone/>
            </a:pPr>
            <a:r>
              <a:rPr lang="en-US" altLang="en-US" sz="1800" b="1" dirty="0">
                <a:solidFill>
                  <a:srgbClr val="1B1340"/>
                </a:solidFill>
                <a:latin typeface="Arial" pitchFamily="34" charset="0"/>
                <a:ea typeface="Arial" pitchFamily="34" charset="-122"/>
                <a:cs typeface="Arial" pitchFamily="34" charset="-120"/>
              </a:rPr>
              <a:t>Hypothesize</a:t>
            </a:r>
            <a:endParaRPr lang="en-US" sz="1800" dirty="0"/>
          </a:p>
          <a:p>
            <a:pPr algn="l" indent="0" marL="0">
              <a:buNone/>
            </a:pPr>
            <a:r>
              <a:rPr lang="en-US" altLang="en-US" sz="1400" dirty="0">
                <a:solidFill>
                  <a:srgbClr val="6B6480"/>
                </a:solidFill>
                <a:latin typeface="Arial" pitchFamily="34" charset="0"/>
                <a:ea typeface="Arial" pitchFamily="34" charset="-122"/>
                <a:cs typeface="Arial" pitchFamily="34" charset="-120"/>
              </a:rPr>
              <a:t>Where does the value "go bad"? Put a breakpoint before the suspect spot, not after it.</a:t>
            </a:r>
            <a:endParaRPr lang="en-US" sz="1800" dirty="0"/>
          </a:p>
        </p:txBody>
      </p:sp>
      <p:sp>
        <p:nvSpPr>
          <p:cNvPr id="9" name="Shape 7"/>
          <p:cNvSpPr/>
          <p:nvPr/>
        </p:nvSpPr>
        <p:spPr>
          <a:xfrm>
            <a:off x="548640" y="3337560"/>
            <a:ext cx="640080" cy="640080"/>
          </a:xfrm>
          <a:prstGeom prst="ellipse">
            <a:avLst/>
          </a:prstGeom>
          <a:solidFill>
            <a:srgbClr val="512BD4"/>
          </a:solidFill>
          <a:ln w="12700">
            <a:solidFill>
              <a:srgbClr val="512BD4"/>
            </a:solidFill>
            <a:prstDash val="solid"/>
          </a:ln>
        </p:spPr>
      </p:sp>
      <p:sp>
        <p:nvSpPr>
          <p:cNvPr id="10" name="Text 8"/>
          <p:cNvSpPr txBox="1"/>
          <p:nvPr/>
        </p:nvSpPr>
        <p:spPr>
          <a:xfrm>
            <a:off x="548640" y="33375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1" name="Text 9"/>
          <p:cNvSpPr txBox="1"/>
          <p:nvPr/>
        </p:nvSpPr>
        <p:spPr>
          <a:xfrm>
            <a:off x="1463040" y="3246120"/>
            <a:ext cx="10180015" cy="822960"/>
          </a:xfrm>
          <a:prstGeom prst="rect">
            <a:avLst/>
          </a:prstGeom>
          <a:noFill/>
          <a:ln/>
        </p:spPr>
        <p:txBody>
          <a:bodyPr wrap="square" lIns="0" tIns="0" rIns="0" bIns="0" rtlCol="0" anchor="ctr"/>
          <a:lstStyle/>
          <a:p>
            <a:pPr algn="l" indent="0" marL="0">
              <a:buNone/>
            </a:pPr>
            <a:r>
              <a:rPr lang="en-US" altLang="en-US" sz="1800" b="1" dirty="0">
                <a:solidFill>
                  <a:srgbClr val="1B1340"/>
                </a:solidFill>
                <a:latin typeface="Arial" pitchFamily="34" charset="0"/>
                <a:ea typeface="Arial" pitchFamily="34" charset="-122"/>
                <a:cs typeface="Arial" pitchFamily="34" charset="-120"/>
              </a:rPr>
              <a:t>Step</a:t>
            </a:r>
            <a:endParaRPr lang="en-US" sz="1800" dirty="0"/>
          </a:p>
          <a:p>
            <a:pPr algn="l" indent="0" marL="0">
              <a:buNone/>
            </a:pPr>
            <a:r>
              <a:rPr lang="en-US" altLang="en-US" sz="1400" dirty="0">
                <a:solidFill>
                  <a:srgbClr val="6B6480"/>
                </a:solidFill>
                <a:latin typeface="Arial" pitchFamily="34" charset="0"/>
                <a:ea typeface="Arial" pitchFamily="34" charset="-122"/>
                <a:cs typeface="Arial" pitchFamily="34" charset="-120"/>
              </a:rPr>
              <a:t>F10 line by line with a Watch on the variables involved. F11 to step into a method, Shift+F11 to step out.</a:t>
            </a:r>
            <a:endParaRPr lang="en-US" sz="1800" dirty="0"/>
          </a:p>
        </p:txBody>
      </p:sp>
      <p:sp>
        <p:nvSpPr>
          <p:cNvPr id="12" name="Shape 10"/>
          <p:cNvSpPr/>
          <p:nvPr/>
        </p:nvSpPr>
        <p:spPr>
          <a:xfrm>
            <a:off x="548640" y="4251960"/>
            <a:ext cx="640080" cy="640080"/>
          </a:xfrm>
          <a:prstGeom prst="ellipse">
            <a:avLst/>
          </a:prstGeom>
          <a:solidFill>
            <a:srgbClr val="512BD4"/>
          </a:solidFill>
          <a:ln w="12700">
            <a:solidFill>
              <a:srgbClr val="512BD4"/>
            </a:solidFill>
            <a:prstDash val="solid"/>
          </a:ln>
        </p:spPr>
      </p:sp>
      <p:sp>
        <p:nvSpPr>
          <p:cNvPr id="13" name="Text 11"/>
          <p:cNvSpPr txBox="1"/>
          <p:nvPr/>
        </p:nvSpPr>
        <p:spPr>
          <a:xfrm>
            <a:off x="548640" y="42519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4" name="Text 12"/>
          <p:cNvSpPr txBox="1"/>
          <p:nvPr/>
        </p:nvSpPr>
        <p:spPr>
          <a:xfrm>
            <a:off x="1463040" y="4160520"/>
            <a:ext cx="10180015" cy="822960"/>
          </a:xfrm>
          <a:prstGeom prst="rect">
            <a:avLst/>
          </a:prstGeom>
          <a:noFill/>
          <a:ln/>
        </p:spPr>
        <p:txBody>
          <a:bodyPr wrap="square" lIns="0" tIns="0" rIns="0" bIns="0" rtlCol="0" anchor="ctr"/>
          <a:lstStyle/>
          <a:p>
            <a:pPr algn="l" indent="0" marL="0">
              <a:buNone/>
            </a:pPr>
            <a:r>
              <a:rPr lang="en-US" altLang="en-US" sz="1800" b="1" dirty="0">
                <a:solidFill>
                  <a:srgbClr val="1B1340"/>
                </a:solidFill>
                <a:latin typeface="Arial" pitchFamily="34" charset="0"/>
                <a:ea typeface="Arial" pitchFamily="34" charset="-122"/>
                <a:cs typeface="Arial" pitchFamily="34" charset="-120"/>
              </a:rPr>
              <a:t>Test hypotheses</a:t>
            </a:r>
            <a:endParaRPr lang="en-US" sz="1800" dirty="0"/>
          </a:p>
          <a:p>
            <a:pPr algn="l" indent="0" marL="0">
              <a:buNone/>
            </a:pPr>
            <a:r>
              <a:rPr lang="en-US" altLang="en-US" sz="1400" dirty="0">
                <a:solidFill>
                  <a:srgbClr val="6B6480"/>
                </a:solidFill>
                <a:latin typeface="Arial" pitchFamily="34" charset="0"/>
                <a:ea typeface="Arial" pitchFamily="34" charset="-122"/>
                <a:cs typeface="Arial" pitchFamily="34" charset="-120"/>
              </a:rPr>
              <a:t>Immediate Window: type expressions (_accounts.Keys, Calc(5)) without changing code.</a:t>
            </a:r>
            <a:endParaRPr lang="en-US" sz="1800" dirty="0"/>
          </a:p>
        </p:txBody>
      </p:sp>
      <p:sp>
        <p:nvSpPr>
          <p:cNvPr id="15" name="Shape 13"/>
          <p:cNvSpPr/>
          <p:nvPr/>
        </p:nvSpPr>
        <p:spPr>
          <a:xfrm>
            <a:off x="548640" y="5166360"/>
            <a:ext cx="640080" cy="640080"/>
          </a:xfrm>
          <a:prstGeom prst="ellipse">
            <a:avLst/>
          </a:prstGeom>
          <a:solidFill>
            <a:srgbClr val="512BD4"/>
          </a:solidFill>
          <a:ln w="12700">
            <a:solidFill>
              <a:srgbClr val="512BD4"/>
            </a:solidFill>
            <a:prstDash val="solid"/>
          </a:ln>
        </p:spPr>
      </p:sp>
      <p:sp>
        <p:nvSpPr>
          <p:cNvPr id="16" name="Text 14"/>
          <p:cNvSpPr txBox="1"/>
          <p:nvPr/>
        </p:nvSpPr>
        <p:spPr>
          <a:xfrm>
            <a:off x="548640" y="5166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17" name="Text 15"/>
          <p:cNvSpPr txBox="1"/>
          <p:nvPr/>
        </p:nvSpPr>
        <p:spPr>
          <a:xfrm>
            <a:off x="1463040" y="5074920"/>
            <a:ext cx="10180015" cy="822960"/>
          </a:xfrm>
          <a:prstGeom prst="rect">
            <a:avLst/>
          </a:prstGeom>
          <a:noFill/>
          <a:ln/>
        </p:spPr>
        <p:txBody>
          <a:bodyPr wrap="square" lIns="0" tIns="0" rIns="0" bIns="0" rtlCol="0" anchor="ctr"/>
          <a:lstStyle/>
          <a:p>
            <a:pPr algn="l" indent="0" marL="0">
              <a:buNone/>
            </a:pPr>
            <a:r>
              <a:rPr lang="en-US" altLang="en-US" sz="1800" b="1" dirty="0">
                <a:solidFill>
                  <a:srgbClr val="1B1340"/>
                </a:solidFill>
                <a:latin typeface="Arial" pitchFamily="34" charset="0"/>
                <a:ea typeface="Arial" pitchFamily="34" charset="-122"/>
                <a:cs typeface="Arial" pitchFamily="34" charset="-120"/>
              </a:rPr>
              <a:t>Fix and verify</a:t>
            </a:r>
            <a:endParaRPr lang="en-US" sz="1800" dirty="0"/>
          </a:p>
          <a:p>
            <a:pPr algn="l" indent="0" marL="0">
              <a:buNone/>
            </a:pPr>
            <a:r>
              <a:rPr lang="en-US" altLang="en-US" sz="1400" dirty="0">
                <a:solidFill>
                  <a:srgbClr val="6B6480"/>
                </a:solidFill>
                <a:latin typeface="Arial" pitchFamily="34" charset="0"/>
                <a:ea typeface="Arial" pitchFamily="34" charset="-122"/>
                <a:cs typeface="Arial" pitchFamily="34" charset="-120"/>
              </a:rPr>
              <a:t>Edit &amp; Continue, rerun the reproduction. Ideally — write a test (Day 4).</a:t>
            </a:r>
            <a:endParaRPr lang="en-US" sz="1800" dirty="0"/>
          </a:p>
        </p:txBody>
      </p:sp>
      <p:sp>
        <p:nvSpPr>
          <p:cNvPr id="18" name="Shape 16"/>
          <p:cNvSpPr/>
          <p:nvPr/>
        </p:nvSpPr>
        <p:spPr>
          <a:xfrm>
            <a:off x="10362895" y="4846320"/>
            <a:ext cx="2926080" cy="2926080"/>
          </a:xfrm>
          <a:prstGeom prst="ellipse">
            <a:avLst/>
          </a:prstGeom>
          <a:solidFill>
            <a:srgbClr val="512BD4">
              <a:alpha val="18000"/>
            </a:srgbClr>
          </a:solidFill>
          <a:ln w="12700">
            <a:solidFill>
              <a:srgbClr val="512BD4">
                <a:alpha val="0"/>
              </a:srgbClr>
            </a:solidFill>
            <a:prstDash val="solid"/>
          </a:ln>
        </p:spPr>
      </p:sp>
      <p:sp>
        <p:nvSpPr>
          <p:cNvPr id="19" name="Shape 17"/>
          <p:cNvSpPr/>
          <p:nvPr/>
        </p:nvSpPr>
        <p:spPr>
          <a:xfrm>
            <a:off x="9905695" y="5852160"/>
            <a:ext cx="1463040" cy="1463040"/>
          </a:xfrm>
          <a:prstGeom prst="ellipse">
            <a:avLst/>
          </a:prstGeom>
          <a:solidFill>
            <a:srgbClr val="FFB020">
              <a:alpha val="25000"/>
            </a:srgbClr>
          </a:solidFill>
          <a:ln w="12700">
            <a:solidFill>
              <a:srgbClr val="FFB020">
                <a:alpha val="0"/>
              </a:srgbClr>
            </a:solidFill>
            <a:prstDash val="solid"/>
          </a:ln>
        </p:spPr>
      </p:sp>
      <p:sp>
        <p:nvSpPr>
          <p:cNvPr id="20" name="Text 18"/>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21" name="Text 1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47</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The debugger toolbox (Visual Studio)</a:t>
            </a:r>
            <a:endParaRPr lang="en-US" sz="3200" dirty="0"/>
          </a:p>
        </p:txBody>
      </p:sp>
      <p:sp>
        <p:nvSpPr>
          <p:cNvPr id="3" name="Shape 1"/>
          <p:cNvSpPr/>
          <p:nvPr/>
        </p:nvSpPr>
        <p:spPr>
          <a:xfrm>
            <a:off x="548640" y="1371600"/>
            <a:ext cx="3484778" cy="2263140"/>
          </a:xfrm>
          <a:prstGeom prst="roundRect">
            <a:avLst>
              <a:gd name="adj" fmla="val 6061"/>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777240" y="1600200"/>
            <a:ext cx="502920" cy="502920"/>
          </a:xfrm>
          <a:prstGeom prst="ellipse">
            <a:avLst/>
          </a:prstGeom>
          <a:solidFill>
            <a:srgbClr val="512BD4"/>
          </a:solidFill>
          <a:ln w="12700">
            <a:solidFill>
              <a:srgbClr val="512BD4"/>
            </a:solidFill>
            <a:prstDash val="solid"/>
          </a:ln>
        </p:spPr>
      </p:sp>
      <p:pic>
        <p:nvPicPr>
          <p:cNvPr id="5" name="Image 0" descr="preencoded.png">    </p:cNvPr>
          <p:cNvPicPr>
            <a:picLocks noChangeAspect="1"/>
          </p:cNvPicPr>
          <p:nvPr/>
        </p:nvPicPr>
        <p:blipFill>
          <a:blip r:embed="rId1"/>
          <a:stretch>
            <a:fillRect/>
          </a:stretch>
        </p:blipFill>
        <p:spPr>
          <a:xfrm>
            <a:off x="902970" y="1725930"/>
            <a:ext cx="251460" cy="251460"/>
          </a:xfrm>
          <a:prstGeom prst="rect">
            <a:avLst/>
          </a:prstGeom>
        </p:spPr>
      </p:pic>
      <p:sp>
        <p:nvSpPr>
          <p:cNvPr id="6" name="Text 3"/>
          <p:cNvSpPr txBox="1"/>
          <p:nvPr/>
        </p:nvSpPr>
        <p:spPr>
          <a:xfrm>
            <a:off x="777240" y="2240280"/>
            <a:ext cx="3027578" cy="457200"/>
          </a:xfrm>
          <a:prstGeom prst="rect">
            <a:avLst/>
          </a:prstGeom>
          <a:noFill/>
          <a:ln/>
        </p:spPr>
        <p:txBody>
          <a:bodyPr wrap="square" lIns="0" tIns="0" rIns="0" bIns="0" rtlCol="0" anchor="ctr">
            <a:normAutofit/>
          </a:bodyPr>
          <a:lstStyle/>
          <a:p>
            <a:pPr algn="l" indent="0" marL="0">
              <a:buNone/>
            </a:pPr>
            <a:r>
              <a:rPr lang="en-US" altLang="en-US" sz="1500" b="1" dirty="0">
                <a:solidFill>
                  <a:srgbClr val="1B1340"/>
                </a:solidFill>
                <a:latin typeface="Arial" pitchFamily="34" charset="0"/>
                <a:ea typeface="Arial" pitchFamily="34" charset="-122"/>
                <a:cs typeface="Arial" pitchFamily="34" charset="-120"/>
              </a:rPr>
              <a:t>Breakpoints</a:t>
            </a:r>
            <a:endParaRPr lang="en-US" sz="1500" dirty="0"/>
          </a:p>
        </p:txBody>
      </p:sp>
      <p:sp>
        <p:nvSpPr>
          <p:cNvPr id="7" name="Text 4"/>
          <p:cNvSpPr txBox="1"/>
          <p:nvPr/>
        </p:nvSpPr>
        <p:spPr>
          <a:xfrm>
            <a:off x="777240" y="2743200"/>
            <a:ext cx="3027578" cy="662940"/>
          </a:xfrm>
          <a:prstGeom prst="rect">
            <a:avLst/>
          </a:prstGeom>
          <a:noFill/>
          <a:ln/>
        </p:spPr>
        <p:txBody>
          <a:bodyPr wrap="square" lIns="0" tIns="0" rIns="0" bIns="0" rtlCol="0" anchor="t"/>
          <a:lstStyle/>
          <a:p>
            <a:pPr algn="l" indent="0" marL="0">
              <a:buNone/>
            </a:pPr>
            <a:r>
              <a:rPr lang="en-US" altLang="en-US" sz="1200" dirty="0">
                <a:solidFill>
                  <a:srgbClr val="1F1B2E"/>
                </a:solidFill>
                <a:latin typeface="Arial" pitchFamily="34" charset="0"/>
                <a:ea typeface="Arial" pitchFamily="34" charset="-122"/>
                <a:cs typeface="Arial" pitchFamily="34" charset="-120"/>
              </a:rPr>
              <a:t>F9; right-click → Conditions: amount &gt; 1000, Hit Count. Run to Cursor: Ctrl+F10.</a:t>
            </a:r>
            <a:endParaRPr lang="en-US" sz="1200" dirty="0"/>
          </a:p>
        </p:txBody>
      </p:sp>
      <p:sp>
        <p:nvSpPr>
          <p:cNvPr id="8" name="Shape 5"/>
          <p:cNvSpPr/>
          <p:nvPr/>
        </p:nvSpPr>
        <p:spPr>
          <a:xfrm>
            <a:off x="4353458" y="1371600"/>
            <a:ext cx="3484778" cy="2263140"/>
          </a:xfrm>
          <a:prstGeom prst="roundRect">
            <a:avLst>
              <a:gd name="adj" fmla="val 6061"/>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9" name="Shape 6"/>
          <p:cNvSpPr/>
          <p:nvPr/>
        </p:nvSpPr>
        <p:spPr>
          <a:xfrm>
            <a:off x="4582058" y="1600200"/>
            <a:ext cx="502920" cy="502920"/>
          </a:xfrm>
          <a:prstGeom prst="ellipse">
            <a:avLst/>
          </a:prstGeom>
          <a:solidFill>
            <a:srgbClr val="512BD4"/>
          </a:solidFill>
          <a:ln w="12700">
            <a:solidFill>
              <a:srgbClr val="512BD4"/>
            </a:solidFill>
            <a:prstDash val="solid"/>
          </a:ln>
        </p:spPr>
      </p:sp>
      <p:pic>
        <p:nvPicPr>
          <p:cNvPr id="10" name="Image 1" descr="preencoded.png">    </p:cNvPr>
          <p:cNvPicPr>
            <a:picLocks noChangeAspect="1"/>
          </p:cNvPicPr>
          <p:nvPr/>
        </p:nvPicPr>
        <p:blipFill>
          <a:blip r:embed="rId2"/>
          <a:stretch>
            <a:fillRect/>
          </a:stretch>
        </p:blipFill>
        <p:spPr>
          <a:xfrm>
            <a:off x="4707788" y="1725930"/>
            <a:ext cx="251460" cy="251460"/>
          </a:xfrm>
          <a:prstGeom prst="rect">
            <a:avLst/>
          </a:prstGeom>
        </p:spPr>
      </p:pic>
      <p:sp>
        <p:nvSpPr>
          <p:cNvPr id="11" name="Text 7"/>
          <p:cNvSpPr txBox="1"/>
          <p:nvPr/>
        </p:nvSpPr>
        <p:spPr>
          <a:xfrm>
            <a:off x="4582058" y="2240280"/>
            <a:ext cx="3027578" cy="457200"/>
          </a:xfrm>
          <a:prstGeom prst="rect">
            <a:avLst/>
          </a:prstGeom>
          <a:noFill/>
          <a:ln/>
        </p:spPr>
        <p:txBody>
          <a:bodyPr wrap="square" lIns="0" tIns="0" rIns="0" bIns="0" rtlCol="0" anchor="ctr">
            <a:normAutofit/>
          </a:bodyPr>
          <a:lstStyle/>
          <a:p>
            <a:pPr algn="l" indent="0" marL="0">
              <a:buNone/>
            </a:pPr>
            <a:r>
              <a:rPr lang="en-US" altLang="en-US" sz="1500" b="1" dirty="0">
                <a:solidFill>
                  <a:srgbClr val="1B1340"/>
                </a:solidFill>
                <a:latin typeface="Arial" pitchFamily="34" charset="0"/>
                <a:ea typeface="Arial" pitchFamily="34" charset="-122"/>
                <a:cs typeface="Arial" pitchFamily="34" charset="-120"/>
              </a:rPr>
              <a:t>Watch / Locals / DataTips</a:t>
            </a:r>
            <a:endParaRPr lang="en-US" sz="1500" dirty="0"/>
          </a:p>
        </p:txBody>
      </p:sp>
      <p:sp>
        <p:nvSpPr>
          <p:cNvPr id="12" name="Text 8"/>
          <p:cNvSpPr txBox="1"/>
          <p:nvPr/>
        </p:nvSpPr>
        <p:spPr>
          <a:xfrm>
            <a:off x="4582058" y="2743200"/>
            <a:ext cx="3027578" cy="662940"/>
          </a:xfrm>
          <a:prstGeom prst="rect">
            <a:avLst/>
          </a:prstGeom>
          <a:noFill/>
          <a:ln/>
        </p:spPr>
        <p:txBody>
          <a:bodyPr wrap="square" lIns="0" tIns="0" rIns="0" bIns="0" rtlCol="0" anchor="t"/>
          <a:lstStyle/>
          <a:p>
            <a:pPr algn="l" indent="0" marL="0">
              <a:buNone/>
            </a:pPr>
            <a:r>
              <a:rPr lang="en-US" altLang="en-US" sz="1200" dirty="0">
                <a:solidFill>
                  <a:srgbClr val="1F1B2E"/>
                </a:solidFill>
                <a:latin typeface="Arial" pitchFamily="34" charset="0"/>
                <a:ea typeface="Arial" pitchFamily="34" charset="-122"/>
                <a:cs typeface="Arial" pitchFamily="34" charset="-120"/>
              </a:rPr>
              <a:t>Live expressions while stepping; hover over a variable; pin it.</a:t>
            </a:r>
            <a:endParaRPr lang="en-US" sz="1200" dirty="0"/>
          </a:p>
        </p:txBody>
      </p:sp>
      <p:sp>
        <p:nvSpPr>
          <p:cNvPr id="13" name="Shape 9"/>
          <p:cNvSpPr/>
          <p:nvPr/>
        </p:nvSpPr>
        <p:spPr>
          <a:xfrm>
            <a:off x="8158277" y="1371600"/>
            <a:ext cx="3484778" cy="2263140"/>
          </a:xfrm>
          <a:prstGeom prst="roundRect">
            <a:avLst>
              <a:gd name="adj" fmla="val 6061"/>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14" name="Shape 10"/>
          <p:cNvSpPr/>
          <p:nvPr/>
        </p:nvSpPr>
        <p:spPr>
          <a:xfrm>
            <a:off x="8386877" y="1600200"/>
            <a:ext cx="502920" cy="502920"/>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8512607" y="1725930"/>
            <a:ext cx="251460" cy="251460"/>
          </a:xfrm>
          <a:prstGeom prst="rect">
            <a:avLst/>
          </a:prstGeom>
        </p:spPr>
      </p:pic>
      <p:sp>
        <p:nvSpPr>
          <p:cNvPr id="16" name="Text 11"/>
          <p:cNvSpPr txBox="1"/>
          <p:nvPr/>
        </p:nvSpPr>
        <p:spPr>
          <a:xfrm>
            <a:off x="8386877" y="2240280"/>
            <a:ext cx="3027578" cy="457200"/>
          </a:xfrm>
          <a:prstGeom prst="rect">
            <a:avLst/>
          </a:prstGeom>
          <a:noFill/>
          <a:ln/>
        </p:spPr>
        <p:txBody>
          <a:bodyPr wrap="square" lIns="0" tIns="0" rIns="0" bIns="0" rtlCol="0" anchor="ctr">
            <a:normAutofit/>
          </a:bodyPr>
          <a:lstStyle/>
          <a:p>
            <a:pPr algn="l" indent="0" marL="0">
              <a:buNone/>
            </a:pPr>
            <a:r>
              <a:rPr lang="en-US" altLang="en-US" sz="1500" b="1" dirty="0">
                <a:solidFill>
                  <a:srgbClr val="1B1340"/>
                </a:solidFill>
                <a:latin typeface="Arial" pitchFamily="34" charset="0"/>
                <a:ea typeface="Arial" pitchFamily="34" charset="-122"/>
                <a:cs typeface="Arial" pitchFamily="34" charset="-120"/>
              </a:rPr>
              <a:t>Immediate Window</a:t>
            </a:r>
            <a:endParaRPr lang="en-US" sz="1500" dirty="0"/>
          </a:p>
        </p:txBody>
      </p:sp>
      <p:sp>
        <p:nvSpPr>
          <p:cNvPr id="17" name="Text 12"/>
          <p:cNvSpPr txBox="1"/>
          <p:nvPr/>
        </p:nvSpPr>
        <p:spPr>
          <a:xfrm>
            <a:off x="8386877" y="2743200"/>
            <a:ext cx="3027578" cy="662940"/>
          </a:xfrm>
          <a:prstGeom prst="rect">
            <a:avLst/>
          </a:prstGeom>
          <a:noFill/>
          <a:ln/>
        </p:spPr>
        <p:txBody>
          <a:bodyPr wrap="square" lIns="0" tIns="0" rIns="0" bIns="0" rtlCol="0" anchor="t"/>
          <a:lstStyle/>
          <a:p>
            <a:pPr algn="l" indent="0" marL="0">
              <a:buNone/>
            </a:pPr>
            <a:r>
              <a:rPr lang="en-US" altLang="en-US" sz="1200" dirty="0">
                <a:solidFill>
                  <a:srgbClr val="1F1B2E"/>
                </a:solidFill>
                <a:latin typeface="Arial" pitchFamily="34" charset="0"/>
                <a:ea typeface="Arial" pitchFamily="34" charset="-122"/>
                <a:cs typeface="Arial" pitchFamily="34" charset="-120"/>
              </a:rPr>
              <a:t>Ctrl+Alt+I — evaluate expressions and call methods on the current state.</a:t>
            </a:r>
            <a:endParaRPr lang="en-US" sz="1200" dirty="0"/>
          </a:p>
        </p:txBody>
      </p:sp>
      <p:sp>
        <p:nvSpPr>
          <p:cNvPr id="18" name="Shape 13"/>
          <p:cNvSpPr/>
          <p:nvPr/>
        </p:nvSpPr>
        <p:spPr>
          <a:xfrm>
            <a:off x="548640" y="3954780"/>
            <a:ext cx="3484778" cy="2263140"/>
          </a:xfrm>
          <a:prstGeom prst="roundRect">
            <a:avLst>
              <a:gd name="adj" fmla="val 6061"/>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19" name="Shape 14"/>
          <p:cNvSpPr/>
          <p:nvPr/>
        </p:nvSpPr>
        <p:spPr>
          <a:xfrm>
            <a:off x="777240" y="4183380"/>
            <a:ext cx="502920" cy="502920"/>
          </a:xfrm>
          <a:prstGeom prst="ellipse">
            <a:avLst/>
          </a:prstGeom>
          <a:solidFill>
            <a:srgbClr val="512BD4"/>
          </a:solidFill>
          <a:ln w="12700">
            <a:solidFill>
              <a:srgbClr val="512BD4"/>
            </a:solidFill>
            <a:prstDash val="solid"/>
          </a:ln>
        </p:spPr>
      </p:sp>
      <p:pic>
        <p:nvPicPr>
          <p:cNvPr id="20" name="Image 3" descr="preencoded.png">    </p:cNvPr>
          <p:cNvPicPr>
            <a:picLocks noChangeAspect="1"/>
          </p:cNvPicPr>
          <p:nvPr/>
        </p:nvPicPr>
        <p:blipFill>
          <a:blip r:embed="rId4"/>
          <a:stretch>
            <a:fillRect/>
          </a:stretch>
        </p:blipFill>
        <p:spPr>
          <a:xfrm>
            <a:off x="902970" y="4309110"/>
            <a:ext cx="251460" cy="251460"/>
          </a:xfrm>
          <a:prstGeom prst="rect">
            <a:avLst/>
          </a:prstGeom>
        </p:spPr>
      </p:pic>
      <p:sp>
        <p:nvSpPr>
          <p:cNvPr id="21" name="Text 15"/>
          <p:cNvSpPr txBox="1"/>
          <p:nvPr/>
        </p:nvSpPr>
        <p:spPr>
          <a:xfrm>
            <a:off x="777240" y="4823460"/>
            <a:ext cx="3027578" cy="457200"/>
          </a:xfrm>
          <a:prstGeom prst="rect">
            <a:avLst/>
          </a:prstGeom>
          <a:noFill/>
          <a:ln/>
        </p:spPr>
        <p:txBody>
          <a:bodyPr wrap="square" lIns="0" tIns="0" rIns="0" bIns="0" rtlCol="0" anchor="ctr">
            <a:normAutofit/>
          </a:bodyPr>
          <a:lstStyle/>
          <a:p>
            <a:pPr algn="l" indent="0" marL="0">
              <a:buNone/>
            </a:pPr>
            <a:r>
              <a:rPr lang="en-US" altLang="en-US" sz="1500" b="1" dirty="0">
                <a:solidFill>
                  <a:srgbClr val="1B1340"/>
                </a:solidFill>
                <a:latin typeface="Arial" pitchFamily="34" charset="0"/>
                <a:ea typeface="Arial" pitchFamily="34" charset="-122"/>
                <a:cs typeface="Arial" pitchFamily="34" charset="-120"/>
              </a:rPr>
              <a:t>Call Stack</a:t>
            </a:r>
            <a:endParaRPr lang="en-US" sz="1500" dirty="0"/>
          </a:p>
        </p:txBody>
      </p:sp>
      <p:sp>
        <p:nvSpPr>
          <p:cNvPr id="22" name="Text 16"/>
          <p:cNvSpPr txBox="1"/>
          <p:nvPr/>
        </p:nvSpPr>
        <p:spPr>
          <a:xfrm>
            <a:off x="777240" y="5326380"/>
            <a:ext cx="3027578" cy="662940"/>
          </a:xfrm>
          <a:prstGeom prst="rect">
            <a:avLst/>
          </a:prstGeom>
          <a:noFill/>
          <a:ln/>
        </p:spPr>
        <p:txBody>
          <a:bodyPr wrap="square" lIns="0" tIns="0" rIns="0" bIns="0" rtlCol="0" anchor="t"/>
          <a:lstStyle/>
          <a:p>
            <a:pPr algn="l" indent="0" marL="0">
              <a:buNone/>
            </a:pPr>
            <a:r>
              <a:rPr lang="en-US" altLang="en-US" sz="1200" dirty="0">
                <a:solidFill>
                  <a:srgbClr val="1F1B2E"/>
                </a:solidFill>
                <a:latin typeface="Arial" pitchFamily="34" charset="0"/>
                <a:ea typeface="Arial" pitchFamily="34" charset="-122"/>
                <a:cs typeface="Arial" pitchFamily="34" charset="-120"/>
              </a:rPr>
              <a:t>Ctrl+Alt+C — how did I get here? Double-click jumps to a frame.</a:t>
            </a:r>
            <a:endParaRPr lang="en-US" sz="1200" dirty="0"/>
          </a:p>
        </p:txBody>
      </p:sp>
      <p:sp>
        <p:nvSpPr>
          <p:cNvPr id="23" name="Shape 17"/>
          <p:cNvSpPr/>
          <p:nvPr/>
        </p:nvSpPr>
        <p:spPr>
          <a:xfrm>
            <a:off x="4353458" y="3954780"/>
            <a:ext cx="3484778" cy="2263140"/>
          </a:xfrm>
          <a:prstGeom prst="roundRect">
            <a:avLst>
              <a:gd name="adj" fmla="val 6061"/>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24" name="Shape 18"/>
          <p:cNvSpPr/>
          <p:nvPr/>
        </p:nvSpPr>
        <p:spPr>
          <a:xfrm>
            <a:off x="4582058" y="4183380"/>
            <a:ext cx="502920" cy="502920"/>
          </a:xfrm>
          <a:prstGeom prst="ellipse">
            <a:avLst/>
          </a:prstGeom>
          <a:solidFill>
            <a:srgbClr val="512BD4"/>
          </a:solidFill>
          <a:ln w="12700">
            <a:solidFill>
              <a:srgbClr val="512BD4"/>
            </a:solidFill>
            <a:prstDash val="solid"/>
          </a:ln>
        </p:spPr>
      </p:sp>
      <p:pic>
        <p:nvPicPr>
          <p:cNvPr id="25" name="Image 4" descr="preencoded.png">    </p:cNvPr>
          <p:cNvPicPr>
            <a:picLocks noChangeAspect="1"/>
          </p:cNvPicPr>
          <p:nvPr/>
        </p:nvPicPr>
        <p:blipFill>
          <a:blip r:embed="rId5"/>
          <a:stretch>
            <a:fillRect/>
          </a:stretch>
        </p:blipFill>
        <p:spPr>
          <a:xfrm>
            <a:off x="4707788" y="4309110"/>
            <a:ext cx="251460" cy="251460"/>
          </a:xfrm>
          <a:prstGeom prst="rect">
            <a:avLst/>
          </a:prstGeom>
        </p:spPr>
      </p:pic>
      <p:sp>
        <p:nvSpPr>
          <p:cNvPr id="26" name="Text 19"/>
          <p:cNvSpPr txBox="1"/>
          <p:nvPr/>
        </p:nvSpPr>
        <p:spPr>
          <a:xfrm>
            <a:off x="4582058" y="4823460"/>
            <a:ext cx="3027578" cy="457200"/>
          </a:xfrm>
          <a:prstGeom prst="rect">
            <a:avLst/>
          </a:prstGeom>
          <a:noFill/>
          <a:ln/>
        </p:spPr>
        <p:txBody>
          <a:bodyPr wrap="square" lIns="0" tIns="0" rIns="0" bIns="0" rtlCol="0" anchor="ctr">
            <a:normAutofit/>
          </a:bodyPr>
          <a:lstStyle/>
          <a:p>
            <a:pPr algn="l" indent="0" marL="0">
              <a:buNone/>
            </a:pPr>
            <a:r>
              <a:rPr lang="en-US" altLang="en-US" sz="1500" b="1" dirty="0">
                <a:solidFill>
                  <a:srgbClr val="1B1340"/>
                </a:solidFill>
                <a:latin typeface="Arial" pitchFamily="34" charset="0"/>
                <a:ea typeface="Arial" pitchFamily="34" charset="-122"/>
                <a:cs typeface="Arial" pitchFamily="34" charset="-120"/>
              </a:rPr>
              <a:t>Exception Settings</a:t>
            </a:r>
            <a:endParaRPr lang="en-US" sz="1500" dirty="0"/>
          </a:p>
        </p:txBody>
      </p:sp>
      <p:sp>
        <p:nvSpPr>
          <p:cNvPr id="27" name="Text 20"/>
          <p:cNvSpPr txBox="1"/>
          <p:nvPr/>
        </p:nvSpPr>
        <p:spPr>
          <a:xfrm>
            <a:off x="4582058" y="5326380"/>
            <a:ext cx="3027578" cy="662940"/>
          </a:xfrm>
          <a:prstGeom prst="rect">
            <a:avLst/>
          </a:prstGeom>
          <a:noFill/>
          <a:ln/>
        </p:spPr>
        <p:txBody>
          <a:bodyPr wrap="square" lIns="0" tIns="0" rIns="0" bIns="0" rtlCol="0" anchor="t"/>
          <a:lstStyle/>
          <a:p>
            <a:pPr algn="l" indent="0" marL="0">
              <a:buNone/>
            </a:pPr>
            <a:r>
              <a:rPr lang="en-US" altLang="en-US" sz="1200" dirty="0">
                <a:solidFill>
                  <a:srgbClr val="1F1B2E"/>
                </a:solidFill>
                <a:latin typeface="Arial" pitchFamily="34" charset="0"/>
                <a:ea typeface="Arial" pitchFamily="34" charset="-122"/>
                <a:cs typeface="Arial" pitchFamily="34" charset="-120"/>
              </a:rPr>
              <a:t>Ctrl+Alt+E — break when thrown: stop where it is thrown, not in the catch.</a:t>
            </a:r>
            <a:endParaRPr lang="en-US" sz="1200" dirty="0"/>
          </a:p>
        </p:txBody>
      </p:sp>
      <p:sp>
        <p:nvSpPr>
          <p:cNvPr id="28" name="Shape 21"/>
          <p:cNvSpPr/>
          <p:nvPr/>
        </p:nvSpPr>
        <p:spPr>
          <a:xfrm>
            <a:off x="8158277" y="3954780"/>
            <a:ext cx="3484778" cy="2263140"/>
          </a:xfrm>
          <a:prstGeom prst="roundRect">
            <a:avLst>
              <a:gd name="adj" fmla="val 6061"/>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29" name="Shape 22"/>
          <p:cNvSpPr/>
          <p:nvPr/>
        </p:nvSpPr>
        <p:spPr>
          <a:xfrm>
            <a:off x="8386877" y="4183380"/>
            <a:ext cx="502920" cy="502920"/>
          </a:xfrm>
          <a:prstGeom prst="ellipse">
            <a:avLst/>
          </a:prstGeom>
          <a:solidFill>
            <a:srgbClr val="512BD4"/>
          </a:solidFill>
          <a:ln w="12700">
            <a:solidFill>
              <a:srgbClr val="512BD4"/>
            </a:solidFill>
            <a:prstDash val="solid"/>
          </a:ln>
        </p:spPr>
      </p:sp>
      <p:pic>
        <p:nvPicPr>
          <p:cNvPr id="30" name="Image 5" descr="preencoded.png">    </p:cNvPr>
          <p:cNvPicPr>
            <a:picLocks noChangeAspect="1"/>
          </p:cNvPicPr>
          <p:nvPr/>
        </p:nvPicPr>
        <p:blipFill>
          <a:blip r:embed="rId6"/>
          <a:stretch>
            <a:fillRect/>
          </a:stretch>
        </p:blipFill>
        <p:spPr>
          <a:xfrm>
            <a:off x="8512607" y="4309110"/>
            <a:ext cx="251460" cy="251460"/>
          </a:xfrm>
          <a:prstGeom prst="rect">
            <a:avLst/>
          </a:prstGeom>
        </p:spPr>
      </p:pic>
      <p:sp>
        <p:nvSpPr>
          <p:cNvPr id="31" name="Text 23"/>
          <p:cNvSpPr txBox="1"/>
          <p:nvPr/>
        </p:nvSpPr>
        <p:spPr>
          <a:xfrm>
            <a:off x="8386877" y="4823460"/>
            <a:ext cx="3027578" cy="457200"/>
          </a:xfrm>
          <a:prstGeom prst="rect">
            <a:avLst/>
          </a:prstGeom>
          <a:noFill/>
          <a:ln/>
        </p:spPr>
        <p:txBody>
          <a:bodyPr wrap="square" lIns="0" tIns="0" rIns="0" bIns="0" rtlCol="0" anchor="ctr">
            <a:normAutofit/>
          </a:bodyPr>
          <a:lstStyle/>
          <a:p>
            <a:pPr algn="l" indent="0" marL="0">
              <a:buNone/>
            </a:pPr>
            <a:r>
              <a:rPr lang="en-US" altLang="en-US" sz="1500" b="1" dirty="0">
                <a:solidFill>
                  <a:srgbClr val="1B1340"/>
                </a:solidFill>
                <a:latin typeface="Arial" pitchFamily="34" charset="0"/>
                <a:ea typeface="Arial" pitchFamily="34" charset="-122"/>
                <a:cs typeface="Arial" pitchFamily="34" charset="-120"/>
              </a:rPr>
              <a:t>Edit &amp; Continue + Debug.Assert</a:t>
            </a:r>
            <a:endParaRPr lang="en-US" sz="1500" dirty="0"/>
          </a:p>
        </p:txBody>
      </p:sp>
      <p:sp>
        <p:nvSpPr>
          <p:cNvPr id="32" name="Text 24"/>
          <p:cNvSpPr txBox="1"/>
          <p:nvPr/>
        </p:nvSpPr>
        <p:spPr>
          <a:xfrm>
            <a:off x="8386877" y="5326380"/>
            <a:ext cx="3027578" cy="662940"/>
          </a:xfrm>
          <a:prstGeom prst="rect">
            <a:avLst/>
          </a:prstGeom>
          <a:noFill/>
          <a:ln/>
        </p:spPr>
        <p:txBody>
          <a:bodyPr wrap="square" lIns="0" tIns="0" rIns="0" bIns="0" rtlCol="0" anchor="t"/>
          <a:lstStyle/>
          <a:p>
            <a:pPr algn="l" indent="0" marL="0">
              <a:buNone/>
            </a:pPr>
            <a:r>
              <a:rPr lang="en-US" altLang="en-US" sz="1200" dirty="0">
                <a:solidFill>
                  <a:srgbClr val="1F1B2E"/>
                </a:solidFill>
                <a:latin typeface="Arial" pitchFamily="34" charset="0"/>
                <a:ea typeface="Arial" pitchFamily="34" charset="-122"/>
                <a:cs typeface="Arial" pitchFamily="34" charset="-120"/>
              </a:rPr>
              <a:t>Change code while paused; Assert checks assumptions in Debug, removed in Release.</a:t>
            </a:r>
            <a:endParaRPr lang="en-US" sz="1200" dirty="0"/>
          </a:p>
        </p:txBody>
      </p:sp>
      <p:sp>
        <p:nvSpPr>
          <p:cNvPr id="33" name="Text 25"/>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34" name="Text 26"/>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48</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B1340"/>
        </a:solidFill>
      </p:bgPr>
    </p:bg>
    <p:spTree>
      <p:nvGrpSpPr>
        <p:cNvPr id="1" name=""/>
        <p:cNvGrpSpPr/>
        <p:nvPr/>
      </p:nvGrpSpPr>
      <p:grpSpPr>
        <a:xfrm>
          <a:off x="0" y="0"/>
          <a:ext cx="0" cy="0"/>
          <a:chOff x="0" y="0"/>
          <a:chExt cx="0" cy="0"/>
        </a:xfrm>
      </p:grpSpPr>
      <p:sp>
        <p:nvSpPr>
          <p:cNvPr id="2" name="Shape 0"/>
          <p:cNvSpPr/>
          <p:nvPr/>
        </p:nvSpPr>
        <p:spPr>
          <a:xfrm>
            <a:off x="-2926080" y="-2743200"/>
            <a:ext cx="7315200" cy="7315200"/>
          </a:xfrm>
          <a:prstGeom prst="ellipse">
            <a:avLst/>
          </a:prstGeom>
          <a:solidFill>
            <a:srgbClr val="512BD4">
              <a:alpha val="28000"/>
            </a:srgbClr>
          </a:solidFill>
          <a:ln w="12700">
            <a:solidFill>
              <a:srgbClr val="512BD4">
                <a:alpha val="0"/>
              </a:srgbClr>
            </a:solidFill>
            <a:prstDash val="solid"/>
          </a:ln>
        </p:spPr>
      </p:sp>
      <p:sp>
        <p:nvSpPr>
          <p:cNvPr id="3" name="Text 1"/>
          <p:cNvSpPr txBox="1"/>
          <p:nvPr/>
        </p:nvSpPr>
        <p:spPr>
          <a:xfrm>
            <a:off x="7711135" y="1188720"/>
            <a:ext cx="3657600" cy="2743200"/>
          </a:xfrm>
          <a:prstGeom prst="rect">
            <a:avLst/>
          </a:prstGeom>
          <a:noFill/>
          <a:ln/>
        </p:spPr>
        <p:txBody>
          <a:bodyPr wrap="square" lIns="0" tIns="0" rIns="0" bIns="0" rtlCol="0" anchor="ctr"/>
          <a:lstStyle/>
          <a:p>
            <a:pPr algn="r" indent="0" marL="0">
              <a:buNone/>
            </a:pPr>
            <a:r>
              <a:rPr lang="en-US" sz="13000" b="1" dirty="0">
                <a:solidFill>
                  <a:srgbClr val="FFB020"/>
                </a:solidFill>
                <a:latin typeface="Arial" pitchFamily="34" charset="0"/>
                <a:ea typeface="Arial" pitchFamily="34" charset="-122"/>
                <a:cs typeface="Arial" pitchFamily="34" charset="-120"/>
              </a:rPr>
              <a:t>07</a:t>
            </a:r>
            <a:endParaRPr lang="en-US" sz="13000" dirty="0"/>
          </a:p>
        </p:txBody>
      </p:sp>
      <p:sp>
        <p:nvSpPr>
          <p:cNvPr id="4" name="Text 2"/>
          <p:cNvSpPr txBox="1"/>
          <p:nvPr/>
        </p:nvSpPr>
        <p:spPr>
          <a:xfrm>
            <a:off x="548640" y="1828800"/>
            <a:ext cx="7223760" cy="1463040"/>
          </a:xfrm>
          <a:prstGeom prst="rect">
            <a:avLst/>
          </a:prstGeom>
          <a:noFill/>
          <a:ln/>
        </p:spPr>
        <p:txBody>
          <a:bodyPr wrap="square" lIns="0" tIns="0" rIns="0" bIns="0" rtlCol="0" anchor="ctr"/>
          <a:lstStyle/>
          <a:p>
            <a:pPr algn="l" indent="0" marL="0">
              <a:buNone/>
            </a:pPr>
            <a:r>
              <a:rPr lang="en-US" altLang="en-US" sz="4000" b="1" dirty="0">
                <a:solidFill>
                  <a:srgbClr val="FFFFFF"/>
                </a:solidFill>
                <a:latin typeface="Arial" pitchFamily="34" charset="0"/>
                <a:ea typeface="Arial" pitchFamily="34" charset="-122"/>
                <a:cs typeface="Arial" pitchFamily="34" charset="-120"/>
              </a:rPr>
              <a:t>Clean Code</a:t>
            </a:r>
            <a:endParaRPr lang="en-US" sz="4000" dirty="0"/>
          </a:p>
        </p:txBody>
      </p:sp>
      <p:sp>
        <p:nvSpPr>
          <p:cNvPr id="5" name="Text 3"/>
          <p:cNvSpPr txBox="1"/>
          <p:nvPr/>
        </p:nvSpPr>
        <p:spPr>
          <a:xfrm>
            <a:off x="548640" y="3383280"/>
            <a:ext cx="7223760" cy="1463040"/>
          </a:xfrm>
          <a:prstGeom prst="rect">
            <a:avLst/>
          </a:prstGeom>
          <a:noFill/>
          <a:ln/>
        </p:spPr>
        <p:txBody>
          <a:bodyPr wrap="square" lIns="0" tIns="0" rIns="0" bIns="0" rtlCol="0" anchor="t"/>
          <a:lstStyle/>
          <a:p>
            <a:pPr algn="l" indent="0" marL="0">
              <a:buNone/>
            </a:pPr>
            <a:r>
              <a:rPr lang="en-US" altLang="en-US" sz="2000" dirty="0">
                <a:solidFill>
                  <a:srgbClr val="CFC7F5"/>
                </a:solidFill>
                <a:latin typeface="Arial" pitchFamily="34" charset="0"/>
                <a:ea typeface="Arial" pitchFamily="34" charset="-122"/>
                <a:cs typeface="Arial" pitchFamily="34" charset="-120"/>
              </a:rPr>
              <a:t>Naming, small methods, SOLID, DRY, dotnet format, refactoring</a:t>
            </a:r>
            <a:endParaRPr lang="en-US" sz="20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A79FD6"/>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9FD6"/>
                </a:solidFill>
                <a:latin typeface="Arial" pitchFamily="34" charset="0"/>
                <a:ea typeface="Arial" pitchFamily="34" charset="-122"/>
                <a:cs typeface="Arial" pitchFamily="34" charset="-120"/>
              </a:rPr>
              <a:t>49</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Refactoring — before and after</a:t>
            </a:r>
            <a:endParaRPr lang="en-US" sz="3200" dirty="0"/>
          </a:p>
        </p:txBody>
      </p:sp>
      <p:sp>
        <p:nvSpPr>
          <p:cNvPr id="3" name="Shape 1"/>
          <p:cNvSpPr/>
          <p:nvPr/>
        </p:nvSpPr>
        <p:spPr>
          <a:xfrm>
            <a:off x="548640" y="1371600"/>
            <a:ext cx="5318608" cy="4846320"/>
          </a:xfrm>
          <a:prstGeom prst="roundRect">
            <a:avLst>
              <a:gd name="adj" fmla="val 2830"/>
            </a:avLst>
          </a:prstGeom>
          <a:solidFill>
            <a:srgbClr val="F3F0FF"/>
          </a:solidFill>
          <a:ln w="12700">
            <a:solidFill>
              <a:srgbClr val="F3F0FF"/>
            </a:solidFill>
            <a:prstDash val="solid"/>
          </a:ln>
        </p:spPr>
      </p:sp>
      <p:sp>
        <p:nvSpPr>
          <p:cNvPr id="4" name="Text 2"/>
          <p:cNvSpPr txBox="1"/>
          <p:nvPr/>
        </p:nvSpPr>
        <p:spPr>
          <a:xfrm>
            <a:off x="777240" y="1508760"/>
            <a:ext cx="4861408" cy="548640"/>
          </a:xfrm>
          <a:prstGeom prst="rect">
            <a:avLst/>
          </a:prstGeom>
          <a:noFill/>
          <a:ln/>
        </p:spPr>
        <p:txBody>
          <a:bodyPr wrap="square" lIns="0" tIns="0" rIns="0" bIns="0" rtlCol="0" anchor="t"/>
          <a:lstStyle/>
          <a:p>
            <a:pPr algn="l" indent="0" marL="0">
              <a:buNone/>
            </a:pPr>
            <a:r>
              <a:rPr lang="en-US" altLang="en-US" sz="2000" b="1" dirty="0">
                <a:solidFill>
                  <a:srgbClr val="512BD4"/>
                </a:solidFill>
                <a:latin typeface="Arial" pitchFamily="34" charset="0"/>
                <a:ea typeface="Arial" pitchFamily="34" charset="-122"/>
                <a:cs typeface="Arial" pitchFamily="34" charset="-120"/>
              </a:rPr>
              <a:t>Before</a:t>
            </a:r>
            <a:endParaRPr lang="en-US" sz="2000" dirty="0"/>
          </a:p>
        </p:txBody>
      </p:sp>
      <p:sp>
        <p:nvSpPr>
          <p:cNvPr id="5" name="Shape 3"/>
          <p:cNvSpPr/>
          <p:nvPr/>
        </p:nvSpPr>
        <p:spPr>
          <a:xfrm>
            <a:off x="731520" y="2103120"/>
            <a:ext cx="4952848" cy="3931920"/>
          </a:xfrm>
          <a:prstGeom prst="roundRect">
            <a:avLst>
              <a:gd name="adj" fmla="val 2326"/>
            </a:avLst>
          </a:prstGeom>
          <a:solidFill>
            <a:srgbClr val="1E1E2E"/>
          </a:solidFill>
          <a:ln w="12700">
            <a:solidFill>
              <a:srgbClr val="1E1E2E"/>
            </a:solidFill>
            <a:prstDash val="solid"/>
          </a:ln>
        </p:spPr>
      </p:sp>
      <p:sp>
        <p:nvSpPr>
          <p:cNvPr id="6" name="Text 4"/>
          <p:cNvSpPr txBox="1"/>
          <p:nvPr/>
        </p:nvSpPr>
        <p:spPr>
          <a:xfrm>
            <a:off x="822960" y="2194560"/>
            <a:ext cx="4769968" cy="3749040"/>
          </a:xfrm>
          <a:prstGeom prst="rect">
            <a:avLst/>
          </a:prstGeom>
          <a:noFill/>
          <a:ln/>
        </p:spPr>
        <p:txBody>
          <a:bodyPr wrap="square" lIns="635" tIns="635" rIns="635" bIns="635" rtlCol="0" anchor="t"/>
          <a:lstStyle/>
          <a:p>
            <a:pPr algn="l" indent="0" marL="0">
              <a:buNone/>
            </a:pPr>
            <a:r>
              <a:rPr lang="en-US" altLang="en-US" sz="1000" dirty="0">
                <a:solidFill>
                  <a:srgbClr val="E6E6F0"/>
                </a:solidFill>
                <a:latin typeface="Courier New" pitchFamily="34" charset="0"/>
                <a:ea typeface="Courier New" pitchFamily="34" charset="-122"/>
                <a:cs typeface="Courier New" pitchFamily="34" charset="-120"/>
              </a:rPr>
              <a:t>static double c(double a, int t, bool m)</a:t>
            </a:r>
            <a:endParaRPr lang="en-US" sz="1000" dirty="0"/>
          </a:p>
          <a:p>
            <a:pPr algn="l" indent="0" marL="0">
              <a:buNone/>
            </a:pPr>
            <a:r>
              <a:rPr lang="en-US" altLang="en-US" sz="1000" dirty="0">
                <a:solidFill>
                  <a:srgbClr val="E6E6F0"/>
                </a:solidFill>
                <a:latin typeface="Courier New" pitchFamily="34" charset="0"/>
                <a:ea typeface="Courier New" pitchFamily="34" charset="-122"/>
                <a:cs typeface="Courier New" pitchFamily="34" charset="-120"/>
              </a:rPr>
              <a:t>{</a:t>
            </a:r>
            <a:endParaRPr lang="en-US" sz="1000" dirty="0"/>
          </a:p>
          <a:p>
            <a:pPr algn="l" indent="0" marL="0">
              <a:buNone/>
            </a:pPr>
            <a:r>
              <a:rPr lang="en-US" altLang="en-US" sz="1000" dirty="0">
                <a:solidFill>
                  <a:srgbClr val="E6E6F0"/>
                </a:solidFill>
                <a:latin typeface="Courier New" pitchFamily="34" charset="0"/>
                <a:ea typeface="Courier New" pitchFamily="34" charset="-122"/>
                <a:cs typeface="Courier New" pitchFamily="34" charset="-120"/>
              </a:rPr>
              <a:t>    double r = 0;</a:t>
            </a:r>
            <a:endParaRPr lang="en-US" sz="1000" dirty="0"/>
          </a:p>
          <a:p>
            <a:pPr algn="l" indent="0" marL="0">
              <a:buNone/>
            </a:pPr>
            <a:r>
              <a:rPr lang="en-US" altLang="en-US" sz="1000" dirty="0">
                <a:solidFill>
                  <a:srgbClr val="E6E6F0"/>
                </a:solidFill>
                <a:latin typeface="Courier New" pitchFamily="34" charset="0"/>
                <a:ea typeface="Courier New" pitchFamily="34" charset="-122"/>
                <a:cs typeface="Courier New" pitchFamily="34" charset="-120"/>
              </a:rPr>
              <a:t>    if (t == 1) { r = a * 0.9; if (m) r = r - 5; }</a:t>
            </a:r>
            <a:endParaRPr lang="en-US" sz="1000" dirty="0"/>
          </a:p>
          <a:p>
            <a:pPr algn="l" indent="0" marL="0">
              <a:buNone/>
            </a:pPr>
            <a:r>
              <a:rPr lang="en-US" altLang="en-US" sz="1000" dirty="0">
                <a:solidFill>
                  <a:srgbClr val="E6E6F0"/>
                </a:solidFill>
                <a:latin typeface="Courier New" pitchFamily="34" charset="0"/>
                <a:ea typeface="Courier New" pitchFamily="34" charset="-122"/>
                <a:cs typeface="Courier New" pitchFamily="34" charset="-120"/>
              </a:rPr>
              <a:t>    else if (t == 2) { r = a * 0.8; if (m) r = r - 5; }</a:t>
            </a:r>
            <a:endParaRPr lang="en-US" sz="1000" dirty="0"/>
          </a:p>
          <a:p>
            <a:pPr algn="l" indent="0" marL="0">
              <a:buNone/>
            </a:pPr>
            <a:r>
              <a:rPr lang="en-US" altLang="en-US" sz="1000" dirty="0">
                <a:solidFill>
                  <a:srgbClr val="E6E6F0"/>
                </a:solidFill>
                <a:latin typeface="Courier New" pitchFamily="34" charset="0"/>
                <a:ea typeface="Courier New" pitchFamily="34" charset="-122"/>
                <a:cs typeface="Courier New" pitchFamily="34" charset="-120"/>
              </a:rPr>
              <a:t>    else { r = a; if (m) r = r - 5; }</a:t>
            </a:r>
            <a:endParaRPr lang="en-US" sz="1000" dirty="0"/>
          </a:p>
          <a:p>
            <a:pPr algn="l" indent="0" marL="0">
              <a:buNone/>
            </a:pPr>
            <a:r>
              <a:rPr lang="en-US" altLang="en-US" sz="1000" dirty="0">
                <a:solidFill>
                  <a:srgbClr val="E6E6F0"/>
                </a:solidFill>
                <a:latin typeface="Courier New" pitchFamily="34" charset="0"/>
                <a:ea typeface="Courier New" pitchFamily="34" charset="-122"/>
                <a:cs typeface="Courier New" pitchFamily="34" charset="-120"/>
              </a:rPr>
              <a:t>    if (r &lt; 0) r = 0;</a:t>
            </a:r>
            <a:endParaRPr lang="en-US" sz="1000" dirty="0"/>
          </a:p>
          <a:p>
            <a:pPr algn="l" indent="0" marL="0">
              <a:buNone/>
            </a:pPr>
            <a:r>
              <a:rPr lang="en-US" altLang="en-US" sz="1000" dirty="0">
                <a:solidFill>
                  <a:srgbClr val="E6E6F0"/>
                </a:solidFill>
                <a:latin typeface="Courier New" pitchFamily="34" charset="0"/>
                <a:ea typeface="Courier New" pitchFamily="34" charset="-122"/>
                <a:cs typeface="Courier New" pitchFamily="34" charset="-120"/>
              </a:rPr>
              <a:t>    return r * 1.18;</a:t>
            </a:r>
            <a:endParaRPr lang="en-US" sz="1000" dirty="0"/>
          </a:p>
          <a:p>
            <a:pPr algn="l" indent="0" marL="0">
              <a:buNone/>
            </a:pPr>
            <a:r>
              <a:rPr lang="en-US" altLang="en-US" sz="1000" dirty="0">
                <a:solidFill>
                  <a:srgbClr val="E6E6F0"/>
                </a:solidFill>
                <a:latin typeface="Courier New" pitchFamily="34" charset="0"/>
                <a:ea typeface="Courier New" pitchFamily="34" charset="-122"/>
                <a:cs typeface="Courier New" pitchFamily="34" charset="-120"/>
              </a:rPr>
              <a:t>}</a:t>
            </a:r>
            <a:endParaRPr lang="en-US" sz="1000" dirty="0"/>
          </a:p>
        </p:txBody>
      </p:sp>
      <p:sp>
        <p:nvSpPr>
          <p:cNvPr id="7" name="Shape 5"/>
          <p:cNvSpPr/>
          <p:nvPr/>
        </p:nvSpPr>
        <p:spPr>
          <a:xfrm>
            <a:off x="6324448" y="1371600"/>
            <a:ext cx="5318608" cy="4846320"/>
          </a:xfrm>
          <a:prstGeom prst="roundRect">
            <a:avLst>
              <a:gd name="adj" fmla="val 2830"/>
            </a:avLst>
          </a:prstGeom>
          <a:solidFill>
            <a:srgbClr val="F3F0FF"/>
          </a:solidFill>
          <a:ln w="12700">
            <a:solidFill>
              <a:srgbClr val="F3F0FF"/>
            </a:solidFill>
            <a:prstDash val="solid"/>
          </a:ln>
        </p:spPr>
      </p:sp>
      <p:sp>
        <p:nvSpPr>
          <p:cNvPr id="8" name="Text 6"/>
          <p:cNvSpPr txBox="1"/>
          <p:nvPr/>
        </p:nvSpPr>
        <p:spPr>
          <a:xfrm>
            <a:off x="6553048" y="1508760"/>
            <a:ext cx="4861408" cy="548640"/>
          </a:xfrm>
          <a:prstGeom prst="rect">
            <a:avLst/>
          </a:prstGeom>
          <a:noFill/>
          <a:ln/>
        </p:spPr>
        <p:txBody>
          <a:bodyPr wrap="square" lIns="0" tIns="0" rIns="0" bIns="0" rtlCol="0" anchor="t"/>
          <a:lstStyle/>
          <a:p>
            <a:pPr algn="l" indent="0" marL="0">
              <a:buNone/>
            </a:pPr>
            <a:r>
              <a:rPr lang="en-US" altLang="en-US" sz="2000" b="1" dirty="0">
                <a:solidFill>
                  <a:srgbClr val="512BD4"/>
                </a:solidFill>
                <a:latin typeface="Arial" pitchFamily="34" charset="0"/>
                <a:ea typeface="Arial" pitchFamily="34" charset="-122"/>
                <a:cs typeface="Arial" pitchFamily="34" charset="-120"/>
              </a:rPr>
              <a:t>After</a:t>
            </a:r>
            <a:endParaRPr lang="en-US" sz="2000" dirty="0"/>
          </a:p>
        </p:txBody>
      </p:sp>
      <p:sp>
        <p:nvSpPr>
          <p:cNvPr id="9" name="Shape 7"/>
          <p:cNvSpPr/>
          <p:nvPr/>
        </p:nvSpPr>
        <p:spPr>
          <a:xfrm>
            <a:off x="6507328" y="2103120"/>
            <a:ext cx="4952848" cy="3931920"/>
          </a:xfrm>
          <a:prstGeom prst="roundRect">
            <a:avLst>
              <a:gd name="adj" fmla="val 2326"/>
            </a:avLst>
          </a:prstGeom>
          <a:solidFill>
            <a:srgbClr val="1E1E2E"/>
          </a:solidFill>
          <a:ln w="12700">
            <a:solidFill>
              <a:srgbClr val="1E1E2E"/>
            </a:solidFill>
            <a:prstDash val="solid"/>
          </a:ln>
        </p:spPr>
      </p:sp>
      <p:sp>
        <p:nvSpPr>
          <p:cNvPr id="10" name="Text 8"/>
          <p:cNvSpPr txBox="1"/>
          <p:nvPr/>
        </p:nvSpPr>
        <p:spPr>
          <a:xfrm>
            <a:off x="6598768" y="2194560"/>
            <a:ext cx="4769968" cy="3749040"/>
          </a:xfrm>
          <a:prstGeom prst="rect">
            <a:avLst/>
          </a:prstGeom>
          <a:noFill/>
          <a:ln/>
        </p:spPr>
        <p:txBody>
          <a:bodyPr wrap="square" lIns="635" tIns="635" rIns="635" bIns="635" rtlCol="0" anchor="t"/>
          <a:lstStyle/>
          <a:p>
            <a:pPr algn="l" indent="0" marL="0">
              <a:buNone/>
            </a:pPr>
            <a:r>
              <a:rPr lang="en-US" altLang="en-US" sz="900" dirty="0">
                <a:solidFill>
                  <a:srgbClr val="E6E6F0"/>
                </a:solidFill>
                <a:latin typeface="Courier New" pitchFamily="34" charset="0"/>
                <a:ea typeface="Courier New" pitchFamily="34" charset="-122"/>
                <a:cs typeface="Courier New" pitchFamily="34" charset="-120"/>
              </a:rPr>
              <a:t>enum CustomerType { Regular, Silver, Gold }</a:t>
            </a:r>
            <a:endParaRPr lang="en-US" sz="900" dirty="0"/>
          </a:p>
          <a:p>
            <a:pPr algn="l" indent="0" marL="0">
              <a:buNone/>
            </a:pPr>
            <a:r>
              <a:rPr lang="en-US" altLang="en-US" sz="900" dirty="0">
                <a:solidFill>
                  <a:srgbClr val="E6E6F0"/>
                </a:solidFill>
                <a:latin typeface="Courier New" pitchFamily="34" charset="0"/>
                <a:ea typeface="Courier New" pitchFamily="34" charset="-122"/>
                <a:cs typeface="Courier New" pitchFamily="34" charset="-120"/>
              </a:rPr>
              <a:t>const decimal VatRate = 1.18m, MemberDiscount = 5m;</a:t>
            </a:r>
            <a:endParaRPr lang="en-US" sz="900" dirty="0"/>
          </a:p>
          <a:p>
            <a:pPr algn="l" indent="0" marL="0">
              <a:buNone/>
            </a:pPr>
            <a:endParaRPr lang="en-US" sz="900" dirty="0"/>
          </a:p>
          <a:p>
            <a:pPr algn="l" indent="0" marL="0">
              <a:buNone/>
            </a:pPr>
            <a:r>
              <a:rPr lang="en-US" altLang="en-US" sz="900" dirty="0">
                <a:solidFill>
                  <a:srgbClr val="E6E6F0"/>
                </a:solidFill>
                <a:latin typeface="Courier New" pitchFamily="34" charset="0"/>
                <a:ea typeface="Courier New" pitchFamily="34" charset="-122"/>
                <a:cs typeface="Courier New" pitchFamily="34" charset="-120"/>
              </a:rPr>
              <a:t>static decimal CalculatePriceWithVat(</a:t>
            </a:r>
            <a:endParaRPr lang="en-US" sz="900" dirty="0"/>
          </a:p>
          <a:p>
            <a:pPr algn="l" indent="0" marL="0">
              <a:buNone/>
            </a:pPr>
            <a:r>
              <a:rPr lang="en-US" altLang="en-US" sz="900" dirty="0">
                <a:solidFill>
                  <a:srgbClr val="E6E6F0"/>
                </a:solidFill>
                <a:latin typeface="Courier New" pitchFamily="34" charset="0"/>
                <a:ea typeface="Courier New" pitchFamily="34" charset="-122"/>
                <a:cs typeface="Courier New" pitchFamily="34" charset="-120"/>
              </a:rPr>
              <a:t>    decimal basePrice, CustomerType customer, bool isMember)</a:t>
            </a:r>
            <a:endParaRPr lang="en-US" sz="900" dirty="0"/>
          </a:p>
          <a:p>
            <a:pPr algn="l" indent="0" marL="0">
              <a:buNone/>
            </a:pPr>
            <a:r>
              <a:rPr lang="en-US" altLang="en-US" sz="900" dirty="0">
                <a:solidFill>
                  <a:srgbClr val="E6E6F0"/>
                </a:solidFill>
                <a:latin typeface="Courier New" pitchFamily="34" charset="0"/>
                <a:ea typeface="Courier New" pitchFamily="34" charset="-122"/>
                <a:cs typeface="Courier New" pitchFamily="34" charset="-120"/>
              </a:rPr>
              <a:t>{</a:t>
            </a:r>
            <a:endParaRPr lang="en-US" sz="900" dirty="0"/>
          </a:p>
          <a:p>
            <a:pPr algn="l" indent="0" marL="0">
              <a:buNone/>
            </a:pPr>
            <a:r>
              <a:rPr lang="en-US" altLang="en-US" sz="900" dirty="0">
                <a:solidFill>
                  <a:srgbClr val="E6E6F0"/>
                </a:solidFill>
                <a:latin typeface="Courier New" pitchFamily="34" charset="0"/>
                <a:ea typeface="Courier New" pitchFamily="34" charset="-122"/>
                <a:cs typeface="Courier New" pitchFamily="34" charset="-120"/>
              </a:rPr>
              <a:t>    decimal price = ApplyCustomerDiscount(basePrice, customer);</a:t>
            </a:r>
            <a:endParaRPr lang="en-US" sz="900" dirty="0"/>
          </a:p>
          <a:p>
            <a:pPr algn="l" indent="0" marL="0">
              <a:buNone/>
            </a:pPr>
            <a:r>
              <a:rPr lang="en-US" altLang="en-US" sz="900" dirty="0">
                <a:solidFill>
                  <a:srgbClr val="E6E6F0"/>
                </a:solidFill>
                <a:latin typeface="Courier New" pitchFamily="34" charset="0"/>
                <a:ea typeface="Courier New" pitchFamily="34" charset="-122"/>
                <a:cs typeface="Courier New" pitchFamily="34" charset="-120"/>
              </a:rPr>
              <a:t>    if (isMember) price -= MemberDiscount;</a:t>
            </a:r>
            <a:endParaRPr lang="en-US" sz="900" dirty="0"/>
          </a:p>
          <a:p>
            <a:pPr algn="l" indent="0" marL="0">
              <a:buNone/>
            </a:pPr>
            <a:r>
              <a:rPr lang="en-US" altLang="en-US" sz="900" dirty="0">
                <a:solidFill>
                  <a:srgbClr val="E6E6F0"/>
                </a:solidFill>
                <a:latin typeface="Courier New" pitchFamily="34" charset="0"/>
                <a:ea typeface="Courier New" pitchFamily="34" charset="-122"/>
                <a:cs typeface="Courier New" pitchFamily="34" charset="-120"/>
              </a:rPr>
              <a:t>    return Math.Max(price, 0) * VatRate;</a:t>
            </a:r>
            <a:endParaRPr lang="en-US" sz="900" dirty="0"/>
          </a:p>
          <a:p>
            <a:pPr algn="l" indent="0" marL="0">
              <a:buNone/>
            </a:pPr>
            <a:r>
              <a:rPr lang="en-US" altLang="en-US" sz="900" dirty="0">
                <a:solidFill>
                  <a:srgbClr val="E6E6F0"/>
                </a:solidFill>
                <a:latin typeface="Courier New" pitchFamily="34" charset="0"/>
                <a:ea typeface="Courier New" pitchFamily="34" charset="-122"/>
                <a:cs typeface="Courier New" pitchFamily="34" charset="-120"/>
              </a:rPr>
              <a:t>}</a:t>
            </a:r>
            <a:endParaRPr lang="en-US" sz="900" dirty="0"/>
          </a:p>
          <a:p>
            <a:pPr algn="l" indent="0" marL="0">
              <a:buNone/>
            </a:pPr>
            <a:endParaRPr lang="en-US" sz="900" dirty="0"/>
          </a:p>
          <a:p>
            <a:pPr algn="l" indent="0" marL="0">
              <a:buNone/>
            </a:pPr>
            <a:r>
              <a:rPr lang="en-US" altLang="en-US" sz="900" dirty="0">
                <a:solidFill>
                  <a:srgbClr val="E6E6F0"/>
                </a:solidFill>
                <a:latin typeface="Courier New" pitchFamily="34" charset="0"/>
                <a:ea typeface="Courier New" pitchFamily="34" charset="-122"/>
                <a:cs typeface="Courier New" pitchFamily="34" charset="-120"/>
              </a:rPr>
              <a:t>static decimal ApplyCustomerDiscount(decimal p, CustomerType c)</a:t>
            </a:r>
            <a:endParaRPr lang="en-US" sz="900" dirty="0"/>
          </a:p>
          <a:p>
            <a:pPr algn="l" indent="0" marL="0">
              <a:buNone/>
            </a:pPr>
            <a:r>
              <a:rPr lang="en-US" altLang="en-US" sz="900" dirty="0">
                <a:solidFill>
                  <a:srgbClr val="E6E6F0"/>
                </a:solidFill>
                <a:latin typeface="Courier New" pitchFamily="34" charset="0"/>
                <a:ea typeface="Courier New" pitchFamily="34" charset="-122"/>
                <a:cs typeface="Courier New" pitchFamily="34" charset="-120"/>
              </a:rPr>
              <a:t>    =&gt; c switch</a:t>
            </a:r>
            <a:endParaRPr lang="en-US" sz="900" dirty="0"/>
          </a:p>
          <a:p>
            <a:pPr algn="l" indent="0" marL="0">
              <a:buNone/>
            </a:pPr>
            <a:r>
              <a:rPr lang="en-US" altLang="en-US" sz="900" dirty="0">
                <a:solidFill>
                  <a:srgbClr val="E6E6F0"/>
                </a:solidFill>
                <a:latin typeface="Courier New" pitchFamily="34" charset="0"/>
                <a:ea typeface="Courier New" pitchFamily="34" charset="-122"/>
                <a:cs typeface="Courier New" pitchFamily="34" charset="-120"/>
              </a:rPr>
              <a:t>    {</a:t>
            </a:r>
            <a:endParaRPr lang="en-US" sz="900" dirty="0"/>
          </a:p>
          <a:p>
            <a:pPr algn="l" indent="0" marL="0">
              <a:buNone/>
            </a:pPr>
            <a:r>
              <a:rPr lang="en-US" altLang="en-US" sz="900" dirty="0">
                <a:solidFill>
                  <a:srgbClr val="E6E6F0"/>
                </a:solidFill>
                <a:latin typeface="Courier New" pitchFamily="34" charset="0"/>
                <a:ea typeface="Courier New" pitchFamily="34" charset="-122"/>
                <a:cs typeface="Courier New" pitchFamily="34" charset="-120"/>
              </a:rPr>
              <a:t>        CustomerType.Silver =&gt; p * 0.9m,</a:t>
            </a:r>
            <a:endParaRPr lang="en-US" sz="900" dirty="0"/>
          </a:p>
          <a:p>
            <a:pPr algn="l" indent="0" marL="0">
              <a:buNone/>
            </a:pPr>
            <a:r>
              <a:rPr lang="en-US" altLang="en-US" sz="900" dirty="0">
                <a:solidFill>
                  <a:srgbClr val="E6E6F0"/>
                </a:solidFill>
                <a:latin typeface="Courier New" pitchFamily="34" charset="0"/>
                <a:ea typeface="Courier New" pitchFamily="34" charset="-122"/>
                <a:cs typeface="Courier New" pitchFamily="34" charset="-120"/>
              </a:rPr>
              <a:t>        CustomerType.Gold   =&gt; p * 0.8m,</a:t>
            </a:r>
            <a:endParaRPr lang="en-US" sz="900" dirty="0"/>
          </a:p>
          <a:p>
            <a:pPr algn="l" indent="0" marL="0">
              <a:buNone/>
            </a:pPr>
            <a:r>
              <a:rPr lang="en-US" altLang="en-US" sz="900" dirty="0">
                <a:solidFill>
                  <a:srgbClr val="E6E6F0"/>
                </a:solidFill>
                <a:latin typeface="Courier New" pitchFamily="34" charset="0"/>
                <a:ea typeface="Courier New" pitchFamily="34" charset="-122"/>
                <a:cs typeface="Courier New" pitchFamily="34" charset="-120"/>
              </a:rPr>
              <a:t>        _ =&gt; p,</a:t>
            </a:r>
            <a:endParaRPr lang="en-US" sz="900" dirty="0"/>
          </a:p>
          <a:p>
            <a:pPr algn="l" indent="0" marL="0">
              <a:buNone/>
            </a:pPr>
            <a:r>
              <a:rPr lang="en-US" altLang="en-US" sz="900" dirty="0">
                <a:solidFill>
                  <a:srgbClr val="E6E6F0"/>
                </a:solidFill>
                <a:latin typeface="Courier New" pitchFamily="34" charset="0"/>
                <a:ea typeface="Courier New" pitchFamily="34" charset="-122"/>
                <a:cs typeface="Courier New" pitchFamily="34" charset="-120"/>
              </a:rPr>
              <a:t>    };</a:t>
            </a:r>
            <a:endParaRPr lang="en-US" sz="900" dirty="0"/>
          </a:p>
        </p:txBody>
      </p:sp>
      <p:sp>
        <p:nvSpPr>
          <p:cNvPr id="11" name="Text 9"/>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12" name="Text 10"/>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50</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SOLID in brief</a:t>
            </a:r>
            <a:endParaRPr lang="en-US" sz="3200" dirty="0"/>
          </a:p>
        </p:txBody>
      </p:sp>
      <p:sp>
        <p:nvSpPr>
          <p:cNvPr id="3" name="Shape 1"/>
          <p:cNvSpPr/>
          <p:nvPr/>
        </p:nvSpPr>
        <p:spPr>
          <a:xfrm>
            <a:off x="548640" y="1371600"/>
            <a:ext cx="3484778" cy="2263140"/>
          </a:xfrm>
          <a:prstGeom prst="roundRect">
            <a:avLst>
              <a:gd name="adj" fmla="val 6061"/>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777240" y="1600200"/>
            <a:ext cx="502920" cy="502920"/>
          </a:xfrm>
          <a:prstGeom prst="ellipse">
            <a:avLst/>
          </a:prstGeom>
          <a:solidFill>
            <a:srgbClr val="512BD4"/>
          </a:solidFill>
          <a:ln w="12700">
            <a:solidFill>
              <a:srgbClr val="512BD4"/>
            </a:solidFill>
            <a:prstDash val="solid"/>
          </a:ln>
        </p:spPr>
      </p:sp>
      <p:pic>
        <p:nvPicPr>
          <p:cNvPr id="5" name="Image 0" descr="preencoded.png">    </p:cNvPr>
          <p:cNvPicPr>
            <a:picLocks noChangeAspect="1"/>
          </p:cNvPicPr>
          <p:nvPr/>
        </p:nvPicPr>
        <p:blipFill>
          <a:blip r:embed="rId1"/>
          <a:stretch>
            <a:fillRect/>
          </a:stretch>
        </p:blipFill>
        <p:spPr>
          <a:xfrm>
            <a:off x="902970" y="1725930"/>
            <a:ext cx="251460" cy="251460"/>
          </a:xfrm>
          <a:prstGeom prst="rect">
            <a:avLst/>
          </a:prstGeom>
        </p:spPr>
      </p:pic>
      <p:sp>
        <p:nvSpPr>
          <p:cNvPr id="6" name="Text 3"/>
          <p:cNvSpPr txBox="1"/>
          <p:nvPr/>
        </p:nvSpPr>
        <p:spPr>
          <a:xfrm>
            <a:off x="777240" y="2240280"/>
            <a:ext cx="3027578" cy="457200"/>
          </a:xfrm>
          <a:prstGeom prst="rect">
            <a:avLst/>
          </a:prstGeom>
          <a:noFill/>
          <a:ln/>
        </p:spPr>
        <p:txBody>
          <a:bodyPr wrap="square" lIns="0" tIns="0" rIns="0" bIns="0" rtlCol="0" anchor="ctr">
            <a:normAutofit/>
          </a:bodyPr>
          <a:lstStyle/>
          <a:p>
            <a:pPr algn="l" indent="0" marL="0">
              <a:buNone/>
            </a:pPr>
            <a:r>
              <a:rPr lang="en-US" altLang="en-US" sz="1500" b="1" dirty="0">
                <a:solidFill>
                  <a:srgbClr val="1B1340"/>
                </a:solidFill>
                <a:latin typeface="Arial" pitchFamily="34" charset="0"/>
                <a:ea typeface="Arial" pitchFamily="34" charset="-122"/>
                <a:cs typeface="Arial" pitchFamily="34" charset="-120"/>
              </a:rPr>
              <a:t>S — Single Responsibility</a:t>
            </a:r>
            <a:endParaRPr lang="en-US" sz="1500" dirty="0"/>
          </a:p>
        </p:txBody>
      </p:sp>
      <p:sp>
        <p:nvSpPr>
          <p:cNvPr id="7" name="Text 4"/>
          <p:cNvSpPr txBox="1"/>
          <p:nvPr/>
        </p:nvSpPr>
        <p:spPr>
          <a:xfrm>
            <a:off x="777240" y="2743200"/>
            <a:ext cx="3027578" cy="662940"/>
          </a:xfrm>
          <a:prstGeom prst="rect">
            <a:avLst/>
          </a:prstGeom>
          <a:noFill/>
          <a:ln/>
        </p:spPr>
        <p:txBody>
          <a:bodyPr wrap="square" lIns="0" tIns="0" rIns="0" bIns="0" rtlCol="0" anchor="t"/>
          <a:lstStyle/>
          <a:p>
            <a:pPr algn="l" indent="0" marL="0">
              <a:buNone/>
            </a:pPr>
            <a:r>
              <a:rPr lang="en-US" altLang="en-US" sz="1200" dirty="0">
                <a:solidFill>
                  <a:srgbClr val="1F1B2E"/>
                </a:solidFill>
                <a:latin typeface="Arial" pitchFamily="34" charset="0"/>
                <a:ea typeface="Arial" pitchFamily="34" charset="-122"/>
                <a:cs typeface="Arial" pitchFamily="34" charset="-120"/>
              </a:rPr>
              <a:t>One reason to change. Order doesn't send emails.</a:t>
            </a:r>
            <a:endParaRPr lang="en-US" sz="1200" dirty="0"/>
          </a:p>
        </p:txBody>
      </p:sp>
      <p:sp>
        <p:nvSpPr>
          <p:cNvPr id="8" name="Shape 5"/>
          <p:cNvSpPr/>
          <p:nvPr/>
        </p:nvSpPr>
        <p:spPr>
          <a:xfrm>
            <a:off x="4353458" y="1371600"/>
            <a:ext cx="3484778" cy="2263140"/>
          </a:xfrm>
          <a:prstGeom prst="roundRect">
            <a:avLst>
              <a:gd name="adj" fmla="val 6061"/>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9" name="Shape 6"/>
          <p:cNvSpPr/>
          <p:nvPr/>
        </p:nvSpPr>
        <p:spPr>
          <a:xfrm>
            <a:off x="4582058" y="1600200"/>
            <a:ext cx="502920" cy="502920"/>
          </a:xfrm>
          <a:prstGeom prst="ellipse">
            <a:avLst/>
          </a:prstGeom>
          <a:solidFill>
            <a:srgbClr val="512BD4"/>
          </a:solidFill>
          <a:ln w="12700">
            <a:solidFill>
              <a:srgbClr val="512BD4"/>
            </a:solidFill>
            <a:prstDash val="solid"/>
          </a:ln>
        </p:spPr>
      </p:sp>
      <p:pic>
        <p:nvPicPr>
          <p:cNvPr id="10" name="Image 1" descr="preencoded.png">    </p:cNvPr>
          <p:cNvPicPr>
            <a:picLocks noChangeAspect="1"/>
          </p:cNvPicPr>
          <p:nvPr/>
        </p:nvPicPr>
        <p:blipFill>
          <a:blip r:embed="rId2"/>
          <a:stretch>
            <a:fillRect/>
          </a:stretch>
        </p:blipFill>
        <p:spPr>
          <a:xfrm>
            <a:off x="4707788" y="1725930"/>
            <a:ext cx="251460" cy="251460"/>
          </a:xfrm>
          <a:prstGeom prst="rect">
            <a:avLst/>
          </a:prstGeom>
        </p:spPr>
      </p:pic>
      <p:sp>
        <p:nvSpPr>
          <p:cNvPr id="11" name="Text 7"/>
          <p:cNvSpPr txBox="1"/>
          <p:nvPr/>
        </p:nvSpPr>
        <p:spPr>
          <a:xfrm>
            <a:off x="4582058" y="2240280"/>
            <a:ext cx="3027578" cy="457200"/>
          </a:xfrm>
          <a:prstGeom prst="rect">
            <a:avLst/>
          </a:prstGeom>
          <a:noFill/>
          <a:ln/>
        </p:spPr>
        <p:txBody>
          <a:bodyPr wrap="square" lIns="0" tIns="0" rIns="0" bIns="0" rtlCol="0" anchor="ctr">
            <a:normAutofit/>
          </a:bodyPr>
          <a:lstStyle/>
          <a:p>
            <a:pPr algn="l" indent="0" marL="0">
              <a:buNone/>
            </a:pPr>
            <a:r>
              <a:rPr lang="en-US" altLang="en-US" sz="1500" b="1" dirty="0">
                <a:solidFill>
                  <a:srgbClr val="1B1340"/>
                </a:solidFill>
                <a:latin typeface="Arial" pitchFamily="34" charset="0"/>
                <a:ea typeface="Arial" pitchFamily="34" charset="-122"/>
                <a:cs typeface="Arial" pitchFamily="34" charset="-120"/>
              </a:rPr>
              <a:t>O — Open/Closed</a:t>
            </a:r>
            <a:endParaRPr lang="en-US" sz="1500" dirty="0"/>
          </a:p>
        </p:txBody>
      </p:sp>
      <p:sp>
        <p:nvSpPr>
          <p:cNvPr id="12" name="Text 8"/>
          <p:cNvSpPr txBox="1"/>
          <p:nvPr/>
        </p:nvSpPr>
        <p:spPr>
          <a:xfrm>
            <a:off x="4582058" y="2743200"/>
            <a:ext cx="3027578" cy="662940"/>
          </a:xfrm>
          <a:prstGeom prst="rect">
            <a:avLst/>
          </a:prstGeom>
          <a:noFill/>
          <a:ln/>
        </p:spPr>
        <p:txBody>
          <a:bodyPr wrap="square" lIns="0" tIns="0" rIns="0" bIns="0" rtlCol="0" anchor="t"/>
          <a:lstStyle/>
          <a:p>
            <a:pPr algn="l" indent="0" marL="0">
              <a:buNone/>
            </a:pPr>
            <a:r>
              <a:rPr lang="en-US" altLang="en-US" sz="1200" dirty="0">
                <a:solidFill>
                  <a:srgbClr val="1F1B2E"/>
                </a:solidFill>
                <a:latin typeface="Arial" pitchFamily="34" charset="0"/>
                <a:ea typeface="Arial" pitchFamily="34" charset="-122"/>
                <a:cs typeface="Arial" pitchFamily="34" charset="-120"/>
              </a:rPr>
              <a:t>A new employee type = a new class, not another case.</a:t>
            </a:r>
            <a:endParaRPr lang="en-US" sz="1200" dirty="0"/>
          </a:p>
        </p:txBody>
      </p:sp>
      <p:sp>
        <p:nvSpPr>
          <p:cNvPr id="13" name="Shape 9"/>
          <p:cNvSpPr/>
          <p:nvPr/>
        </p:nvSpPr>
        <p:spPr>
          <a:xfrm>
            <a:off x="8158277" y="1371600"/>
            <a:ext cx="3484778" cy="2263140"/>
          </a:xfrm>
          <a:prstGeom prst="roundRect">
            <a:avLst>
              <a:gd name="adj" fmla="val 6061"/>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14" name="Shape 10"/>
          <p:cNvSpPr/>
          <p:nvPr/>
        </p:nvSpPr>
        <p:spPr>
          <a:xfrm>
            <a:off x="8386877" y="1600200"/>
            <a:ext cx="502920" cy="502920"/>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8512607" y="1725930"/>
            <a:ext cx="251460" cy="251460"/>
          </a:xfrm>
          <a:prstGeom prst="rect">
            <a:avLst/>
          </a:prstGeom>
        </p:spPr>
      </p:pic>
      <p:sp>
        <p:nvSpPr>
          <p:cNvPr id="16" name="Text 11"/>
          <p:cNvSpPr txBox="1"/>
          <p:nvPr/>
        </p:nvSpPr>
        <p:spPr>
          <a:xfrm>
            <a:off x="8386877" y="2240280"/>
            <a:ext cx="3027578" cy="457200"/>
          </a:xfrm>
          <a:prstGeom prst="rect">
            <a:avLst/>
          </a:prstGeom>
          <a:noFill/>
          <a:ln/>
        </p:spPr>
        <p:txBody>
          <a:bodyPr wrap="square" lIns="0" tIns="0" rIns="0" bIns="0" rtlCol="0" anchor="ctr">
            <a:normAutofit/>
          </a:bodyPr>
          <a:lstStyle/>
          <a:p>
            <a:pPr algn="l" indent="0" marL="0">
              <a:buNone/>
            </a:pPr>
            <a:r>
              <a:rPr lang="en-US" altLang="en-US" sz="1500" b="1" dirty="0">
                <a:solidFill>
                  <a:srgbClr val="1B1340"/>
                </a:solidFill>
                <a:latin typeface="Arial" pitchFamily="34" charset="0"/>
                <a:ea typeface="Arial" pitchFamily="34" charset="-122"/>
                <a:cs typeface="Arial" pitchFamily="34" charset="-120"/>
              </a:rPr>
              <a:t>L — Liskov</a:t>
            </a:r>
            <a:endParaRPr lang="en-US" sz="1500" dirty="0"/>
          </a:p>
        </p:txBody>
      </p:sp>
      <p:sp>
        <p:nvSpPr>
          <p:cNvPr id="17" name="Text 12"/>
          <p:cNvSpPr txBox="1"/>
          <p:nvPr/>
        </p:nvSpPr>
        <p:spPr>
          <a:xfrm>
            <a:off x="8386877" y="2743200"/>
            <a:ext cx="3027578" cy="662940"/>
          </a:xfrm>
          <a:prstGeom prst="rect">
            <a:avLst/>
          </a:prstGeom>
          <a:noFill/>
          <a:ln/>
        </p:spPr>
        <p:txBody>
          <a:bodyPr wrap="square" lIns="0" tIns="0" rIns="0" bIns="0" rtlCol="0" anchor="t"/>
          <a:lstStyle/>
          <a:p>
            <a:pPr algn="l" indent="0" marL="0">
              <a:buNone/>
            </a:pPr>
            <a:r>
              <a:rPr lang="en-US" altLang="en-US" sz="1200" dirty="0">
                <a:solidFill>
                  <a:srgbClr val="1F1B2E"/>
                </a:solidFill>
                <a:latin typeface="Arial" pitchFamily="34" charset="0"/>
                <a:ea typeface="Arial" pitchFamily="34" charset="-122"/>
                <a:cs typeface="Arial" pitchFamily="34" charset="-120"/>
              </a:rPr>
              <a:t>A derived class behaves like its parent from the caller's point of view.</a:t>
            </a:r>
            <a:endParaRPr lang="en-US" sz="1200" dirty="0"/>
          </a:p>
        </p:txBody>
      </p:sp>
      <p:sp>
        <p:nvSpPr>
          <p:cNvPr id="18" name="Shape 13"/>
          <p:cNvSpPr/>
          <p:nvPr/>
        </p:nvSpPr>
        <p:spPr>
          <a:xfrm>
            <a:off x="548640" y="3954780"/>
            <a:ext cx="3484778" cy="2263140"/>
          </a:xfrm>
          <a:prstGeom prst="roundRect">
            <a:avLst>
              <a:gd name="adj" fmla="val 6061"/>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19" name="Shape 14"/>
          <p:cNvSpPr/>
          <p:nvPr/>
        </p:nvSpPr>
        <p:spPr>
          <a:xfrm>
            <a:off x="777240" y="4183380"/>
            <a:ext cx="502920" cy="502920"/>
          </a:xfrm>
          <a:prstGeom prst="ellipse">
            <a:avLst/>
          </a:prstGeom>
          <a:solidFill>
            <a:srgbClr val="512BD4"/>
          </a:solidFill>
          <a:ln w="12700">
            <a:solidFill>
              <a:srgbClr val="512BD4"/>
            </a:solidFill>
            <a:prstDash val="solid"/>
          </a:ln>
        </p:spPr>
      </p:sp>
      <p:pic>
        <p:nvPicPr>
          <p:cNvPr id="20" name="Image 3" descr="preencoded.png">    </p:cNvPr>
          <p:cNvPicPr>
            <a:picLocks noChangeAspect="1"/>
          </p:cNvPicPr>
          <p:nvPr/>
        </p:nvPicPr>
        <p:blipFill>
          <a:blip r:embed="rId4"/>
          <a:stretch>
            <a:fillRect/>
          </a:stretch>
        </p:blipFill>
        <p:spPr>
          <a:xfrm>
            <a:off x="902970" y="4309110"/>
            <a:ext cx="251460" cy="251460"/>
          </a:xfrm>
          <a:prstGeom prst="rect">
            <a:avLst/>
          </a:prstGeom>
        </p:spPr>
      </p:pic>
      <p:sp>
        <p:nvSpPr>
          <p:cNvPr id="21" name="Text 15"/>
          <p:cNvSpPr txBox="1"/>
          <p:nvPr/>
        </p:nvSpPr>
        <p:spPr>
          <a:xfrm>
            <a:off x="777240" y="4823460"/>
            <a:ext cx="3027578" cy="457200"/>
          </a:xfrm>
          <a:prstGeom prst="rect">
            <a:avLst/>
          </a:prstGeom>
          <a:noFill/>
          <a:ln/>
        </p:spPr>
        <p:txBody>
          <a:bodyPr wrap="square" lIns="0" tIns="0" rIns="0" bIns="0" rtlCol="0" anchor="ctr">
            <a:normAutofit/>
          </a:bodyPr>
          <a:lstStyle/>
          <a:p>
            <a:pPr algn="l" indent="0" marL="0">
              <a:buNone/>
            </a:pPr>
            <a:r>
              <a:rPr lang="en-US" altLang="en-US" sz="1500" b="1" dirty="0">
                <a:solidFill>
                  <a:srgbClr val="1B1340"/>
                </a:solidFill>
                <a:latin typeface="Arial" pitchFamily="34" charset="0"/>
                <a:ea typeface="Arial" pitchFamily="34" charset="-122"/>
                <a:cs typeface="Arial" pitchFamily="34" charset="-120"/>
              </a:rPr>
              <a:t>I — Interface Segregation</a:t>
            </a:r>
            <a:endParaRPr lang="en-US" sz="1500" dirty="0"/>
          </a:p>
        </p:txBody>
      </p:sp>
      <p:sp>
        <p:nvSpPr>
          <p:cNvPr id="22" name="Text 16"/>
          <p:cNvSpPr txBox="1"/>
          <p:nvPr/>
        </p:nvSpPr>
        <p:spPr>
          <a:xfrm>
            <a:off x="777240" y="5326380"/>
            <a:ext cx="3027578" cy="662940"/>
          </a:xfrm>
          <a:prstGeom prst="rect">
            <a:avLst/>
          </a:prstGeom>
          <a:noFill/>
          <a:ln/>
        </p:spPr>
        <p:txBody>
          <a:bodyPr wrap="square" lIns="0" tIns="0" rIns="0" bIns="0" rtlCol="0" anchor="t"/>
          <a:lstStyle/>
          <a:p>
            <a:pPr algn="l" indent="0" marL="0">
              <a:buNone/>
            </a:pPr>
            <a:r>
              <a:rPr lang="en-US" altLang="en-US" sz="1200" dirty="0">
                <a:solidFill>
                  <a:srgbClr val="1F1B2E"/>
                </a:solidFill>
                <a:latin typeface="Arial" pitchFamily="34" charset="0"/>
                <a:ea typeface="Arial" pitchFamily="34" charset="-122"/>
                <a:cs typeface="Arial" pitchFamily="34" charset="-120"/>
              </a:rPr>
              <a:t>Small, focused interfaces, not 12 methods.</a:t>
            </a:r>
            <a:endParaRPr lang="en-US" sz="1200" dirty="0"/>
          </a:p>
        </p:txBody>
      </p:sp>
      <p:sp>
        <p:nvSpPr>
          <p:cNvPr id="23" name="Shape 17"/>
          <p:cNvSpPr/>
          <p:nvPr/>
        </p:nvSpPr>
        <p:spPr>
          <a:xfrm>
            <a:off x="4353458" y="3954780"/>
            <a:ext cx="3484778" cy="2263140"/>
          </a:xfrm>
          <a:prstGeom prst="roundRect">
            <a:avLst>
              <a:gd name="adj" fmla="val 6061"/>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24" name="Shape 18"/>
          <p:cNvSpPr/>
          <p:nvPr/>
        </p:nvSpPr>
        <p:spPr>
          <a:xfrm>
            <a:off x="4582058" y="4183380"/>
            <a:ext cx="502920" cy="502920"/>
          </a:xfrm>
          <a:prstGeom prst="ellipse">
            <a:avLst/>
          </a:prstGeom>
          <a:solidFill>
            <a:srgbClr val="512BD4"/>
          </a:solidFill>
          <a:ln w="12700">
            <a:solidFill>
              <a:srgbClr val="512BD4"/>
            </a:solidFill>
            <a:prstDash val="solid"/>
          </a:ln>
        </p:spPr>
      </p:sp>
      <p:pic>
        <p:nvPicPr>
          <p:cNvPr id="25" name="Image 4" descr="preencoded.png">    </p:cNvPr>
          <p:cNvPicPr>
            <a:picLocks noChangeAspect="1"/>
          </p:cNvPicPr>
          <p:nvPr/>
        </p:nvPicPr>
        <p:blipFill>
          <a:blip r:embed="rId5"/>
          <a:stretch>
            <a:fillRect/>
          </a:stretch>
        </p:blipFill>
        <p:spPr>
          <a:xfrm>
            <a:off x="4707788" y="4309110"/>
            <a:ext cx="251460" cy="251460"/>
          </a:xfrm>
          <a:prstGeom prst="rect">
            <a:avLst/>
          </a:prstGeom>
        </p:spPr>
      </p:pic>
      <p:sp>
        <p:nvSpPr>
          <p:cNvPr id="26" name="Text 19"/>
          <p:cNvSpPr txBox="1"/>
          <p:nvPr/>
        </p:nvSpPr>
        <p:spPr>
          <a:xfrm>
            <a:off x="4582058" y="4823460"/>
            <a:ext cx="3027578" cy="457200"/>
          </a:xfrm>
          <a:prstGeom prst="rect">
            <a:avLst/>
          </a:prstGeom>
          <a:noFill/>
          <a:ln/>
        </p:spPr>
        <p:txBody>
          <a:bodyPr wrap="square" lIns="0" tIns="0" rIns="0" bIns="0" rtlCol="0" anchor="ctr">
            <a:normAutofit/>
          </a:bodyPr>
          <a:lstStyle/>
          <a:p>
            <a:pPr algn="l" indent="0" marL="0">
              <a:buNone/>
            </a:pPr>
            <a:r>
              <a:rPr lang="en-US" altLang="en-US" sz="1500" b="1" dirty="0">
                <a:solidFill>
                  <a:srgbClr val="1B1340"/>
                </a:solidFill>
                <a:latin typeface="Arial" pitchFamily="34" charset="0"/>
                <a:ea typeface="Arial" pitchFamily="34" charset="-122"/>
                <a:cs typeface="Arial" pitchFamily="34" charset="-120"/>
              </a:rPr>
              <a:t>D — Dependency Inversion</a:t>
            </a:r>
            <a:endParaRPr lang="en-US" sz="1500" dirty="0"/>
          </a:p>
        </p:txBody>
      </p:sp>
      <p:sp>
        <p:nvSpPr>
          <p:cNvPr id="27" name="Text 20"/>
          <p:cNvSpPr txBox="1"/>
          <p:nvPr/>
        </p:nvSpPr>
        <p:spPr>
          <a:xfrm>
            <a:off x="4582058" y="5326380"/>
            <a:ext cx="3027578" cy="662940"/>
          </a:xfrm>
          <a:prstGeom prst="rect">
            <a:avLst/>
          </a:prstGeom>
          <a:noFill/>
          <a:ln/>
        </p:spPr>
        <p:txBody>
          <a:bodyPr wrap="square" lIns="0" tIns="0" rIns="0" bIns="0" rtlCol="0" anchor="t"/>
          <a:lstStyle/>
          <a:p>
            <a:pPr algn="l" indent="0" marL="0">
              <a:buNone/>
            </a:pPr>
            <a:r>
              <a:rPr lang="en-US" altLang="en-US" sz="1200" dirty="0">
                <a:solidFill>
                  <a:srgbClr val="1F1B2E"/>
                </a:solidFill>
                <a:latin typeface="Arial" pitchFamily="34" charset="0"/>
                <a:ea typeface="Arial" pitchFamily="34" charset="-122"/>
                <a:cs typeface="Arial" pitchFamily="34" charset="-120"/>
              </a:rPr>
              <a:t>Depend on ILogger, not on new FileLogger().</a:t>
            </a:r>
            <a:endParaRPr lang="en-US" sz="1200" dirty="0"/>
          </a:p>
        </p:txBody>
      </p:sp>
      <p:sp>
        <p:nvSpPr>
          <p:cNvPr id="28" name="Shape 21"/>
          <p:cNvSpPr/>
          <p:nvPr/>
        </p:nvSpPr>
        <p:spPr>
          <a:xfrm>
            <a:off x="8158277" y="3954780"/>
            <a:ext cx="3484778" cy="2263140"/>
          </a:xfrm>
          <a:prstGeom prst="roundRect">
            <a:avLst>
              <a:gd name="adj" fmla="val 6061"/>
            </a:avLst>
          </a:prstGeom>
          <a:solidFill>
            <a:srgbClr val="F3F0FF"/>
          </a:solidFill>
          <a:ln w="12700">
            <a:solidFill>
              <a:srgbClr val="F3F0FF"/>
            </a:solidFill>
            <a:prstDash val="solid"/>
          </a:ln>
          <a:effectLst>
            <a:outerShdw sx="100000" sy="100000" kx="0" ky="0" algn="bl" rotWithShape="0" blurRad="76200" dist="25400" dir="5400000">
              <a:srgbClr val="000000">
                <a:alpha val="12000"/>
              </a:srgbClr>
            </a:outerShdw>
          </a:effectLst>
        </p:spPr>
      </p:sp>
      <p:sp>
        <p:nvSpPr>
          <p:cNvPr id="29" name="Shape 22"/>
          <p:cNvSpPr/>
          <p:nvPr/>
        </p:nvSpPr>
        <p:spPr>
          <a:xfrm>
            <a:off x="8386877" y="4183380"/>
            <a:ext cx="502920" cy="502920"/>
          </a:xfrm>
          <a:prstGeom prst="ellipse">
            <a:avLst/>
          </a:prstGeom>
          <a:solidFill>
            <a:srgbClr val="512BD4"/>
          </a:solidFill>
          <a:ln w="12700">
            <a:solidFill>
              <a:srgbClr val="512BD4"/>
            </a:solidFill>
            <a:prstDash val="solid"/>
          </a:ln>
        </p:spPr>
      </p:sp>
      <p:pic>
        <p:nvPicPr>
          <p:cNvPr id="30" name="Image 5" descr="preencoded.png">    </p:cNvPr>
          <p:cNvPicPr>
            <a:picLocks noChangeAspect="1"/>
          </p:cNvPicPr>
          <p:nvPr/>
        </p:nvPicPr>
        <p:blipFill>
          <a:blip r:embed="rId6"/>
          <a:stretch>
            <a:fillRect/>
          </a:stretch>
        </p:blipFill>
        <p:spPr>
          <a:xfrm>
            <a:off x="8512607" y="4309110"/>
            <a:ext cx="251460" cy="251460"/>
          </a:xfrm>
          <a:prstGeom prst="rect">
            <a:avLst/>
          </a:prstGeom>
        </p:spPr>
      </p:pic>
      <p:sp>
        <p:nvSpPr>
          <p:cNvPr id="31" name="Text 23"/>
          <p:cNvSpPr txBox="1"/>
          <p:nvPr/>
        </p:nvSpPr>
        <p:spPr>
          <a:xfrm>
            <a:off x="8386877" y="4823460"/>
            <a:ext cx="3027578" cy="457200"/>
          </a:xfrm>
          <a:prstGeom prst="rect">
            <a:avLst/>
          </a:prstGeom>
          <a:noFill/>
          <a:ln/>
        </p:spPr>
        <p:txBody>
          <a:bodyPr wrap="square" lIns="0" tIns="0" rIns="0" bIns="0" rtlCol="0" anchor="ctr">
            <a:normAutofit/>
          </a:bodyPr>
          <a:lstStyle/>
          <a:p>
            <a:pPr algn="l" indent="0" marL="0">
              <a:buNone/>
            </a:pPr>
            <a:r>
              <a:rPr lang="en-US" altLang="en-US" sz="1500" b="1" dirty="0">
                <a:solidFill>
                  <a:srgbClr val="1B1340"/>
                </a:solidFill>
                <a:latin typeface="Arial" pitchFamily="34" charset="0"/>
                <a:ea typeface="Arial" pitchFamily="34" charset="-122"/>
                <a:cs typeface="Arial" pitchFamily="34" charset="-120"/>
              </a:rPr>
              <a:t>DRY</a:t>
            </a:r>
            <a:endParaRPr lang="en-US" sz="1500" dirty="0"/>
          </a:p>
        </p:txBody>
      </p:sp>
      <p:sp>
        <p:nvSpPr>
          <p:cNvPr id="32" name="Text 24"/>
          <p:cNvSpPr txBox="1"/>
          <p:nvPr/>
        </p:nvSpPr>
        <p:spPr>
          <a:xfrm>
            <a:off x="8386877" y="5326380"/>
            <a:ext cx="3027578" cy="662940"/>
          </a:xfrm>
          <a:prstGeom prst="rect">
            <a:avLst/>
          </a:prstGeom>
          <a:noFill/>
          <a:ln/>
        </p:spPr>
        <p:txBody>
          <a:bodyPr wrap="square" lIns="0" tIns="0" rIns="0" bIns="0" rtlCol="0" anchor="t"/>
          <a:lstStyle/>
          <a:p>
            <a:pPr algn="l" indent="0" marL="0">
              <a:buNone/>
            </a:pPr>
            <a:r>
              <a:rPr lang="en-US" altLang="en-US" sz="1200" dirty="0">
                <a:solidFill>
                  <a:srgbClr val="1F1B2E"/>
                </a:solidFill>
                <a:latin typeface="Arial" pitchFamily="34" charset="0"/>
                <a:ea typeface="Arial" pitchFamily="34" charset="-122"/>
                <a:cs typeface="Arial" pitchFamily="34" charset="-120"/>
              </a:rPr>
              <a:t>Don't repeat knowledge. Extract a method / a delegate.</a:t>
            </a:r>
            <a:endParaRPr lang="en-US" sz="1200" dirty="0"/>
          </a:p>
        </p:txBody>
      </p:sp>
      <p:sp>
        <p:nvSpPr>
          <p:cNvPr id="33" name="Text 25"/>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34" name="Text 26"/>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51</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Everyday habits</a:t>
            </a:r>
            <a:endParaRPr lang="en-US" sz="3200" dirty="0"/>
          </a:p>
        </p:txBody>
      </p:sp>
      <p:sp>
        <p:nvSpPr>
          <p:cNvPr id="3" name="Text 1"/>
          <p:cNvSpPr txBox="1"/>
          <p:nvPr/>
        </p:nvSpPr>
        <p:spPr>
          <a:xfrm>
            <a:off x="548640" y="1371600"/>
            <a:ext cx="8168335" cy="4754880"/>
          </a:xfrm>
          <a:prstGeom prst="rect">
            <a:avLst/>
          </a:prstGeom>
          <a:noFill/>
          <a:ln/>
        </p:spPr>
        <p:txBody>
          <a:bodyPr wrap="square" lIns="1270" tIns="1270" rIns="1270" bIns="1270" rtlCol="0" anchor="t"/>
          <a:lstStyle/>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Names that express intent: elapsedDays, IsEligibleForDiscount — not d / Check</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Small methods (~20 lines) doing one thing; "And" in the name = two methods</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Magic numbers → const / static readonly / enum</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Comments explain "why", not "what"; commented-out code — delete it, there's git</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.editorconfig + dotnet format — one style for the team</a:t>
            </a:r>
            <a:endParaRPr lang="en-US" sz="1800" dirty="0"/>
          </a:p>
          <a:p>
            <a:pPr algn="l" lvl="1" marL="508000" indent="-254000">
              <a:spcAft>
                <a:spcPts val="400"/>
              </a:spcAft>
              <a:buSzPct val="100000"/>
              <a:buChar char="•"/>
            </a:pPr>
            <a:r>
              <a:rPr lang="en-US" altLang="en-US" sz="1500" dirty="0">
                <a:solidFill>
                  <a:srgbClr val="6B6480"/>
                </a:solidFill>
                <a:latin typeface="Arial" pitchFamily="34" charset="0"/>
                <a:ea typeface="Arial" pitchFamily="34" charset="-122"/>
                <a:cs typeface="Arial" pitchFamily="34" charset="-120"/>
              </a:rPr>
              <a:t>dotnet format --verify-no-changes in CI</a:t>
            </a:r>
            <a:endParaRPr lang="en-US" sz="1800" dirty="0"/>
          </a:p>
          <a:p>
            <a:pPr algn="l" lvl="1" marL="508000" indent="-254000">
              <a:spcAft>
                <a:spcPts val="400"/>
              </a:spcAft>
              <a:buSzPct val="100000"/>
              <a:buChar char="•"/>
            </a:pPr>
            <a:r>
              <a:rPr lang="en-US" altLang="en-US" sz="1500" dirty="0">
                <a:solidFill>
                  <a:srgbClr val="6B6480"/>
                </a:solidFill>
                <a:latin typeface="Arial" pitchFamily="34" charset="0"/>
                <a:ea typeface="Arial" pitchFamily="34" charset="-122"/>
                <a:cs typeface="Arial" pitchFamily="34" charset="-120"/>
              </a:rPr>
              <a:t>TreatWarningsAsErrors in new projects</a:t>
            </a:r>
            <a:endParaRPr lang="en-US" sz="1800" dirty="0"/>
          </a:p>
          <a:p>
            <a:pPr algn="l" marL="342900" indent="-342900">
              <a:spcAft>
                <a:spcPts val="800"/>
              </a:spcAft>
              <a:buSzPct val="100000"/>
              <a:buChar char="•"/>
            </a:pPr>
            <a:r>
              <a:rPr lang="en-US" altLang="en-US" sz="1800" dirty="0">
                <a:solidFill>
                  <a:srgbClr val="1F1B2E"/>
                </a:solidFill>
                <a:latin typeface="Arial" pitchFamily="34" charset="0"/>
                <a:ea typeface="Arial" pitchFamily="34" charset="-122"/>
                <a:cs typeface="Arial" pitchFamily="34" charset="-120"/>
              </a:rPr>
              <a:t>Reusable code: interfaces, generics, delegates — today's tools</a:t>
            </a:r>
            <a:endParaRPr lang="en-US" sz="1800" dirty="0"/>
          </a:p>
        </p:txBody>
      </p:sp>
      <p:sp>
        <p:nvSpPr>
          <p:cNvPr id="4" name="Shape 2"/>
          <p:cNvSpPr/>
          <p:nvPr/>
        </p:nvSpPr>
        <p:spPr>
          <a:xfrm>
            <a:off x="9357055" y="2377440"/>
            <a:ext cx="1828800" cy="1828800"/>
          </a:xfrm>
          <a:prstGeom prst="ellipse">
            <a:avLst/>
          </a:prstGeom>
          <a:solidFill>
            <a:srgbClr val="F3F0FF"/>
          </a:solidFill>
          <a:ln w="12700">
            <a:solidFill>
              <a:srgbClr val="F3F0FF"/>
            </a:solidFill>
            <a:prstDash val="solid"/>
          </a:ln>
        </p:spPr>
      </p:sp>
      <p:pic>
        <p:nvPicPr>
          <p:cNvPr id="5" name="Image 0" descr="preencoded.png">    </p:cNvPr>
          <p:cNvPicPr>
            <a:picLocks noChangeAspect="1"/>
          </p:cNvPicPr>
          <p:nvPr/>
        </p:nvPicPr>
        <p:blipFill>
          <a:blip r:embed="rId1"/>
          <a:stretch>
            <a:fillRect/>
          </a:stretch>
        </p:blipFill>
        <p:spPr>
          <a:xfrm>
            <a:off x="9814255" y="2834640"/>
            <a:ext cx="914400" cy="914400"/>
          </a:xfrm>
          <a:prstGeom prst="rect">
            <a:avLst/>
          </a:prstGeom>
        </p:spPr>
      </p:pic>
      <p:sp>
        <p:nvSpPr>
          <p:cNvPr id="6" name="Text 3"/>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52</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3F0FF"/>
        </a:solidFill>
      </p:bgPr>
    </p:bg>
    <p:spTree>
      <p:nvGrpSpPr>
        <p:cNvPr id="1" name=""/>
        <p:cNvGrpSpPr/>
        <p:nvPr/>
      </p:nvGrpSpPr>
      <p:grpSpPr>
        <a:xfrm>
          <a:off x="0" y="0"/>
          <a:ext cx="0" cy="0"/>
          <a:chOff x="0" y="0"/>
          <a:chExt cx="0" cy="0"/>
        </a:xfrm>
      </p:grpSpPr>
      <p:sp>
        <p:nvSpPr>
          <p:cNvPr id="2" name="Shape 0"/>
          <p:cNvSpPr/>
          <p:nvPr/>
        </p:nvSpPr>
        <p:spPr>
          <a:xfrm>
            <a:off x="548640" y="411480"/>
            <a:ext cx="822960" cy="822960"/>
          </a:xfrm>
          <a:prstGeom prst="ellipse">
            <a:avLst/>
          </a:prstGeom>
          <a:solidFill>
            <a:srgbClr val="FFB020"/>
          </a:solidFill>
          <a:ln w="12700">
            <a:solidFill>
              <a:srgbClr val="FFB020"/>
            </a:solidFill>
            <a:prstDash val="solid"/>
          </a:ln>
        </p:spPr>
      </p:sp>
      <p:pic>
        <p:nvPicPr>
          <p:cNvPr id="3" name="Image 0" descr="preencoded.png">    </p:cNvPr>
          <p:cNvPicPr>
            <a:picLocks noChangeAspect="1"/>
          </p:cNvPicPr>
          <p:nvPr/>
        </p:nvPicPr>
        <p:blipFill>
          <a:blip r:embed="rId1"/>
          <a:stretch>
            <a:fillRect/>
          </a:stretch>
        </p:blipFill>
        <p:spPr>
          <a:xfrm>
            <a:off x="754380" y="617220"/>
            <a:ext cx="411480" cy="411480"/>
          </a:xfrm>
          <a:prstGeom prst="rect">
            <a:avLst/>
          </a:prstGeom>
        </p:spPr>
      </p:pic>
      <p:sp>
        <p:nvSpPr>
          <p:cNvPr id="4" name="Text 1"/>
          <p:cNvSpPr txBox="1"/>
          <p:nvPr/>
        </p:nvSpPr>
        <p:spPr>
          <a:xfrm>
            <a:off x="1554480" y="365760"/>
            <a:ext cx="10088575" cy="822960"/>
          </a:xfrm>
          <a:prstGeom prst="rect">
            <a:avLst/>
          </a:prstGeom>
          <a:noFill/>
          <a:ln/>
        </p:spPr>
        <p:txBody>
          <a:bodyPr wrap="square" lIns="0" tIns="0" rIns="0" bIns="0" rtlCol="0" anchor="ctr"/>
          <a:lstStyle/>
          <a:p>
            <a:pPr algn="l" indent="0" marL="0">
              <a:buNone/>
            </a:pPr>
            <a:r>
              <a:rPr lang="en-US" altLang="en-US" sz="3200" b="1" dirty="0">
                <a:solidFill>
                  <a:srgbClr val="1B1340"/>
                </a:solidFill>
                <a:latin typeface="Arial" pitchFamily="34" charset="0"/>
                <a:ea typeface="Arial" pitchFamily="34" charset="-122"/>
                <a:cs typeface="Arial" pitchFamily="34" charset="-120"/>
              </a:rPr>
              <a:t>Lab 4 — Robust Bank: Debug and Fix</a:t>
            </a:r>
            <a:endParaRPr lang="en-US" sz="3200" dirty="0"/>
          </a:p>
        </p:txBody>
      </p:sp>
      <p:sp>
        <p:nvSpPr>
          <p:cNvPr id="5" name="Shape 2"/>
          <p:cNvSpPr/>
          <p:nvPr/>
        </p:nvSpPr>
        <p:spPr>
          <a:xfrm>
            <a:off x="548640" y="1371600"/>
            <a:ext cx="6949440" cy="4846320"/>
          </a:xfrm>
          <a:prstGeom prst="roundRect">
            <a:avLst>
              <a:gd name="adj" fmla="val 2830"/>
            </a:avLst>
          </a:prstGeom>
          <a:solidFill>
            <a:srgbClr val="FFFFFF"/>
          </a:solidFill>
          <a:ln w="12700">
            <a:solidFill>
              <a:srgbClr val="FFFFFF"/>
            </a:solidFill>
            <a:prstDash val="solid"/>
          </a:ln>
        </p:spPr>
      </p:sp>
      <p:sp>
        <p:nvSpPr>
          <p:cNvPr id="6" name="Text 3"/>
          <p:cNvSpPr txBox="1"/>
          <p:nvPr/>
        </p:nvSpPr>
        <p:spPr>
          <a:xfrm>
            <a:off x="777240" y="1508760"/>
            <a:ext cx="6492240" cy="457200"/>
          </a:xfrm>
          <a:prstGeom prst="rect">
            <a:avLst/>
          </a:prstGeom>
          <a:noFill/>
          <a:ln/>
        </p:spPr>
        <p:txBody>
          <a:bodyPr wrap="square" lIns="0" tIns="0" rIns="0" bIns="0" rtlCol="0" anchor="t"/>
          <a:lstStyle/>
          <a:p>
            <a:pPr algn="l" indent="0" marL="0">
              <a:buNone/>
            </a:pPr>
            <a:r>
              <a:rPr lang="en-US" altLang="en-US" sz="1800" b="1" dirty="0">
                <a:solidFill>
                  <a:srgbClr val="512BD4"/>
                </a:solidFill>
                <a:latin typeface="Arial" pitchFamily="34" charset="0"/>
                <a:ea typeface="Arial" pitchFamily="34" charset="-122"/>
                <a:cs typeface="Arial" pitchFamily="34" charset="-120"/>
              </a:rPr>
              <a:t>Tasks</a:t>
            </a:r>
            <a:endParaRPr lang="en-US" sz="1800" dirty="0"/>
          </a:p>
        </p:txBody>
      </p:sp>
      <p:sp>
        <p:nvSpPr>
          <p:cNvPr id="7" name="Text 4"/>
          <p:cNvSpPr txBox="1"/>
          <p:nvPr/>
        </p:nvSpPr>
        <p:spPr>
          <a:xfrm>
            <a:off x="777240" y="2011680"/>
            <a:ext cx="6492240" cy="4114800"/>
          </a:xfrm>
          <a:prstGeom prst="rect">
            <a:avLst/>
          </a:prstGeom>
          <a:noFill/>
          <a:ln/>
        </p:spPr>
        <p:txBody>
          <a:bodyPr wrap="square" lIns="0" tIns="0" rIns="0" bIns="0" rtlCol="0" anchor="t"/>
          <a:lstStyle/>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Reproduce: open → deposit 100 → withdraw 80 → show. What's wrong?</a:t>
            </a:r>
            <a:endParaRPr lang="en-US" sz="1400" dirty="0"/>
          </a:p>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Breakpoint in Account.Withdraw, Watch on Balance; Immediate: _accounts.Keys</a:t>
            </a:r>
            <a:endParaRPr lang="en-US" sz="1400" dirty="0"/>
          </a:p>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Exception Settings on BankException — where did the Account.Withdraw frame go?</a:t>
            </a:r>
            <a:endParaRPr lang="en-US" sz="1400" dirty="0"/>
          </a:p>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decimal.Parse → TryParse; RequireArgs guard clause; catch ArgumentException</a:t>
            </a:r>
            <a:endParaRPr lang="en-US" sz="1400" dirty="0"/>
          </a:p>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processed++ in finally; using on TransactionLog</a:t>
            </a:r>
            <a:endParaRPr lang="en-US" sz="1400" dirty="0"/>
          </a:p>
          <a:p>
            <a:pPr algn="l" marL="342900" indent="-342900">
              <a:spcAft>
                <a:spcPts val="600"/>
              </a:spcAft>
              <a:buSzPct val="100000"/>
              <a:buFont typeface="+mj-lt"/>
              <a:buAutoNum type="arabicPeriod" startAt="1"/>
            </a:pPr>
            <a:r>
              <a:rPr lang="en-US" altLang="en-US" sz="1400" dirty="0">
                <a:solidFill>
                  <a:srgbClr val="1F1B2E"/>
                </a:solidFill>
                <a:latin typeface="Arial" pitchFamily="34" charset="0"/>
                <a:ea typeface="Arial" pitchFamily="34" charset="-122"/>
                <a:cs typeface="Arial" pitchFamily="34" charset="-120"/>
              </a:rPr>
              <a:t>AccountNotFound / InsufficientFunds (with Shortfall) / InvalidAmount : BankException</a:t>
            </a:r>
            <a:endParaRPr lang="en-US" sz="1400" dirty="0"/>
          </a:p>
        </p:txBody>
      </p:sp>
      <p:sp>
        <p:nvSpPr>
          <p:cNvPr id="8" name="Shape 5"/>
          <p:cNvSpPr/>
          <p:nvPr/>
        </p:nvSpPr>
        <p:spPr>
          <a:xfrm>
            <a:off x="7863840" y="1371600"/>
            <a:ext cx="3779215" cy="1432560"/>
          </a:xfrm>
          <a:prstGeom prst="roundRect">
            <a:avLst>
              <a:gd name="adj" fmla="val 9574"/>
            </a:avLst>
          </a:prstGeom>
          <a:solidFill>
            <a:srgbClr val="FFFFFF"/>
          </a:solidFill>
          <a:ln w="12700">
            <a:solidFill>
              <a:srgbClr val="FFFFFF"/>
            </a:solidFill>
            <a:prstDash val="solid"/>
          </a:ln>
        </p:spPr>
      </p:sp>
      <p:sp>
        <p:nvSpPr>
          <p:cNvPr id="9" name="Shape 6"/>
          <p:cNvSpPr/>
          <p:nvPr/>
        </p:nvSpPr>
        <p:spPr>
          <a:xfrm>
            <a:off x="8046720" y="1554480"/>
            <a:ext cx="457200" cy="457200"/>
          </a:xfrm>
          <a:prstGeom prst="ellipse">
            <a:avLst/>
          </a:prstGeom>
          <a:solidFill>
            <a:srgbClr val="512BD4"/>
          </a:solidFill>
          <a:ln w="12700">
            <a:solidFill>
              <a:srgbClr val="512BD4"/>
            </a:solidFill>
            <a:prstDash val="solid"/>
          </a:ln>
        </p:spPr>
      </p:sp>
      <p:pic>
        <p:nvPicPr>
          <p:cNvPr id="10" name="Image 1" descr="preencoded.png">    </p:cNvPr>
          <p:cNvPicPr>
            <a:picLocks noChangeAspect="1"/>
          </p:cNvPicPr>
          <p:nvPr/>
        </p:nvPicPr>
        <p:blipFill>
          <a:blip r:embed="rId2"/>
          <a:stretch>
            <a:fillRect/>
          </a:stretch>
        </p:blipFill>
        <p:spPr>
          <a:xfrm>
            <a:off x="8161020" y="1668780"/>
            <a:ext cx="228600" cy="228600"/>
          </a:xfrm>
          <a:prstGeom prst="rect">
            <a:avLst/>
          </a:prstGeom>
        </p:spPr>
      </p:pic>
      <p:sp>
        <p:nvSpPr>
          <p:cNvPr id="11" name="Text 7"/>
          <p:cNvSpPr txBox="1"/>
          <p:nvPr/>
        </p:nvSpPr>
        <p:spPr>
          <a:xfrm>
            <a:off x="8686800" y="1554480"/>
            <a:ext cx="2773375" cy="457200"/>
          </a:xfrm>
          <a:prstGeom prst="rect">
            <a:avLst/>
          </a:prstGeom>
          <a:noFill/>
          <a:ln/>
        </p:spPr>
        <p:txBody>
          <a:bodyPr wrap="square" lIns="0" tIns="0" rIns="0" bIns="0" rtlCol="0" anchor="ctr"/>
          <a:lstStyle/>
          <a:p>
            <a:pPr algn="l" indent="0" marL="0">
              <a:buNone/>
            </a:pPr>
            <a:r>
              <a:rPr lang="en-US" altLang="en-US" sz="1400" b="1" dirty="0">
                <a:solidFill>
                  <a:srgbClr val="512BD4"/>
                </a:solidFill>
                <a:latin typeface="Arial" pitchFamily="34" charset="0"/>
                <a:ea typeface="Arial" pitchFamily="34" charset="-122"/>
                <a:cs typeface="Arial" pitchFamily="34" charset="-120"/>
              </a:rPr>
              <a:t>Goal</a:t>
            </a:r>
            <a:endParaRPr lang="en-US" sz="1400" dirty="0"/>
          </a:p>
        </p:txBody>
      </p:sp>
      <p:sp>
        <p:nvSpPr>
          <p:cNvPr id="12" name="Text 8"/>
          <p:cNvSpPr txBox="1"/>
          <p:nvPr/>
        </p:nvSpPr>
        <p:spPr>
          <a:xfrm>
            <a:off x="8046720" y="2057400"/>
            <a:ext cx="3413455" cy="60960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The Starter runs but hides 8+ bugs: logic errors, throw ex;, an empty log, input crashes. Debug, fix, add an exception hierarchy.</a:t>
            </a:r>
            <a:endParaRPr lang="en-US" sz="1300" dirty="0"/>
          </a:p>
        </p:txBody>
      </p:sp>
      <p:sp>
        <p:nvSpPr>
          <p:cNvPr id="13" name="Shape 9"/>
          <p:cNvSpPr/>
          <p:nvPr/>
        </p:nvSpPr>
        <p:spPr>
          <a:xfrm>
            <a:off x="7863840" y="3078480"/>
            <a:ext cx="3779215" cy="1432560"/>
          </a:xfrm>
          <a:prstGeom prst="roundRect">
            <a:avLst>
              <a:gd name="adj" fmla="val 9574"/>
            </a:avLst>
          </a:prstGeom>
          <a:solidFill>
            <a:srgbClr val="FFFFFF"/>
          </a:solidFill>
          <a:ln w="12700">
            <a:solidFill>
              <a:srgbClr val="FFFFFF"/>
            </a:solidFill>
            <a:prstDash val="solid"/>
          </a:ln>
        </p:spPr>
      </p:sp>
      <p:sp>
        <p:nvSpPr>
          <p:cNvPr id="14" name="Shape 10"/>
          <p:cNvSpPr/>
          <p:nvPr/>
        </p:nvSpPr>
        <p:spPr>
          <a:xfrm>
            <a:off x="8046720" y="3261360"/>
            <a:ext cx="457200" cy="457200"/>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8161020" y="3375660"/>
            <a:ext cx="228600" cy="228600"/>
          </a:xfrm>
          <a:prstGeom prst="rect">
            <a:avLst/>
          </a:prstGeom>
        </p:spPr>
      </p:pic>
      <p:sp>
        <p:nvSpPr>
          <p:cNvPr id="16" name="Text 11"/>
          <p:cNvSpPr txBox="1"/>
          <p:nvPr/>
        </p:nvSpPr>
        <p:spPr>
          <a:xfrm>
            <a:off x="8686800" y="3261360"/>
            <a:ext cx="2773375" cy="457200"/>
          </a:xfrm>
          <a:prstGeom prst="rect">
            <a:avLst/>
          </a:prstGeom>
          <a:noFill/>
          <a:ln/>
        </p:spPr>
        <p:txBody>
          <a:bodyPr wrap="square" lIns="0" tIns="0" rIns="0" bIns="0" rtlCol="0" anchor="ctr"/>
          <a:lstStyle/>
          <a:p>
            <a:pPr algn="l" indent="0" marL="0">
              <a:buNone/>
            </a:pPr>
            <a:r>
              <a:rPr lang="en-US" altLang="en-US" sz="1400" b="1" dirty="0">
                <a:solidFill>
                  <a:srgbClr val="512BD4"/>
                </a:solidFill>
                <a:latin typeface="Arial" pitchFamily="34" charset="0"/>
                <a:ea typeface="Arial" pitchFamily="34" charset="-122"/>
                <a:cs typeface="Arial" pitchFamily="34" charset="-120"/>
              </a:rPr>
              <a:t>Duration</a:t>
            </a:r>
            <a:endParaRPr lang="en-US" sz="1400" dirty="0"/>
          </a:p>
        </p:txBody>
      </p:sp>
      <p:sp>
        <p:nvSpPr>
          <p:cNvPr id="17" name="Text 12"/>
          <p:cNvSpPr txBox="1"/>
          <p:nvPr/>
        </p:nvSpPr>
        <p:spPr>
          <a:xfrm>
            <a:off x="8046720" y="3764280"/>
            <a:ext cx="3413455" cy="60960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60 minutes</a:t>
            </a:r>
            <a:endParaRPr lang="en-US" sz="1300" dirty="0"/>
          </a:p>
        </p:txBody>
      </p:sp>
      <p:sp>
        <p:nvSpPr>
          <p:cNvPr id="18" name="Shape 13"/>
          <p:cNvSpPr/>
          <p:nvPr/>
        </p:nvSpPr>
        <p:spPr>
          <a:xfrm>
            <a:off x="7863840" y="4785360"/>
            <a:ext cx="3779215" cy="1432560"/>
          </a:xfrm>
          <a:prstGeom prst="roundRect">
            <a:avLst>
              <a:gd name="adj" fmla="val 9574"/>
            </a:avLst>
          </a:prstGeom>
          <a:solidFill>
            <a:srgbClr val="FFFFFF"/>
          </a:solidFill>
          <a:ln w="12700">
            <a:solidFill>
              <a:srgbClr val="FFFFFF"/>
            </a:solidFill>
            <a:prstDash val="solid"/>
          </a:ln>
        </p:spPr>
      </p:sp>
      <p:sp>
        <p:nvSpPr>
          <p:cNvPr id="19" name="Shape 14"/>
          <p:cNvSpPr/>
          <p:nvPr/>
        </p:nvSpPr>
        <p:spPr>
          <a:xfrm>
            <a:off x="8046720" y="4968240"/>
            <a:ext cx="457200" cy="457200"/>
          </a:xfrm>
          <a:prstGeom prst="ellipse">
            <a:avLst/>
          </a:prstGeom>
          <a:solidFill>
            <a:srgbClr val="512BD4"/>
          </a:solidFill>
          <a:ln w="12700">
            <a:solidFill>
              <a:srgbClr val="512BD4"/>
            </a:solidFill>
            <a:prstDash val="solid"/>
          </a:ln>
        </p:spPr>
      </p:sp>
      <p:pic>
        <p:nvPicPr>
          <p:cNvPr id="20" name="Image 3" descr="preencoded.png">    </p:cNvPr>
          <p:cNvPicPr>
            <a:picLocks noChangeAspect="1"/>
          </p:cNvPicPr>
          <p:nvPr/>
        </p:nvPicPr>
        <p:blipFill>
          <a:blip r:embed="rId4"/>
          <a:stretch>
            <a:fillRect/>
          </a:stretch>
        </p:blipFill>
        <p:spPr>
          <a:xfrm>
            <a:off x="8161020" y="5082540"/>
            <a:ext cx="228600" cy="228600"/>
          </a:xfrm>
          <a:prstGeom prst="rect">
            <a:avLst/>
          </a:prstGeom>
        </p:spPr>
      </p:pic>
      <p:sp>
        <p:nvSpPr>
          <p:cNvPr id="21" name="Text 15"/>
          <p:cNvSpPr txBox="1"/>
          <p:nvPr/>
        </p:nvSpPr>
        <p:spPr>
          <a:xfrm>
            <a:off x="8686800" y="4968240"/>
            <a:ext cx="2773375" cy="457200"/>
          </a:xfrm>
          <a:prstGeom prst="rect">
            <a:avLst/>
          </a:prstGeom>
          <a:noFill/>
          <a:ln/>
        </p:spPr>
        <p:txBody>
          <a:bodyPr wrap="square" lIns="0" tIns="0" rIns="0" bIns="0" rtlCol="0" anchor="ctr"/>
          <a:lstStyle/>
          <a:p>
            <a:pPr algn="l" indent="0" marL="0">
              <a:buNone/>
            </a:pPr>
            <a:r>
              <a:rPr lang="en-US" altLang="en-US" sz="1400" b="1" dirty="0">
                <a:solidFill>
                  <a:srgbClr val="512BD4"/>
                </a:solidFill>
                <a:latin typeface="Arial" pitchFamily="34" charset="0"/>
                <a:ea typeface="Arial" pitchFamily="34" charset="-122"/>
                <a:cs typeface="Arial" pitchFamily="34" charset="-120"/>
              </a:rPr>
              <a:t>Deliverable</a:t>
            </a:r>
            <a:endParaRPr lang="en-US" sz="1400" dirty="0"/>
          </a:p>
        </p:txBody>
      </p:sp>
      <p:sp>
        <p:nvSpPr>
          <p:cNvPr id="22" name="Text 16"/>
          <p:cNvSpPr txBox="1"/>
          <p:nvPr/>
        </p:nvSpPr>
        <p:spPr>
          <a:xfrm>
            <a:off x="8046720" y="5471160"/>
            <a:ext cx="3413455" cy="609600"/>
          </a:xfrm>
          <a:prstGeom prst="rect">
            <a:avLst/>
          </a:prstGeom>
          <a:noFill/>
          <a:ln/>
        </p:spPr>
        <p:txBody>
          <a:bodyPr wrap="square" lIns="0" tIns="0" rIns="0" bIns="0" rtlCol="0" anchor="t"/>
          <a:lstStyle/>
          <a:p>
            <a:pPr algn="l" indent="0" marL="0">
              <a:buNone/>
            </a:pPr>
            <a:r>
              <a:rPr lang="en-US" altLang="en-US" sz="1300" dirty="0">
                <a:solidFill>
                  <a:srgbClr val="1F1B2E"/>
                </a:solidFill>
                <a:latin typeface="Arial" pitchFamily="34" charset="0"/>
                <a:ea typeface="Arial" pitchFamily="34" charset="-122"/>
                <a:cs typeface="Arial" pitchFamily="34" charset="-120"/>
              </a:rPr>
              <a:t>Never crashes on any input; full transactions.log; BankException + 3 subclasses; a list of the bugs found.</a:t>
            </a:r>
            <a:endParaRPr lang="en-US" sz="1300" dirty="0"/>
          </a:p>
        </p:txBody>
      </p:sp>
      <p:sp>
        <p:nvSpPr>
          <p:cNvPr id="23" name="Text 17"/>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6B6480"/>
                </a:solidFill>
                <a:latin typeface="Arial" pitchFamily="34" charset="0"/>
                <a:ea typeface="Arial" pitchFamily="34" charset="-122"/>
                <a:cs typeface="Arial" pitchFamily="34" charset="-120"/>
              </a:rPr>
              <a:t>C# on .NET — Hands-On Course  |  Day 1</a:t>
            </a:r>
            <a:endParaRPr lang="en-US" sz="1000" dirty="0"/>
          </a:p>
        </p:txBody>
      </p:sp>
      <p:sp>
        <p:nvSpPr>
          <p:cNvPr id="24" name="Text 1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480"/>
                </a:solidFill>
                <a:latin typeface="Arial" pitchFamily="34" charset="0"/>
                <a:ea typeface="Arial" pitchFamily="34" charset="-122"/>
                <a:cs typeface="Arial" pitchFamily="34" charset="-120"/>
              </a:rPr>
              <a:t>53</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B1340"/>
        </a:solidFill>
      </p:bgPr>
    </p:bg>
    <p:spTree>
      <p:nvGrpSpPr>
        <p:cNvPr id="1" name=""/>
        <p:cNvGrpSpPr/>
        <p:nvPr/>
      </p:nvGrpSpPr>
      <p:grpSpPr>
        <a:xfrm>
          <a:off x="0" y="0"/>
          <a:ext cx="0" cy="0"/>
          <a:chOff x="0" y="0"/>
          <a:chExt cx="0" cy="0"/>
        </a:xfrm>
      </p:grpSpPr>
      <p:sp>
        <p:nvSpPr>
          <p:cNvPr id="2" name="Text 0"/>
          <p:cNvSpPr txBox="1"/>
          <p:nvPr/>
        </p:nvSpPr>
        <p:spPr>
          <a:xfrm>
            <a:off x="731520" y="548640"/>
            <a:ext cx="2743200" cy="2743200"/>
          </a:xfrm>
          <a:prstGeom prst="rect">
            <a:avLst/>
          </a:prstGeom>
          <a:noFill/>
          <a:ln/>
        </p:spPr>
        <p:txBody>
          <a:bodyPr wrap="square" lIns="0" tIns="0" rIns="0" bIns="0" rtlCol="0" anchor="ctr"/>
          <a:lstStyle/>
          <a:p>
            <a:pPr algn="l" indent="0" marL="0">
              <a:buNone/>
            </a:pPr>
            <a:r>
              <a:rPr lang="en-US" sz="20000" dirty="0">
                <a:solidFill>
                  <a:srgbClr val="FFB020">
                    <a:alpha val="70000"/>
                  </a:srgbClr>
                </a:solidFill>
                <a:latin typeface="Cambria" pitchFamily="34" charset="0"/>
                <a:ea typeface="Cambria" pitchFamily="34" charset="-122"/>
                <a:cs typeface="Cambria" pitchFamily="34" charset="-120"/>
              </a:rPr>
              <a:t>“</a:t>
            </a:r>
            <a:endParaRPr lang="en-US" sz="20000" dirty="0"/>
          </a:p>
        </p:txBody>
      </p:sp>
      <p:sp>
        <p:nvSpPr>
          <p:cNvPr id="3" name="Text 1"/>
          <p:cNvSpPr txBox="1"/>
          <p:nvPr/>
        </p:nvSpPr>
        <p:spPr>
          <a:xfrm>
            <a:off x="2286000" y="1645920"/>
            <a:ext cx="9357055" cy="2926080"/>
          </a:xfrm>
          <a:prstGeom prst="rect">
            <a:avLst/>
          </a:prstGeom>
          <a:noFill/>
          <a:ln/>
        </p:spPr>
        <p:txBody>
          <a:bodyPr wrap="square" lIns="0" tIns="0" rIns="0" bIns="0" rtlCol="0" anchor="ctr"/>
          <a:lstStyle/>
          <a:p>
            <a:pPr algn="l" indent="0" marL="0">
              <a:buNone/>
            </a:pPr>
            <a:r>
              <a:rPr lang="en-US" altLang="en-US" sz="3000" dirty="0">
                <a:solidFill>
                  <a:srgbClr val="FFFFFF"/>
                </a:solidFill>
                <a:latin typeface="Arial" pitchFamily="34" charset="0"/>
                <a:ea typeface="Arial" pitchFamily="34" charset="-122"/>
                <a:cs typeface="Arial" pitchFamily="34" charset="-120"/>
              </a:rPr>
              <a:t>Code is read far more often than it is written. Write for whoever will read it six months from now — probably you.</a:t>
            </a:r>
            <a:endParaRPr lang="en-US" sz="3000" dirty="0"/>
          </a:p>
        </p:txBody>
      </p:sp>
      <p:sp>
        <p:nvSpPr>
          <p:cNvPr id="4" name="Text 2"/>
          <p:cNvSpPr txBox="1"/>
          <p:nvPr/>
        </p:nvSpPr>
        <p:spPr>
          <a:xfrm>
            <a:off x="2286000" y="4663440"/>
            <a:ext cx="9357055" cy="548640"/>
          </a:xfrm>
          <a:prstGeom prst="rect">
            <a:avLst/>
          </a:prstGeom>
          <a:noFill/>
          <a:ln/>
        </p:spPr>
        <p:txBody>
          <a:bodyPr wrap="square" lIns="0" tIns="0" rIns="0" bIns="0" rtlCol="0" anchor="t"/>
          <a:lstStyle/>
          <a:p>
            <a:pPr algn="l" indent="0" marL="0">
              <a:buNone/>
            </a:pPr>
            <a:r>
              <a:rPr lang="en-US" altLang="en-US" sz="1800" dirty="0">
                <a:solidFill>
                  <a:srgbClr val="CFC7F5"/>
                </a:solidFill>
                <a:latin typeface="Arial" pitchFamily="34" charset="0"/>
                <a:ea typeface="Arial" pitchFamily="34" charset="-122"/>
                <a:cs typeface="Arial" pitchFamily="34" charset="-120"/>
              </a:rPr>
              <a:t>— Guiding principle for the whole course</a:t>
            </a:r>
            <a:endParaRPr lang="en-US" sz="1800" dirty="0"/>
          </a:p>
        </p:txBody>
      </p:sp>
      <p:sp>
        <p:nvSpPr>
          <p:cNvPr id="5" name="Text 3"/>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A79FD6"/>
                </a:solidFill>
                <a:latin typeface="Arial" pitchFamily="34" charset="0"/>
                <a:ea typeface="Arial" pitchFamily="34" charset="-122"/>
                <a:cs typeface="Arial" pitchFamily="34" charset="-120"/>
              </a:rPr>
              <a:t>C# on .NET — Hands-On Course  |  Day 1</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9FD6"/>
                </a:solidFill>
                <a:latin typeface="Arial" pitchFamily="34" charset="0"/>
                <a:ea typeface="Arial" pitchFamily="34" charset="-122"/>
                <a:cs typeface="Arial" pitchFamily="34" charset="-120"/>
              </a:rPr>
              <a:t>54</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B1340"/>
        </a:solidFill>
      </p:bgPr>
    </p:bg>
    <p:spTree>
      <p:nvGrpSpPr>
        <p:cNvPr id="1" name=""/>
        <p:cNvGrpSpPr/>
        <p:nvPr/>
      </p:nvGrpSpPr>
      <p:grpSpPr>
        <a:xfrm>
          <a:off x="0" y="0"/>
          <a:ext cx="0" cy="0"/>
          <a:chOff x="0" y="0"/>
          <a:chExt cx="0" cy="0"/>
        </a:xfrm>
      </p:grpSpPr>
      <p:sp>
        <p:nvSpPr>
          <p:cNvPr id="2" name="Shape 0"/>
          <p:cNvSpPr/>
          <p:nvPr/>
        </p:nvSpPr>
        <p:spPr>
          <a:xfrm>
            <a:off x="8534095" y="3200400"/>
            <a:ext cx="5486400" cy="5486400"/>
          </a:xfrm>
          <a:prstGeom prst="ellipse">
            <a:avLst/>
          </a:prstGeom>
          <a:solidFill>
            <a:srgbClr val="512BD4">
              <a:alpha val="30000"/>
            </a:srgbClr>
          </a:solidFill>
          <a:ln w="12700">
            <a:solidFill>
              <a:srgbClr val="512BD4">
                <a:alpha val="0"/>
              </a:srgbClr>
            </a:solidFill>
            <a:prstDash val="solid"/>
          </a:ln>
        </p:spPr>
      </p:sp>
      <p:sp>
        <p:nvSpPr>
          <p:cNvPr id="3" name="Text 1"/>
          <p:cNvSpPr txBox="1"/>
          <p:nvPr/>
        </p:nvSpPr>
        <p:spPr>
          <a:xfrm>
            <a:off x="548640" y="548640"/>
            <a:ext cx="11094415" cy="1097280"/>
          </a:xfrm>
          <a:prstGeom prst="rect">
            <a:avLst/>
          </a:prstGeom>
          <a:noFill/>
          <a:ln/>
        </p:spPr>
        <p:txBody>
          <a:bodyPr wrap="square" lIns="0" tIns="0" rIns="0" bIns="0" rtlCol="0" anchor="ctr"/>
          <a:lstStyle/>
          <a:p>
            <a:pPr algn="l" indent="0" marL="0">
              <a:buNone/>
            </a:pPr>
            <a:r>
              <a:rPr lang="en-US" altLang="en-US" sz="4000" b="1" dirty="0">
                <a:solidFill>
                  <a:srgbClr val="FFFFFF"/>
                </a:solidFill>
                <a:latin typeface="Arial" pitchFamily="34" charset="0"/>
                <a:ea typeface="Arial" pitchFamily="34" charset="-122"/>
                <a:cs typeface="Arial" pitchFamily="34" charset="-120"/>
              </a:rPr>
              <a:t>Day 1 Summary</a:t>
            </a:r>
            <a:endParaRPr lang="en-US" sz="4000" dirty="0"/>
          </a:p>
        </p:txBody>
      </p:sp>
      <p:sp>
        <p:nvSpPr>
          <p:cNvPr id="4" name="Text 2"/>
          <p:cNvSpPr txBox="1"/>
          <p:nvPr/>
        </p:nvSpPr>
        <p:spPr>
          <a:xfrm>
            <a:off x="548640" y="1828800"/>
            <a:ext cx="8351215" cy="4114800"/>
          </a:xfrm>
          <a:prstGeom prst="rect">
            <a:avLst/>
          </a:prstGeom>
          <a:noFill/>
          <a:ln/>
        </p:spPr>
        <p:txBody>
          <a:bodyPr wrap="square" lIns="0" tIns="0" rIns="0" bIns="0" rtlCol="0" anchor="t"/>
          <a:lstStyle/>
          <a:p>
            <a:pPr algn="l" marL="342900" indent="-342900">
              <a:spcAft>
                <a:spcPts val="800"/>
              </a:spcAft>
              <a:buSzPct val="100000"/>
              <a:buChar char="•"/>
            </a:pPr>
            <a:r>
              <a:rPr lang="en-US" altLang="en-US" sz="1800" dirty="0">
                <a:solidFill>
                  <a:srgbClr val="FFFFFF"/>
                </a:solidFill>
                <a:latin typeface="Arial" pitchFamily="34" charset="0"/>
                <a:ea typeface="Arial" pitchFamily="34" charset="-122"/>
                <a:cs typeface="Arial" pitchFamily="34" charset="-120"/>
              </a:rPr>
              <a:t>Modern C#: top-level, var, nullable, switch expressions, records</a:t>
            </a:r>
            <a:endParaRPr lang="en-US" sz="1800" dirty="0"/>
          </a:p>
          <a:p>
            <a:pPr algn="l" marL="342900" indent="-342900">
              <a:spcAft>
                <a:spcPts val="800"/>
              </a:spcAft>
              <a:buSzPct val="100000"/>
              <a:buChar char="•"/>
            </a:pPr>
            <a:r>
              <a:rPr lang="en-US" altLang="en-US" sz="1800" dirty="0">
                <a:solidFill>
                  <a:srgbClr val="FFFFFF"/>
                </a:solidFill>
                <a:latin typeface="Arial" pitchFamily="34" charset="0"/>
                <a:ea typeface="Arial" pitchFamily="34" charset="-122"/>
                <a:cs typeface="Arial" pitchFamily="34" charset="-120"/>
              </a:rPr>
              <a:t>OOP: encapsulation, inheritance (virtual/override/abstract), interfaces, polymorphism</a:t>
            </a:r>
            <a:endParaRPr lang="en-US" sz="1800" dirty="0"/>
          </a:p>
          <a:p>
            <a:pPr algn="l" marL="342900" indent="-342900">
              <a:spcAft>
                <a:spcPts val="800"/>
              </a:spcAft>
              <a:buSzPct val="100000"/>
              <a:buChar char="•"/>
            </a:pPr>
            <a:r>
              <a:rPr lang="en-US" altLang="en-US" sz="1800" dirty="0">
                <a:solidFill>
                  <a:srgbClr val="FFFFFF"/>
                </a:solidFill>
                <a:latin typeface="Arial" pitchFamily="34" charset="0"/>
                <a:ea typeface="Arial" pitchFamily="34" charset="-122"/>
                <a:cs typeface="Arial" pitchFamily="34" charset="-120"/>
              </a:rPr>
              <a:t>Collections: List / Dictionary / HashSet / Queue / Stack, generics, IReadOnlyList</a:t>
            </a:r>
            <a:endParaRPr lang="en-US" sz="1800" dirty="0"/>
          </a:p>
          <a:p>
            <a:pPr algn="l" marL="342900" indent="-342900">
              <a:spcAft>
                <a:spcPts val="800"/>
              </a:spcAft>
              <a:buSzPct val="100000"/>
              <a:buChar char="•"/>
            </a:pPr>
            <a:r>
              <a:rPr lang="en-US" altLang="en-US" sz="1800" dirty="0">
                <a:solidFill>
                  <a:srgbClr val="FFFFFF"/>
                </a:solidFill>
                <a:latin typeface="Arial" pitchFamily="34" charset="0"/>
                <a:ea typeface="Arial" pitchFamily="34" charset="-122"/>
                <a:cs typeface="Arial" pitchFamily="34" charset="-120"/>
              </a:rPr>
              <a:t>Delegates, events, LINQ and deferred execution</a:t>
            </a:r>
            <a:endParaRPr lang="en-US" sz="1800" dirty="0"/>
          </a:p>
          <a:p>
            <a:pPr algn="l" marL="342900" indent="-342900">
              <a:spcAft>
                <a:spcPts val="800"/>
              </a:spcAft>
              <a:buSzPct val="100000"/>
              <a:buChar char="•"/>
            </a:pPr>
            <a:r>
              <a:rPr lang="en-US" altLang="en-US" sz="1800" dirty="0">
                <a:solidFill>
                  <a:srgbClr val="FFFFFF"/>
                </a:solidFill>
                <a:latin typeface="Arial" pitchFamily="34" charset="0"/>
                <a:ea typeface="Arial" pitchFamily="34" charset="-122"/>
                <a:cs typeface="Arial" pitchFamily="34" charset="-120"/>
              </a:rPr>
              <a:t>Exceptions: try/catch/finally/when, using, guard clauses, TryParse; the debugger</a:t>
            </a:r>
            <a:endParaRPr lang="en-US" sz="1800" dirty="0"/>
          </a:p>
          <a:p>
            <a:pPr algn="l" marL="342900" indent="-342900">
              <a:spcAft>
                <a:spcPts val="800"/>
              </a:spcAft>
              <a:buSzPct val="100000"/>
              <a:buChar char="•"/>
            </a:pPr>
            <a:r>
              <a:rPr lang="en-US" altLang="en-US" sz="1800" dirty="0">
                <a:solidFill>
                  <a:srgbClr val="FFFFFF"/>
                </a:solidFill>
                <a:latin typeface="Arial" pitchFamily="34" charset="0"/>
                <a:ea typeface="Arial" pitchFamily="34" charset="-122"/>
                <a:cs typeface="Arial" pitchFamily="34" charset="-120"/>
              </a:rPr>
              <a:t>Tomorrow: threads, Task and async/await, synchronization, REST with HttpClient, JSON</a:t>
            </a:r>
            <a:endParaRPr lang="en-US" sz="1800" dirty="0"/>
          </a:p>
        </p:txBody>
      </p:sp>
      <p:sp>
        <p:nvSpPr>
          <p:cNvPr id="5" name="Text 3"/>
          <p:cNvSpPr txBox="1"/>
          <p:nvPr/>
        </p:nvSpPr>
        <p:spPr>
          <a:xfrm>
            <a:off x="548640" y="5669280"/>
            <a:ext cx="11094415" cy="548640"/>
          </a:xfrm>
          <a:prstGeom prst="rect">
            <a:avLst/>
          </a:prstGeom>
          <a:noFill/>
          <a:ln/>
        </p:spPr>
        <p:txBody>
          <a:bodyPr wrap="square" lIns="0" tIns="0" rIns="0" bIns="0" rtlCol="0" anchor="t"/>
          <a:lstStyle/>
          <a:p>
            <a:pPr algn="l" indent="0" marL="0">
              <a:buNone/>
            </a:pPr>
            <a:r>
              <a:rPr lang="en-US" altLang="en-US" sz="1600" dirty="0">
                <a:solidFill>
                  <a:srgbClr val="FFB020"/>
                </a:solidFill>
                <a:latin typeface="Arial" pitchFamily="34" charset="0"/>
                <a:ea typeface="Arial" pitchFamily="34" charset="-122"/>
                <a:cs typeface="Arial" pitchFamily="34" charset="-120"/>
              </a:rPr>
              <a:t>Homework: finish Lab 3 / Lab 4 and the ★★ exercises — we'll use the models tomorrow</a:t>
            </a:r>
            <a:endParaRPr lang="en-US" sz="1600" dirty="0"/>
          </a:p>
        </p:txBody>
      </p:sp>
      <p:sp>
        <p:nvSpPr>
          <p:cNvPr id="6" name="Text 4"/>
          <p:cNvSpPr txBox="1"/>
          <p:nvPr/>
        </p:nvSpPr>
        <p:spPr>
          <a:xfrm>
            <a:off x="548640" y="6446520"/>
            <a:ext cx="4572000" cy="274320"/>
          </a:xfrm>
          <a:prstGeom prst="rect">
            <a:avLst/>
          </a:prstGeom>
          <a:noFill/>
          <a:ln/>
        </p:spPr>
        <p:txBody>
          <a:bodyPr wrap="square" lIns="0" tIns="0" rIns="0" bIns="0" rtlCol="0" anchor="t"/>
          <a:lstStyle/>
          <a:p>
            <a:pPr algn="l" indent="0" marL="0">
              <a:buNone/>
            </a:pPr>
            <a:r>
              <a:rPr lang="en-US" altLang="en-US" sz="1000" dirty="0">
                <a:solidFill>
                  <a:srgbClr val="A79FD6"/>
                </a:solidFill>
                <a:latin typeface="Arial" pitchFamily="34" charset="0"/>
                <a:ea typeface="Arial" pitchFamily="34" charset="-122"/>
                <a:cs typeface="Arial" pitchFamily="34" charset="-120"/>
              </a:rPr>
              <a:t>C# on .NET — Hands-On Course  |  Day 1</a:t>
            </a:r>
            <a:endParaRPr lang="en-US" sz="1000" dirty="0"/>
          </a:p>
        </p:txBody>
      </p:sp>
      <p:sp>
        <p:nvSpPr>
          <p:cNvPr id="7"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9FD6"/>
                </a:solidFill>
                <a:latin typeface="Arial" pitchFamily="34" charset="0"/>
                <a:ea typeface="Arial" pitchFamily="34" charset="-122"/>
                <a:cs typeface="Arial" pitchFamily="34" charset="-120"/>
              </a:rPr>
              <a:t>55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1 — OOP, Collections and Exceptions</dc:title>
  <dc:subject>PptxGenJS Presentation</dc:subject>
  <dc:creator>PptxGenJS</dc:creator>
  <cp:lastModifiedBy>PptxGenJS</cp:lastModifiedBy>
  <cp:revision>1</cp:revision>
  <dcterms:created xsi:type="dcterms:W3CDTF">2026-10-06T10:56:44Z</dcterms:created>
  <dcterms:modified xsi:type="dcterms:W3CDTF">2026-10-06T10:56:44Z</dcterms:modified>
</cp:coreProperties>
</file>